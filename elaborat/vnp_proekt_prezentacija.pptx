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M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9"/>
  </p:normalViewPr>
  <p:slideViewPr>
    <p:cSldViewPr snapToGrid="0">
      <p:cViewPr varScale="1">
        <p:scale>
          <a:sx n="115" d="100"/>
          <a:sy n="115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27A4-65F9-D788-F1CC-0A76F497A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2B39E-1530-016B-7583-968865C41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5DA1B-6F5E-E5E2-38F2-1DB91966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3AA7A-0EE1-AE32-CF69-6F7D3F51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DF4D-7E0B-FAE4-5B1A-98D8CC82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281959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0FC0-78C4-62F5-9B52-BE234F2F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83CB3-32E0-3A20-8CB2-EC3E291D8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00A4F-14C3-E60F-F3F3-02329365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8FE4D-8C40-4AEF-7ACD-E2DAEB2B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A6199-8AF4-8971-8AFC-4E6F95F5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189398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683B-823C-8A14-D7FD-34E94D3B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44A4F-499A-7CC6-6246-669B5C63F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F94A1-F57C-9B34-AB59-368BCC48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F02A3-36D4-8BD0-2C3F-62D130A8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A8311-F791-EC66-3EFC-A8FCFC40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151162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8423-5A20-E79E-7012-DE5C3527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D615-6746-FF57-D555-77DCACFCF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427A7-F212-B228-883A-90C4DD53C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11A72-25A1-CA8C-233F-D97BC811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174B5-90AE-56E6-D026-3EB157E2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B673C-E46B-E9F9-30E1-2DB7A5BB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387623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D3FD-C5C3-47FA-871F-996CD1CBC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4B32F-EF56-3C57-3B3E-470FF09D6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E99FC-165F-4ABA-48F8-7B826624E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586DB4-1418-6CD9-2D9B-ECB205892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2380E-AACD-D1E1-DBDE-065272B8C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CBF73-A0C8-70FF-EF1F-709C2452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86BBF-F25B-365D-9DCB-46DD50C4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AFC1-D7A9-6219-ED93-51B3F1B0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53394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5B069-3043-E5CE-3BE7-0D6EAC15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9F000-384C-8D36-92A2-D0A524A5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84210-EDE5-EC64-010C-3BCE6717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C0B30-5F7D-0FD2-8C11-1A3E9CBA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284640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249572-97B4-DDC5-B80F-577F69C9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31700-8E08-4AE0-03E7-D7E089DC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4FF19-44D5-68D8-5DD1-768F5E15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100353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144E-4A97-DB2C-B74A-211A30A3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9478D-0A2A-5F8D-A864-CB5C0DAA5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4D9BB-0AD5-3B8F-0518-1B9E03144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B309C-315B-173E-B77D-21260218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741E5-629A-CCDD-D666-AA665054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83782-679D-D06A-72E6-899C0DD0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289726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A38C-F93C-DE47-0D27-9883D86E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08D17-B9DC-FF4C-9D75-42C174A79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22580-8D93-E44C-A545-0EC1699CA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84AC8-F30C-1A4F-CA2C-0C95B625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2C7D2-C53D-32E9-E76C-6FDB974F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1D0F1-D3F1-B337-F5F9-806E299A4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218157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E012-22A9-33BD-2917-76000724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BBB7E-A76E-FA53-DC49-5ED50260A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25328-1E1B-FC60-D19F-D108B094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59EF6-9A5E-1ACA-69DF-15B7A362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AA07-3295-E685-3F17-81C3514C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202793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C7430-C034-9C67-43D8-C04C4B81A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9CF6A-71A7-4330-89D2-DC04E473B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C5F4A-8D25-D0A3-58D1-632C5813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D653C-93A1-8F24-A2FB-2E357C18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2F201-DAC1-6329-5AA5-A17C1BA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298332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F09D3C-9157-999E-F62E-2CB99825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M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34E06-E27E-6CE9-FD57-1897143A7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33994-5915-B605-3365-F72BBC0EC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69547-C201-FC49-A372-A8D90C73B0C6}" type="datetimeFigureOut">
              <a:rPr lang="en-MK" smtClean="0"/>
              <a:t>6.10.25</a:t>
            </a:fld>
            <a:endParaRPr lang="en-M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84143-3C3F-1EAC-9927-5E88030DF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D04E1-A609-4887-EFC7-112867152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853ED-F93A-9C43-A2E8-A6329ADA8082}" type="slidenum">
              <a:rPr lang="en-MK" smtClean="0"/>
              <a:t>‹#›</a:t>
            </a:fld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355932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hysionet.org/content/chbmit/1.0.0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BD86-5D9C-1D5D-86F6-5A248DB5C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Predicting Epileptic Seizures through EEG Signal Processing</a:t>
            </a:r>
            <a:br>
              <a:rPr lang="en-MK" dirty="0"/>
            </a:br>
            <a:endParaRPr lang="en-M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B4B72-0E7A-97B9-33E0-2E6FFBB997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mk-MK" dirty="0"/>
              <a:t>Давид Христов</a:t>
            </a:r>
            <a:r>
              <a:rPr lang="mk-MK" b="1" dirty="0"/>
              <a:t>, </a:t>
            </a:r>
            <a:r>
              <a:rPr lang="mk-MK" dirty="0"/>
              <a:t>Огнен Трајковски</a:t>
            </a:r>
            <a:r>
              <a:rPr lang="en-MK" dirty="0">
                <a:effectLst/>
              </a:rPr>
              <a:t> </a:t>
            </a:r>
          </a:p>
          <a:p>
            <a:r>
              <a:rPr lang="en-US" dirty="0" err="1"/>
              <a:t>Предмет</a:t>
            </a:r>
            <a:r>
              <a:rPr lang="en-US" dirty="0"/>
              <a:t>:  </a:t>
            </a:r>
            <a:r>
              <a:rPr lang="mk-MK" dirty="0"/>
              <a:t>Вовед во наука на податоци</a:t>
            </a:r>
            <a:endParaRPr lang="en-MK" dirty="0">
              <a:effectLst/>
            </a:endParaRPr>
          </a:p>
          <a:p>
            <a:r>
              <a:rPr lang="mk-MK" dirty="0"/>
              <a:t>Професор</a:t>
            </a:r>
            <a:r>
              <a:rPr lang="en-GB" dirty="0"/>
              <a:t>: </a:t>
            </a:r>
            <a:r>
              <a:rPr lang="mk-MK" dirty="0"/>
              <a:t>Димитар Трајанов</a:t>
            </a:r>
            <a:endParaRPr lang="en-MK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170469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1A35-332B-0E46-0D9D-071263EB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b="1" dirty="0"/>
              <a:t>Домен на проектот и опис на проблемот </a:t>
            </a:r>
            <a:br>
              <a:rPr lang="en-MK" dirty="0"/>
            </a:b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2A37-8EEB-1C02-29FD-9B0E64BEA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EEG</a:t>
            </a:r>
            <a:r>
              <a:rPr lang="mk-MK" dirty="0"/>
              <a:t>, односно </a:t>
            </a:r>
            <a:r>
              <a:rPr lang="mk-MK" b="1" dirty="0"/>
              <a:t>електроенцефалографија </a:t>
            </a:r>
            <a:r>
              <a:rPr lang="mk-MK" dirty="0"/>
              <a:t>е </a:t>
            </a:r>
            <a:r>
              <a:rPr lang="mk-MK" dirty="0" err="1"/>
              <a:t>неврофизиолошка</a:t>
            </a:r>
            <a:r>
              <a:rPr lang="mk-MK" dirty="0"/>
              <a:t> дијагностичка метода со која се испитува мозочната активност преку добивање на сигнали од мозокот, лекарот утврдува дали мозочната активност е нормална или можеби има одредени нарушувања.</a:t>
            </a:r>
            <a:endParaRPr lang="en-MK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375306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6D4C8-95A9-0C4C-793B-45228E75F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51" y="810864"/>
            <a:ext cx="7767111" cy="6147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mk-MK" dirty="0"/>
              <a:t>Овие сигнали се добиваат преку поставување на електроди на површината на главата. Сигналите добиени преку EEG ја рефлектираат </a:t>
            </a:r>
            <a:r>
              <a:rPr lang="mk-MK" dirty="0" err="1"/>
              <a:t>невронската</a:t>
            </a:r>
            <a:r>
              <a:rPr lang="mk-MK" dirty="0"/>
              <a:t> активност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користат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широк</a:t>
            </a:r>
            <a:r>
              <a:rPr lang="en-US" dirty="0"/>
              <a:t> </a:t>
            </a:r>
            <a:r>
              <a:rPr lang="en-US" dirty="0" err="1"/>
              <a:t>спектар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медицински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когнитивни</a:t>
            </a:r>
            <a:r>
              <a:rPr lang="en-US" dirty="0"/>
              <a:t> </a:t>
            </a:r>
            <a:r>
              <a:rPr lang="en-US" dirty="0" err="1"/>
              <a:t>истражувања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дијагнози</a:t>
            </a:r>
            <a:r>
              <a:rPr lang="en-US" dirty="0"/>
              <a:t>, </a:t>
            </a:r>
            <a:r>
              <a:rPr lang="en-US" dirty="0" err="1"/>
              <a:t>како</a:t>
            </a:r>
            <a:r>
              <a:rPr lang="en-US" dirty="0"/>
              <a:t> </a:t>
            </a:r>
            <a:r>
              <a:rPr lang="en-US" dirty="0" err="1"/>
              <a:t>што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:</a:t>
            </a:r>
            <a:endParaRPr lang="en-MK" dirty="0"/>
          </a:p>
          <a:p>
            <a:pPr lvl="0"/>
            <a:r>
              <a:rPr lang="en-US" dirty="0" err="1"/>
              <a:t>Дијагноза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следење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b="1" dirty="0" err="1"/>
              <a:t>епилепсија</a:t>
            </a:r>
            <a:endParaRPr lang="en-MK" dirty="0"/>
          </a:p>
          <a:p>
            <a:pPr lvl="0"/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b="1" dirty="0" err="1"/>
              <a:t>нарушувања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спиењето</a:t>
            </a:r>
            <a:endParaRPr lang="en-MK" dirty="0"/>
          </a:p>
          <a:p>
            <a:pPr lvl="0"/>
            <a:r>
              <a:rPr lang="en-US" dirty="0" err="1"/>
              <a:t>Проценка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b="1" dirty="0" err="1"/>
              <a:t>мозочен</a:t>
            </a:r>
            <a:r>
              <a:rPr lang="en-US" b="1" dirty="0"/>
              <a:t> </a:t>
            </a:r>
            <a:r>
              <a:rPr lang="en-US" b="1" dirty="0" err="1"/>
              <a:t>удар</a:t>
            </a:r>
            <a:endParaRPr lang="en-MK" dirty="0"/>
          </a:p>
          <a:p>
            <a:pPr lvl="0"/>
            <a:r>
              <a:rPr lang="en-US" dirty="0" err="1"/>
              <a:t>Истражувања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b="1" dirty="0" err="1"/>
              <a:t>ментално</a:t>
            </a:r>
            <a:r>
              <a:rPr lang="en-US" b="1" dirty="0"/>
              <a:t> </a:t>
            </a:r>
            <a:r>
              <a:rPr lang="en-US" b="1" dirty="0" err="1"/>
              <a:t>здравје</a:t>
            </a:r>
            <a:r>
              <a:rPr lang="en-US" b="1" dirty="0"/>
              <a:t> </a:t>
            </a:r>
            <a:r>
              <a:rPr lang="en-US" b="1" dirty="0" err="1"/>
              <a:t>и</a:t>
            </a:r>
            <a:r>
              <a:rPr lang="en-US" b="1" dirty="0"/>
              <a:t> </a:t>
            </a:r>
            <a:r>
              <a:rPr lang="en-US" b="1" dirty="0" err="1"/>
              <a:t>когнитивни</a:t>
            </a:r>
            <a:r>
              <a:rPr lang="en-US" b="1" dirty="0"/>
              <a:t> </a:t>
            </a:r>
            <a:r>
              <a:rPr lang="en-US" b="1" dirty="0" err="1"/>
              <a:t>состојби</a:t>
            </a:r>
            <a:endParaRPr lang="en-MK" dirty="0"/>
          </a:p>
          <a:p>
            <a:endParaRPr lang="en-MK" dirty="0"/>
          </a:p>
        </p:txBody>
      </p:sp>
      <p:pic>
        <p:nvPicPr>
          <p:cNvPr id="1026" name="Picture 2" descr="Electroencephalogram (EEG): What It Is, Procedure &amp; Results">
            <a:extLst>
              <a:ext uri="{FF2B5EF4-FFF2-40B4-BE49-F238E27FC236}">
                <a16:creationId xmlns:a16="http://schemas.microsoft.com/office/drawing/2014/main" id="{E81A2D46-C2B6-CE37-373B-0D94D8956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507" y="1392701"/>
            <a:ext cx="3723249" cy="386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61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C4FF-56BF-E3B9-673F-6FA3C42EA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933"/>
            <a:ext cx="10515600" cy="4351338"/>
          </a:xfrm>
        </p:spPr>
        <p:txBody>
          <a:bodyPr/>
          <a:lstStyle/>
          <a:p>
            <a:r>
              <a:rPr lang="en-US" dirty="0"/>
              <a:t>EEG </a:t>
            </a:r>
            <a:r>
              <a:rPr lang="en-US" dirty="0" err="1"/>
              <a:t>сигналите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електрични</a:t>
            </a:r>
            <a:r>
              <a:rPr lang="en-US" dirty="0"/>
              <a:t> </a:t>
            </a:r>
            <a:r>
              <a:rPr lang="en-US" dirty="0" err="1"/>
              <a:t>шеми</a:t>
            </a:r>
            <a:r>
              <a:rPr lang="en-US" dirty="0"/>
              <a:t> </a:t>
            </a:r>
            <a:r>
              <a:rPr lang="en-US" dirty="0" err="1"/>
              <a:t>генерирани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невроните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мозокот</a:t>
            </a:r>
            <a:r>
              <a:rPr lang="en-US" dirty="0"/>
              <a:t> </a:t>
            </a:r>
            <a:r>
              <a:rPr lang="en-US" dirty="0" err="1"/>
              <a:t>кои</a:t>
            </a:r>
            <a:r>
              <a:rPr lang="en-US" dirty="0"/>
              <a:t> </a:t>
            </a:r>
            <a:r>
              <a:rPr lang="en-US" dirty="0" err="1"/>
              <a:t>комуницираат</a:t>
            </a:r>
            <a:r>
              <a:rPr lang="en-US" dirty="0"/>
              <a:t> </a:t>
            </a:r>
            <a:r>
              <a:rPr lang="en-US" dirty="0" err="1"/>
              <a:t>едни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други</a:t>
            </a:r>
            <a:r>
              <a:rPr lang="en-US" dirty="0"/>
              <a:t>. </a:t>
            </a:r>
            <a:r>
              <a:rPr lang="en-US" dirty="0" err="1"/>
              <a:t>Невроните</a:t>
            </a:r>
            <a:r>
              <a:rPr lang="en-US" dirty="0"/>
              <a:t> </a:t>
            </a:r>
            <a:r>
              <a:rPr lang="en-US" dirty="0" err="1"/>
              <a:t>комуницираат</a:t>
            </a:r>
            <a:r>
              <a:rPr lang="en-US" dirty="0"/>
              <a:t> </a:t>
            </a:r>
            <a:r>
              <a:rPr lang="en-US" dirty="0" err="1"/>
              <a:t>преку</a:t>
            </a:r>
            <a:r>
              <a:rPr lang="en-US" dirty="0"/>
              <a:t> </a:t>
            </a:r>
            <a:r>
              <a:rPr lang="en-US" dirty="0" err="1"/>
              <a:t>електрични</a:t>
            </a:r>
            <a:r>
              <a:rPr lang="en-US" dirty="0"/>
              <a:t> </a:t>
            </a:r>
            <a:r>
              <a:rPr lang="en-US" dirty="0" err="1"/>
              <a:t>импулси</a:t>
            </a:r>
            <a:r>
              <a:rPr lang="en-US" dirty="0"/>
              <a:t>,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dirty="0" err="1"/>
              <a:t>кога</a:t>
            </a:r>
            <a:r>
              <a:rPr lang="en-US" dirty="0"/>
              <a:t> </a:t>
            </a:r>
            <a:r>
              <a:rPr lang="en-US" dirty="0" err="1"/>
              <a:t>многу</a:t>
            </a:r>
            <a:r>
              <a:rPr lang="en-US" dirty="0"/>
              <a:t> </a:t>
            </a:r>
            <a:r>
              <a:rPr lang="en-US" dirty="0" err="1"/>
              <a:t>неврони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активираат</a:t>
            </a:r>
            <a:r>
              <a:rPr lang="en-US" dirty="0"/>
              <a:t> </a:t>
            </a:r>
            <a:r>
              <a:rPr lang="en-US" dirty="0" err="1"/>
              <a:t>заедно</a:t>
            </a:r>
            <a:r>
              <a:rPr lang="en-US" dirty="0"/>
              <a:t>, </a:t>
            </a:r>
            <a:r>
              <a:rPr lang="en-US" dirty="0" err="1"/>
              <a:t>нивната</a:t>
            </a:r>
            <a:r>
              <a:rPr lang="en-US" dirty="0"/>
              <a:t> </a:t>
            </a:r>
            <a:r>
              <a:rPr lang="en-US" dirty="0" err="1"/>
              <a:t>комбинирана</a:t>
            </a:r>
            <a:r>
              <a:rPr lang="en-US" dirty="0"/>
              <a:t> </a:t>
            </a:r>
            <a:r>
              <a:rPr lang="en-US" dirty="0" err="1"/>
              <a:t>електрична</a:t>
            </a:r>
            <a:r>
              <a:rPr lang="en-US" dirty="0"/>
              <a:t> </a:t>
            </a:r>
            <a:r>
              <a:rPr lang="en-US" dirty="0" err="1"/>
              <a:t>активност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открие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EEG.</a:t>
            </a:r>
            <a:endParaRPr lang="en-MK" dirty="0"/>
          </a:p>
          <a:p>
            <a:r>
              <a:rPr lang="en-US" dirty="0" err="1"/>
              <a:t>Електричната</a:t>
            </a:r>
            <a:r>
              <a:rPr lang="en-US" dirty="0"/>
              <a:t> </a:t>
            </a:r>
            <a:r>
              <a:rPr lang="en-US" dirty="0" err="1"/>
              <a:t>активност</a:t>
            </a:r>
            <a:r>
              <a:rPr lang="en-US" dirty="0"/>
              <a:t> </a:t>
            </a:r>
            <a:r>
              <a:rPr lang="en-US" dirty="0" err="1"/>
              <a:t>е</a:t>
            </a:r>
            <a:r>
              <a:rPr lang="en-US" dirty="0"/>
              <a:t> </a:t>
            </a:r>
            <a:r>
              <a:rPr lang="en-US" dirty="0" err="1"/>
              <a:t>претставена</a:t>
            </a:r>
            <a:r>
              <a:rPr lang="en-US" dirty="0"/>
              <a:t> </a:t>
            </a:r>
            <a:r>
              <a:rPr lang="en-US" dirty="0" err="1"/>
              <a:t>како</a:t>
            </a:r>
            <a:r>
              <a:rPr lang="en-US" dirty="0"/>
              <a:t> </a:t>
            </a:r>
            <a:r>
              <a:rPr lang="en-US" dirty="0" err="1"/>
              <a:t>брановидни</a:t>
            </a:r>
            <a:r>
              <a:rPr lang="en-US" dirty="0"/>
              <a:t> </a:t>
            </a:r>
            <a:r>
              <a:rPr lang="en-US" dirty="0" err="1"/>
              <a:t>лини</a:t>
            </a:r>
            <a:r>
              <a:rPr lang="mk-MK" dirty="0"/>
              <a:t>и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различни</a:t>
            </a:r>
            <a:r>
              <a:rPr lang="en-US" dirty="0"/>
              <a:t> </a:t>
            </a:r>
            <a:r>
              <a:rPr lang="en-US" dirty="0" err="1"/>
              <a:t>фреквенции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амплитуди</a:t>
            </a:r>
            <a:r>
              <a:rPr lang="en-US" dirty="0"/>
              <a:t> </a:t>
            </a:r>
            <a:r>
              <a:rPr lang="en-US" dirty="0" err="1"/>
              <a:t>што</a:t>
            </a:r>
            <a:r>
              <a:rPr lang="en-US" dirty="0"/>
              <a:t> </a:t>
            </a:r>
            <a:r>
              <a:rPr lang="en-US" dirty="0" err="1"/>
              <a:t>одговараат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различни</a:t>
            </a:r>
            <a:r>
              <a:rPr lang="en-US" dirty="0"/>
              <a:t> </a:t>
            </a:r>
            <a:r>
              <a:rPr lang="en-US" dirty="0" err="1"/>
              <a:t>состојби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мозокот</a:t>
            </a:r>
            <a:r>
              <a:rPr lang="en-US" dirty="0"/>
              <a:t>.</a:t>
            </a:r>
            <a:r>
              <a:rPr lang="en-MK" dirty="0">
                <a:effectLst/>
              </a:rPr>
              <a:t> </a:t>
            </a:r>
            <a:endParaRPr lang="en-M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5904F-034E-5009-B6A8-88C2CA08F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94" y="4057514"/>
            <a:ext cx="9441812" cy="211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3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0AA5-FA74-7630-8F36-334603623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191"/>
            <a:ext cx="10515600" cy="4351338"/>
          </a:xfrm>
        </p:spPr>
        <p:txBody>
          <a:bodyPr/>
          <a:lstStyle/>
          <a:p>
            <a:r>
              <a:rPr lang="en-US" dirty="0"/>
              <a:t>EEG </a:t>
            </a:r>
            <a:r>
              <a:rPr lang="en-US" dirty="0" err="1"/>
              <a:t>сигналите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b="1" dirty="0" err="1"/>
              <a:t>шумливи</a:t>
            </a:r>
            <a:r>
              <a:rPr lang="en-US" b="1" dirty="0"/>
              <a:t>, </a:t>
            </a:r>
            <a:r>
              <a:rPr lang="en-US" b="1" dirty="0" err="1"/>
              <a:t>нелинеарни</a:t>
            </a:r>
            <a:r>
              <a:rPr lang="en-US" b="1" dirty="0"/>
              <a:t>, </a:t>
            </a:r>
            <a:r>
              <a:rPr lang="en-US" b="1" dirty="0" err="1"/>
              <a:t>временски</a:t>
            </a:r>
            <a:r>
              <a:rPr lang="en-US" b="1" dirty="0"/>
              <a:t> </a:t>
            </a:r>
            <a:r>
              <a:rPr lang="en-US" b="1" dirty="0" err="1"/>
              <a:t>зависни</a:t>
            </a:r>
            <a:r>
              <a:rPr lang="mk-MK" b="1" dirty="0"/>
              <a:t> и полни со артефакти</a:t>
            </a:r>
            <a:r>
              <a:rPr lang="en-US" dirty="0"/>
              <a:t>, </a:t>
            </a:r>
            <a:r>
              <a:rPr lang="en-US" dirty="0" err="1"/>
              <a:t>што</a:t>
            </a:r>
            <a:r>
              <a:rPr lang="en-US" dirty="0"/>
              <a:t> </a:t>
            </a:r>
            <a:r>
              <a:rPr lang="en-US" dirty="0" err="1"/>
              <a:t>претставува</a:t>
            </a:r>
            <a:r>
              <a:rPr lang="en-US" dirty="0"/>
              <a:t> </a:t>
            </a:r>
            <a:r>
              <a:rPr lang="en-US" dirty="0" err="1"/>
              <a:t>голем</a:t>
            </a:r>
            <a:r>
              <a:rPr lang="en-US" dirty="0"/>
              <a:t> </a:t>
            </a:r>
            <a:r>
              <a:rPr lang="en-US" dirty="0" err="1"/>
              <a:t>предизвик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нивната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. </a:t>
            </a:r>
            <a:r>
              <a:rPr lang="mk-MK" dirty="0"/>
              <a:t>Тие се со ниска амплитуда (обично во µV) кои се појавуваат како бранови со различни фреквенции и амплитуди</a:t>
            </a:r>
            <a:endParaRPr lang="en-MK" dirty="0"/>
          </a:p>
          <a:p>
            <a:endParaRPr lang="en-M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DBD550-A6DD-B8F5-6F95-209CA9B30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959565"/>
              </p:ext>
            </p:extLst>
          </p:nvPr>
        </p:nvGraphicFramePr>
        <p:xfrm>
          <a:off x="838200" y="3848379"/>
          <a:ext cx="10515600" cy="1760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242348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965990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20804456"/>
                    </a:ext>
                  </a:extLst>
                </a:gridCol>
              </a:tblGrid>
              <a:tr h="1884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Име на бран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Фреквенција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Што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претставува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3102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Delta (δ)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0.5 – 4 Hz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Длабок сон, несвесна состојба.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0130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Theta (θ)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4 – 8 Hz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Лесен сон, длабока релаксација, медитација.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4914674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Alpha (α)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8 – 13 Hz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Смирена будност, затворени очи, без ментален напор.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918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Beta (β)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13 – 30 Hz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Активно размислување, концентрација, алармна состојба.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5020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Gamma (γ)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30 – 100+ Hz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effectLst/>
                        </a:rPr>
                        <a:t>Висока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когнитивна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активност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свесност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обработка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на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сетила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4108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701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74F6-C0B9-FBBF-5C4B-E381EAAF8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38" y="1744784"/>
            <a:ext cx="4462404" cy="4754453"/>
          </a:xfrm>
        </p:spPr>
        <p:txBody>
          <a:bodyPr/>
          <a:lstStyle/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случај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епилепсија</a:t>
            </a:r>
            <a:r>
              <a:rPr lang="en-US" dirty="0"/>
              <a:t>, </a:t>
            </a:r>
            <a:r>
              <a:rPr lang="en-US" dirty="0" err="1"/>
              <a:t>најважно</a:t>
            </a:r>
            <a:r>
              <a:rPr lang="en-US" dirty="0"/>
              <a:t> </a:t>
            </a:r>
            <a:r>
              <a:rPr lang="en-US" dirty="0" err="1"/>
              <a:t>е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следат</a:t>
            </a:r>
            <a:r>
              <a:rPr lang="en-US" dirty="0"/>
              <a:t> </a:t>
            </a:r>
            <a:r>
              <a:rPr lang="en-GB" b="1" dirty="0"/>
              <a:t>s</a:t>
            </a:r>
            <a:r>
              <a:rPr lang="en-US" b="1" dirty="0"/>
              <a:t>pikes </a:t>
            </a:r>
            <a:r>
              <a:rPr lang="en-US" b="1" dirty="0" err="1"/>
              <a:t>и</a:t>
            </a:r>
            <a:r>
              <a:rPr lang="en-US" b="1" dirty="0"/>
              <a:t> sharp waves</a:t>
            </a:r>
            <a:r>
              <a:rPr lang="en-US" dirty="0"/>
              <a:t> (</a:t>
            </a:r>
            <a:r>
              <a:rPr lang="en-US" dirty="0" err="1"/>
              <a:t>остри</a:t>
            </a:r>
            <a:r>
              <a:rPr lang="en-US" dirty="0"/>
              <a:t> </a:t>
            </a:r>
            <a:r>
              <a:rPr lang="en-US" dirty="0" err="1"/>
              <a:t>врвови</a:t>
            </a:r>
            <a:r>
              <a:rPr lang="en-US" dirty="0"/>
              <a:t>),  </a:t>
            </a:r>
            <a:r>
              <a:rPr lang="en-GB" b="1" dirty="0"/>
              <a:t>spike-and-wave</a:t>
            </a:r>
            <a:r>
              <a:rPr lang="en-GB" dirty="0"/>
              <a:t> </a:t>
            </a:r>
            <a:r>
              <a:rPr lang="mk-MK" b="1" dirty="0"/>
              <a:t>комплекси</a:t>
            </a:r>
            <a:r>
              <a:rPr lang="mk-MK" dirty="0"/>
              <a:t> </a:t>
            </a:r>
            <a:r>
              <a:rPr lang="mk-MK" b="1" dirty="0"/>
              <a:t>кои се </a:t>
            </a:r>
            <a:r>
              <a:rPr lang="en-US" dirty="0" err="1"/>
              <a:t>типичен</a:t>
            </a:r>
            <a:r>
              <a:rPr lang="en-US" dirty="0"/>
              <a:t> </a:t>
            </a:r>
            <a:r>
              <a:rPr lang="en-US" dirty="0" err="1"/>
              <a:t>ш</a:t>
            </a:r>
            <a:r>
              <a:rPr lang="mk-MK" dirty="0" err="1"/>
              <a:t>аблон</a:t>
            </a:r>
            <a:r>
              <a:rPr lang="en-US" dirty="0"/>
              <a:t> </a:t>
            </a:r>
            <a:r>
              <a:rPr lang="en-US" dirty="0" err="1"/>
              <a:t>кај</a:t>
            </a:r>
            <a:r>
              <a:rPr lang="en-US" dirty="0"/>
              <a:t> </a:t>
            </a:r>
            <a:r>
              <a:rPr lang="en-US" dirty="0" err="1"/>
              <a:t>генерализирани</a:t>
            </a:r>
            <a:r>
              <a:rPr lang="en-US" dirty="0"/>
              <a:t> </a:t>
            </a:r>
            <a:r>
              <a:rPr lang="en-US" dirty="0" err="1"/>
              <a:t>напади</a:t>
            </a:r>
            <a:r>
              <a:rPr lang="mk-MK" dirty="0"/>
              <a:t>.</a:t>
            </a:r>
            <a:endParaRPr lang="en-MK" dirty="0"/>
          </a:p>
        </p:txBody>
      </p:sp>
      <p:pic>
        <p:nvPicPr>
          <p:cNvPr id="3074" name="Picture 2" descr="Detection of EEG transients in neonates - ressources-lnfp">
            <a:extLst>
              <a:ext uri="{FF2B5EF4-FFF2-40B4-BE49-F238E27FC236}">
                <a16:creationId xmlns:a16="http://schemas.microsoft.com/office/drawing/2014/main" id="{58C70624-2792-69AE-A676-6948AF044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962" y="1206500"/>
            <a:ext cx="571500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47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8D5B-A933-8A4E-9500-5114EC2C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sz="4000" b="1" dirty="0"/>
              <a:t>Прибирање на податоци (</a:t>
            </a:r>
            <a:r>
              <a:rPr lang="en-GB" sz="4000" b="1" dirty="0"/>
              <a:t>Data </a:t>
            </a:r>
            <a:r>
              <a:rPr lang="en-GB" sz="4000" b="1" dirty="0" err="1"/>
              <a:t>Acqusition</a:t>
            </a:r>
            <a:r>
              <a:rPr lang="en-GB" sz="4000" b="1" dirty="0"/>
              <a:t>)</a:t>
            </a:r>
            <a:r>
              <a:rPr lang="en-MK" sz="4000" dirty="0">
                <a:effectLst/>
              </a:rPr>
              <a:t> </a:t>
            </a:r>
            <a:endParaRPr lang="en-M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90D00-5F60-D8C7-1843-E2036602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42863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 err="1"/>
              <a:t>Користенa</a:t>
            </a:r>
            <a:r>
              <a:rPr lang="en-GB" dirty="0"/>
              <a:t> </a:t>
            </a:r>
            <a:r>
              <a:rPr lang="mk-MK" dirty="0"/>
              <a:t>е јавна</a:t>
            </a:r>
            <a:r>
              <a:rPr lang="en-GB" dirty="0"/>
              <a:t> </a:t>
            </a:r>
            <a:r>
              <a:rPr lang="en-GB" dirty="0" err="1"/>
              <a:t>баз</a:t>
            </a:r>
            <a:r>
              <a:rPr lang="mk-MK" dirty="0"/>
              <a:t>а</a:t>
            </a:r>
            <a:r>
              <a:rPr lang="en-GB" dirty="0"/>
              <a:t> </a:t>
            </a:r>
            <a:r>
              <a:rPr lang="en-GB" dirty="0" err="1"/>
              <a:t>на</a:t>
            </a:r>
            <a:r>
              <a:rPr lang="en-GB" dirty="0"/>
              <a:t> </a:t>
            </a:r>
            <a:r>
              <a:rPr lang="en-GB" dirty="0" err="1"/>
              <a:t>податоци</a:t>
            </a:r>
            <a:r>
              <a:rPr lang="en-GB" dirty="0"/>
              <a:t> </a:t>
            </a:r>
            <a:r>
              <a:rPr lang="en-GB" dirty="0" err="1"/>
              <a:t>како</a:t>
            </a:r>
            <a:r>
              <a:rPr lang="en-GB" dirty="0"/>
              <a:t> </a:t>
            </a:r>
            <a:r>
              <a:rPr lang="en-GB" dirty="0" err="1"/>
              <a:t>што</a:t>
            </a:r>
            <a:r>
              <a:rPr lang="en-GB" dirty="0"/>
              <a:t> </a:t>
            </a:r>
            <a:r>
              <a:rPr lang="mk-MK" dirty="0"/>
              <a:t>е </a:t>
            </a:r>
            <a:r>
              <a:rPr lang="en-GB" u="sng" dirty="0">
                <a:hlinkClick r:id="rId2"/>
              </a:rPr>
              <a:t>CHB-MIT Scalp EEG Databas</a:t>
            </a:r>
            <a:r>
              <a:rPr lang="en-GB" u="sng" dirty="0">
                <a:hlinkClick r:id="rId2"/>
              </a:rPr>
              <a:t>e</a:t>
            </a:r>
            <a:endParaRPr lang="en-MK" dirty="0"/>
          </a:p>
          <a:p>
            <a:pPr lvl="1"/>
            <a:endParaRPr lang="en-GB" dirty="0"/>
          </a:p>
          <a:p>
            <a:pPr lvl="1"/>
            <a:r>
              <a:rPr lang="en-GB" sz="2100" dirty="0" err="1"/>
              <a:t>С</a:t>
            </a:r>
            <a:r>
              <a:rPr lang="mk-MK" sz="2100" dirty="0"/>
              <a:t>обрана од </a:t>
            </a:r>
            <a:r>
              <a:rPr lang="en-GB" sz="2100" b="1" dirty="0"/>
              <a:t>Children’s Hospital Boston</a:t>
            </a:r>
            <a:r>
              <a:rPr lang="mk-MK" sz="2100" dirty="0"/>
              <a:t>, од страна на </a:t>
            </a:r>
            <a:r>
              <a:rPr lang="en-GB" sz="2100" dirty="0"/>
              <a:t>MIT, </a:t>
            </a:r>
            <a:r>
              <a:rPr lang="mk-MK" sz="2100" dirty="0"/>
              <a:t>се состои од </a:t>
            </a:r>
            <a:r>
              <a:rPr lang="en-US" sz="2100" b="1" dirty="0"/>
              <a:t>EEG </a:t>
            </a:r>
            <a:r>
              <a:rPr lang="mk-MK" sz="2100" dirty="0"/>
              <a:t>снимки од испитаници со нерешливи напади.</a:t>
            </a:r>
            <a:endParaRPr lang="en-MK" sz="1500" dirty="0"/>
          </a:p>
          <a:p>
            <a:pPr marL="0" indent="0">
              <a:buNone/>
            </a:pPr>
            <a:r>
              <a:rPr lang="en-GB" sz="2300" b="1" dirty="0"/>
              <a:t> </a:t>
            </a:r>
            <a:endParaRPr lang="en-MK" sz="2100" dirty="0"/>
          </a:p>
          <a:p>
            <a:pPr lvl="1"/>
            <a:r>
              <a:rPr lang="mk-MK" sz="2100" dirty="0"/>
              <a:t>Снимките се групирани во 23 случаи и се собрани од 22 испитаници (5 мажи, на возраст од 3 до 22 години; и 17 жени, на возраст од 1,5 до 19 години)</a:t>
            </a:r>
            <a:endParaRPr lang="en-MK" sz="1500" dirty="0"/>
          </a:p>
          <a:p>
            <a:endParaRPr lang="en-MK" sz="2100" dirty="0"/>
          </a:p>
          <a:p>
            <a:pPr lvl="1"/>
            <a:r>
              <a:rPr lang="en-GB" sz="2100" dirty="0" err="1"/>
              <a:t>Секој</a:t>
            </a:r>
            <a:r>
              <a:rPr lang="en-GB" sz="2100" dirty="0"/>
              <a:t> </a:t>
            </a:r>
            <a:r>
              <a:rPr lang="en-GB" sz="2100" dirty="0" err="1"/>
              <a:t>случај</a:t>
            </a:r>
            <a:r>
              <a:rPr lang="en-GB" sz="2100" dirty="0"/>
              <a:t> (chb01, chb02, </a:t>
            </a:r>
            <a:r>
              <a:rPr lang="en-GB" sz="2100" dirty="0" err="1"/>
              <a:t>итн</a:t>
            </a:r>
            <a:r>
              <a:rPr lang="en-GB" sz="2100" dirty="0"/>
              <a:t>.) </a:t>
            </a:r>
            <a:r>
              <a:rPr lang="en-GB" sz="2100" dirty="0" err="1"/>
              <a:t>содржи</a:t>
            </a:r>
            <a:r>
              <a:rPr lang="en-GB" sz="2100" dirty="0"/>
              <a:t> </a:t>
            </a:r>
            <a:r>
              <a:rPr lang="en-GB" sz="2100" dirty="0" err="1"/>
              <a:t>помеѓу</a:t>
            </a:r>
            <a:r>
              <a:rPr lang="en-GB" sz="2100" dirty="0"/>
              <a:t> 9 </a:t>
            </a:r>
            <a:r>
              <a:rPr lang="en-GB" sz="2100" dirty="0" err="1"/>
              <a:t>и</a:t>
            </a:r>
            <a:r>
              <a:rPr lang="en-GB" sz="2100" dirty="0"/>
              <a:t> 42 </a:t>
            </a:r>
            <a:r>
              <a:rPr lang="en-GB" sz="2100" dirty="0" err="1"/>
              <a:t>континуирани</a:t>
            </a:r>
            <a:r>
              <a:rPr lang="en-GB" sz="2100" dirty="0"/>
              <a:t> .</a:t>
            </a:r>
            <a:r>
              <a:rPr lang="en-GB" sz="2100" dirty="0" err="1"/>
              <a:t>edf</a:t>
            </a:r>
            <a:r>
              <a:rPr lang="en-GB" sz="2100" dirty="0"/>
              <a:t> </a:t>
            </a:r>
            <a:r>
              <a:rPr lang="en-GB" sz="2100" dirty="0" err="1"/>
              <a:t>датотеки</a:t>
            </a:r>
            <a:r>
              <a:rPr lang="en-GB" sz="2100" dirty="0"/>
              <a:t> </a:t>
            </a:r>
            <a:r>
              <a:rPr lang="en-GB" sz="2100" dirty="0" err="1"/>
              <a:t>од</a:t>
            </a:r>
            <a:r>
              <a:rPr lang="en-GB" sz="2100" dirty="0"/>
              <a:t> </a:t>
            </a:r>
            <a:r>
              <a:rPr lang="en-GB" sz="2100" dirty="0" err="1"/>
              <a:t>еден</a:t>
            </a:r>
            <a:r>
              <a:rPr lang="en-GB" sz="2100" dirty="0"/>
              <a:t> </a:t>
            </a:r>
            <a:r>
              <a:rPr lang="en-GB" sz="2100" dirty="0" err="1"/>
              <a:t>испитаник</a:t>
            </a:r>
            <a:r>
              <a:rPr lang="en-GB" sz="2100" dirty="0"/>
              <a:t>, </a:t>
            </a:r>
            <a:r>
              <a:rPr lang="mk-MK" sz="2100" dirty="0"/>
              <a:t>каде што има и </a:t>
            </a:r>
            <a:r>
              <a:rPr lang="mk-MK" sz="2100" b="1" dirty="0"/>
              <a:t>c</a:t>
            </a:r>
            <a:r>
              <a:rPr lang="en-GB" sz="2100" b="1" dirty="0" err="1"/>
              <a:t>hb_summary</a:t>
            </a:r>
            <a:r>
              <a:rPr lang="en-GB" sz="2100" dirty="0"/>
              <a:t> </a:t>
            </a:r>
            <a:r>
              <a:rPr lang="mk-MK" sz="2100" dirty="0"/>
              <a:t>каде што кажува во која снимка, во кој период пациентот имал напад.</a:t>
            </a:r>
            <a:endParaRPr lang="en-MK" sz="1500" dirty="0"/>
          </a:p>
          <a:p>
            <a:endParaRPr lang="en-MK" sz="2100" dirty="0"/>
          </a:p>
          <a:p>
            <a:pPr lvl="1"/>
            <a:r>
              <a:rPr lang="mk-MK" sz="2100" dirty="0"/>
              <a:t>Секоја сесија содржи и анотации за почеток и крај на епилептичен напад.</a:t>
            </a:r>
            <a:endParaRPr lang="en-MK" sz="1500" dirty="0"/>
          </a:p>
          <a:p>
            <a:endParaRPr lang="en-MK" sz="2100" dirty="0"/>
          </a:p>
          <a:p>
            <a:pPr lvl="1"/>
            <a:r>
              <a:rPr lang="mk-MK" sz="2100" dirty="0"/>
              <a:t>Сигналите се снимани со</a:t>
            </a:r>
            <a:r>
              <a:rPr lang="en-GB" sz="2100" dirty="0"/>
              <a:t> 256hz </a:t>
            </a:r>
            <a:r>
              <a:rPr lang="mk-MK" sz="2100" dirty="0"/>
              <a:t>во секунда со 16-битна резолуција </a:t>
            </a:r>
            <a:endParaRPr lang="en-MK" sz="1500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105599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D0FE-93A1-81F5-3BEE-675D7263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/>
              <a:t>Значење на сигналот </a:t>
            </a:r>
            <a:br>
              <a:rPr lang="en-MK" dirty="0"/>
            </a:b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B1FA1-050E-96AE-0310-FD401F897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605" y="1602601"/>
            <a:ext cx="7324493" cy="4351338"/>
          </a:xfrm>
        </p:spPr>
        <p:txBody>
          <a:bodyPr>
            <a:normAutofit lnSpcReduction="10000"/>
          </a:bodyPr>
          <a:lstStyle/>
          <a:p>
            <a:r>
              <a:rPr lang="mk-MK" b="1" dirty="0"/>
              <a:t>Секој сигнал</a:t>
            </a:r>
            <a:r>
              <a:rPr lang="mk-MK" dirty="0"/>
              <a:t> е разлика во напонот (во </a:t>
            </a:r>
            <a:r>
              <a:rPr lang="mk-MK" dirty="0" err="1"/>
              <a:t>микроволти</a:t>
            </a:r>
            <a:r>
              <a:rPr lang="mk-MK" dirty="0"/>
              <a:t>, µV) со текот на времето, обично </a:t>
            </a:r>
            <a:r>
              <a:rPr lang="mk-MK" dirty="0" err="1"/>
              <a:t>семплирана</a:t>
            </a:r>
            <a:r>
              <a:rPr lang="mk-MK" dirty="0"/>
              <a:t> на 256 </a:t>
            </a:r>
            <a:r>
              <a:rPr lang="mk-MK" dirty="0" err="1"/>
              <a:t>Hz</a:t>
            </a:r>
            <a:r>
              <a:rPr lang="mk-MK" dirty="0"/>
              <a:t> во овој збир на податоци</a:t>
            </a:r>
            <a:endParaRPr lang="en-MK" dirty="0"/>
          </a:p>
          <a:p>
            <a:pPr marL="0" indent="0">
              <a:buNone/>
            </a:pPr>
            <a:endParaRPr lang="en-MK" dirty="0"/>
          </a:p>
          <a:p>
            <a:r>
              <a:rPr lang="mk-MK" dirty="0"/>
              <a:t>Всушност, сигналот е разликата во напонот помеѓу електродите на FP1 (</a:t>
            </a:r>
            <a:r>
              <a:rPr lang="mk-MK" dirty="0" err="1"/>
              <a:t>фронтополарна</a:t>
            </a:r>
            <a:r>
              <a:rPr lang="mk-MK" dirty="0"/>
              <a:t> лева страна) и F7 (фронтална лева страна). Сите абнормални скокови овде укажуваат на активност во тој регион на мозокот.</a:t>
            </a:r>
            <a:endParaRPr lang="en-MK" dirty="0"/>
          </a:p>
          <a:p>
            <a:endParaRPr lang="en-M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381B7-4532-71F4-D340-E419E9530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693" y="1436769"/>
            <a:ext cx="3261270" cy="39844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11FD2B-5E43-3E57-B087-3C06E7561F3B}"/>
              </a:ext>
            </a:extLst>
          </p:cNvPr>
          <p:cNvSpPr txBox="1"/>
          <p:nvPr/>
        </p:nvSpPr>
        <p:spPr>
          <a:xfrm>
            <a:off x="9142142" y="569121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K" dirty="0"/>
              <a:t>Frontal lobe</a:t>
            </a:r>
          </a:p>
        </p:txBody>
      </p:sp>
    </p:spTree>
    <p:extLst>
      <p:ext uri="{BB962C8B-B14F-4D97-AF65-F5344CB8AC3E}">
        <p14:creationId xmlns:p14="http://schemas.microsoft.com/office/powerpoint/2010/main" val="215395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7FBF-8A9A-D70A-FD95-C58AC0E6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EEG </a:t>
            </a:r>
            <a:r>
              <a:rPr lang="en-GB" b="1" dirty="0" err="1"/>
              <a:t>к</a:t>
            </a:r>
            <a:r>
              <a:rPr lang="mk-MK" b="1" dirty="0"/>
              <a:t>анали </a:t>
            </a:r>
            <a:br>
              <a:rPr lang="en-MK" dirty="0"/>
            </a:b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F588-CDAD-5135-65B0-F964B93C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972"/>
            <a:ext cx="10515600" cy="3582716"/>
          </a:xfrm>
        </p:spPr>
        <p:txBody>
          <a:bodyPr>
            <a:normAutofit fontScale="85000" lnSpcReduction="10000"/>
          </a:bodyPr>
          <a:lstStyle/>
          <a:p>
            <a:r>
              <a:rPr lang="mk-MK" dirty="0"/>
              <a:t>Секој </a:t>
            </a:r>
            <a:r>
              <a:rPr lang="en-GB" dirty="0"/>
              <a:t>.</a:t>
            </a:r>
            <a:r>
              <a:rPr lang="en-GB" dirty="0" err="1"/>
              <a:t>edf</a:t>
            </a:r>
            <a:r>
              <a:rPr lang="en-GB" dirty="0"/>
              <a:t> </a:t>
            </a:r>
            <a:r>
              <a:rPr lang="mk-MK" dirty="0"/>
              <a:t>фајл се состои од </a:t>
            </a:r>
            <a:r>
              <a:rPr lang="mk-MK" b="1" dirty="0"/>
              <a:t>повеќе канали.</a:t>
            </a:r>
            <a:r>
              <a:rPr lang="mk-MK" dirty="0"/>
              <a:t> </a:t>
            </a:r>
            <a:endParaRPr lang="en-MK" dirty="0"/>
          </a:p>
          <a:p>
            <a:pPr marL="0" indent="0">
              <a:buNone/>
            </a:pPr>
            <a:endParaRPr lang="en-MK" dirty="0"/>
          </a:p>
          <a:p>
            <a:r>
              <a:rPr lang="mk-MK" dirty="0"/>
              <a:t>Секој канал го покажува напонот помеѓу 2 електроди (</a:t>
            </a:r>
            <a:r>
              <a:rPr lang="en-GB" dirty="0"/>
              <a:t>Fp1-F7, F7-T7) </a:t>
            </a:r>
            <a:endParaRPr lang="en-MK" dirty="0"/>
          </a:p>
          <a:p>
            <a:pPr marL="0" indent="0">
              <a:buNone/>
            </a:pPr>
            <a:endParaRPr lang="en-MK" dirty="0"/>
          </a:p>
          <a:p>
            <a:r>
              <a:rPr lang="mk-MK" dirty="0"/>
              <a:t>EEG канали: Fp1-F7, F7-T7, T7-P7, и слично – се </a:t>
            </a:r>
            <a:r>
              <a:rPr lang="mk-MK" dirty="0" err="1"/>
              <a:t>електродни</a:t>
            </a:r>
            <a:r>
              <a:rPr lang="mk-MK" dirty="0"/>
              <a:t> парови од 10–20 EEG системот.</a:t>
            </a:r>
            <a:endParaRPr lang="en-MK" dirty="0"/>
          </a:p>
          <a:p>
            <a:pPr marL="0" indent="0">
              <a:buNone/>
            </a:pPr>
            <a:endParaRPr lang="en-MK" dirty="0"/>
          </a:p>
          <a:p>
            <a:r>
              <a:rPr lang="mk-MK" dirty="0"/>
              <a:t>Вредности: </a:t>
            </a:r>
            <a:r>
              <a:rPr lang="mk-MK" b="1" dirty="0"/>
              <a:t>µV (</a:t>
            </a:r>
            <a:r>
              <a:rPr lang="mk-MK" b="1" dirty="0" err="1"/>
              <a:t>микроволти</a:t>
            </a:r>
            <a:r>
              <a:rPr lang="mk-MK" b="1" dirty="0"/>
              <a:t>)</a:t>
            </a:r>
            <a:r>
              <a:rPr lang="mk-MK" dirty="0"/>
              <a:t> – електричен потенцијал меѓу двата електроди.</a:t>
            </a:r>
            <a:endParaRPr lang="en-MK" dirty="0"/>
          </a:p>
          <a:p>
            <a:endParaRPr lang="en-M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F0A6D7-EE09-1C94-8FFA-FE694C25EBA3}"/>
              </a:ext>
            </a:extLst>
          </p:cNvPr>
          <p:cNvSpPr txBox="1"/>
          <p:nvPr/>
        </p:nvSpPr>
        <p:spPr>
          <a:xfrm>
            <a:off x="3021050" y="6185098"/>
            <a:ext cx="6149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mk-MK" sz="1400" b="1" dirty="0">
                <a:solidFill>
                  <a:srgbClr val="2E74B5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Поделба на </a:t>
            </a:r>
            <a:r>
              <a:rPr lang="en-GB" sz="1400" b="1" dirty="0">
                <a:solidFill>
                  <a:srgbClr val="2E74B5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EEG </a:t>
            </a:r>
            <a:r>
              <a:rPr lang="en-GB" sz="1400" b="1" dirty="0" err="1">
                <a:solidFill>
                  <a:srgbClr val="2E74B5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к</a:t>
            </a:r>
            <a:r>
              <a:rPr lang="mk-MK" sz="1400" b="1" dirty="0">
                <a:solidFill>
                  <a:srgbClr val="2E74B5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анали според регионите на мозокот 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E0D3C0-F253-0E1A-2307-762CA6A64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34416"/>
              </p:ext>
            </p:extLst>
          </p:nvPr>
        </p:nvGraphicFramePr>
        <p:xfrm>
          <a:off x="3834171" y="5281264"/>
          <a:ext cx="4523655" cy="9038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23655">
                  <a:extLst>
                    <a:ext uri="{9D8B030D-6E8A-4147-A177-3AD203B41FA5}">
                      <a16:colId xmlns:a16="http://schemas.microsoft.com/office/drawing/2014/main" val="2719114966"/>
                    </a:ext>
                  </a:extLst>
                </a:gridCol>
              </a:tblGrid>
              <a:tr h="903834">
                <a:tc>
                  <a:txBody>
                    <a:bodyPr/>
                    <a:lstStyle/>
                    <a:p>
                      <a:pPr marL="57785">
                        <a:buNone/>
                      </a:pPr>
                      <a:r>
                        <a:rPr lang="mk-MK" sz="1300" dirty="0">
                          <a:effectLst/>
                        </a:rPr>
                        <a:t>FP1-F7, F7-T7, T7-P7, P7-O1 (лева хемисфера)</a:t>
                      </a:r>
                      <a:endParaRPr lang="en-MK" sz="1200" dirty="0">
                        <a:effectLst/>
                      </a:endParaRPr>
                    </a:p>
                    <a:p>
                      <a:pPr marL="57785">
                        <a:buNone/>
                      </a:pPr>
                      <a:r>
                        <a:rPr lang="mk-MK" sz="1300" dirty="0">
                          <a:effectLst/>
                        </a:rPr>
                        <a:t>FP1-F3, F3-C3, C3-P3, P3-O1 (средно лева)</a:t>
                      </a:r>
                      <a:endParaRPr lang="en-MK" sz="1200" dirty="0">
                        <a:effectLst/>
                      </a:endParaRPr>
                    </a:p>
                    <a:p>
                      <a:pPr marL="57785">
                        <a:buNone/>
                      </a:pPr>
                      <a:r>
                        <a:rPr lang="mk-MK" sz="1300" dirty="0">
                          <a:effectLst/>
                        </a:rPr>
                        <a:t>FP2-F4, F4-C4, C4-P4, P4-O2 (средно десна)</a:t>
                      </a:r>
                      <a:endParaRPr lang="en-MK" sz="1200" dirty="0">
                        <a:effectLst/>
                      </a:endParaRPr>
                    </a:p>
                    <a:p>
                      <a:pPr marL="57785">
                        <a:buNone/>
                      </a:pPr>
                      <a:r>
                        <a:rPr lang="mk-MK" sz="1300" dirty="0">
                          <a:effectLst/>
                        </a:rPr>
                        <a:t>FP2-F8, F8-T8, T8-P8, P8-O2 (десна хемисфера )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487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052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B282-5B42-45D8-64B4-D6F52470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/>
              <a:t>Снимање на податоците 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DE33D-88F8-ACB2-621E-6553FE670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mk-MK" dirty="0"/>
              <a:t>Снимање на податоците значи процесот на регистрирање и зачувување на EEG сигналите од електродите на главата на пациентот. </a:t>
            </a:r>
            <a:endParaRPr lang="en-MK" dirty="0"/>
          </a:p>
          <a:p>
            <a:r>
              <a:rPr lang="mk-MK" dirty="0"/>
              <a:t>Овие снимани податоци  се користат за анализа, обработка и детекција на мозочни активности.</a:t>
            </a:r>
            <a:endParaRPr lang="en-MK" dirty="0"/>
          </a:p>
          <a:p>
            <a:endParaRPr lang="en-MK" dirty="0"/>
          </a:p>
          <a:p>
            <a:r>
              <a:rPr lang="mk-MK" b="1" dirty="0"/>
              <a:t>Се снима со 256 </a:t>
            </a:r>
            <a:r>
              <a:rPr lang="mk-MK" b="1" dirty="0" err="1"/>
              <a:t>Hz</a:t>
            </a:r>
            <a:r>
              <a:rPr lang="mk-MK" b="1" dirty="0"/>
              <a:t> → 256 примероци во секунда, поточно 256 мерења во секунда по канал).</a:t>
            </a:r>
            <a:endParaRPr lang="en-MK" dirty="0"/>
          </a:p>
          <a:p>
            <a:endParaRPr lang="en-MK" dirty="0"/>
          </a:p>
          <a:p>
            <a:r>
              <a:rPr lang="mk-MK" dirty="0"/>
              <a:t>23+ канали (електроди).</a:t>
            </a:r>
            <a:endParaRPr lang="en-MK" dirty="0"/>
          </a:p>
          <a:p>
            <a:pPr marL="0" indent="0">
              <a:buNone/>
            </a:pPr>
            <a:endParaRPr lang="en-MK" dirty="0"/>
          </a:p>
          <a:p>
            <a:r>
              <a:rPr lang="mk-MK" dirty="0"/>
              <a:t>Времетраење: ~1 час по фајл (~3600 × 256 ≈ 921,600 редови)</a:t>
            </a:r>
            <a:endParaRPr lang="en-MK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198245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97AE-AA09-F52D-21C5-21994B9C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/>
              <a:t>Значење на карактеристиката </a:t>
            </a:r>
            <a:endParaRPr lang="en-M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DAF02D-C0CF-EE57-818F-88F7D4B2B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987407"/>
              </p:ext>
            </p:extLst>
          </p:nvPr>
        </p:nvGraphicFramePr>
        <p:xfrm>
          <a:off x="838200" y="1884556"/>
          <a:ext cx="10515600" cy="3858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017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07928443"/>
                    </a:ext>
                  </a:extLst>
                </a:gridCol>
              </a:tblGrid>
              <a:tr h="256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Карактеристика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Значење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4067555"/>
                  </a:ext>
                </a:extLst>
              </a:tr>
              <a:tr h="48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Базна линија (Baseline)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Рамна или конзистентна линија без големи осцилации – типична за опуштена состојба на мозокот, особено кога лицето мирува или спие.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7495832"/>
                  </a:ext>
                </a:extLst>
              </a:tr>
              <a:tr h="952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Мали осцилации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mk-MK" sz="1200">
                          <a:effectLst/>
                        </a:rPr>
                        <a:t> </a:t>
                      </a:r>
                      <a:endParaRPr lang="en-MK" sz="12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Нормални мозочни ритмови, како што се алфа (8–12 Hz), бета (13–30 Hz), тета (4–7 Hz) и делта (0.5–4 Hz) бранови. Се јавуваат во различни состојби – будност, концентрација, длабок сон и слично.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8578161"/>
                  </a:ext>
                </a:extLst>
              </a:tr>
              <a:tr h="720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Остри спајкови или изблици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MK" sz="12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Брзи и високи скокови во сигналот. Можат да бидат индикатор за почеток на епилептичен напад или друга абнормална мозочна активност.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0992878"/>
                  </a:ext>
                </a:extLst>
              </a:tr>
              <a:tr h="952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Ритмички, повторливи бранови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Постои регуларен, синхронизиран шаблон во сигналот. Најчесто се гледа при епилептични напади, каде што одреден дел од мозокот испраќа координирани сигнали.</a:t>
                      </a:r>
                      <a:endParaRPr lang="en-MK" sz="12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32991500"/>
                  </a:ext>
                </a:extLst>
              </a:tr>
              <a:tr h="48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Ненадејни скокови или падови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effectLst/>
                        </a:rPr>
                        <a:t>Изненадни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промени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во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сигналот</a:t>
                      </a:r>
                      <a:r>
                        <a:rPr lang="en-US" sz="1200" dirty="0">
                          <a:effectLst/>
                        </a:rPr>
                        <a:t>. Може </a:t>
                      </a:r>
                      <a:r>
                        <a:rPr lang="en-US" sz="1200" dirty="0" err="1">
                          <a:effectLst/>
                        </a:rPr>
                        <a:t>да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се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јават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поради</a:t>
                      </a:r>
                      <a:r>
                        <a:rPr lang="mk-MK" sz="1200" dirty="0">
                          <a:effectLst/>
                        </a:rPr>
                        <a:t> шум, артефакти (движење на телото, мускулна активност)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0719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533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B199-55BC-EDEC-F891-C68E2E45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EDF Format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BAA8-690F-F61B-F703-8CE876128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mk-MK" dirty="0"/>
              <a:t>Сам</a:t>
            </a:r>
            <a:r>
              <a:rPr lang="en-GB" dirty="0"/>
              <a:t>a</a:t>
            </a:r>
            <a:r>
              <a:rPr lang="mk-MK" dirty="0"/>
              <a:t>та база на податоци е во формат </a:t>
            </a:r>
            <a:r>
              <a:rPr lang="mk-MK" b="1" dirty="0"/>
              <a:t>.</a:t>
            </a:r>
            <a:r>
              <a:rPr lang="mk-MK" b="1" dirty="0" err="1"/>
              <a:t>еd</a:t>
            </a:r>
            <a:r>
              <a:rPr lang="en-GB" b="1" dirty="0"/>
              <a:t>f </a:t>
            </a:r>
            <a:r>
              <a:rPr lang="mk-MK" b="1" dirty="0"/>
              <a:t>(Е</a:t>
            </a:r>
            <a:r>
              <a:rPr lang="en-GB" b="1" dirty="0" err="1"/>
              <a:t>uropean</a:t>
            </a:r>
            <a:r>
              <a:rPr lang="en-GB" b="1" dirty="0"/>
              <a:t> Data Format) </a:t>
            </a:r>
            <a:r>
              <a:rPr lang="en-GB" dirty="0" err="1"/>
              <a:t>к</a:t>
            </a:r>
            <a:r>
              <a:rPr lang="mk-MK" dirty="0"/>
              <a:t>ој</a:t>
            </a:r>
            <a:r>
              <a:rPr lang="en-MK" dirty="0"/>
              <a:t> </a:t>
            </a:r>
            <a:r>
              <a:rPr lang="en-GB" dirty="0" err="1"/>
              <a:t>е</a:t>
            </a:r>
            <a:r>
              <a:rPr lang="en-GB" dirty="0"/>
              <a:t> </a:t>
            </a:r>
            <a:r>
              <a:rPr lang="en-GB" dirty="0" err="1"/>
              <a:t>стандардизиран</a:t>
            </a:r>
            <a:r>
              <a:rPr lang="en-GB" dirty="0"/>
              <a:t> </a:t>
            </a:r>
            <a:r>
              <a:rPr lang="en-GB" dirty="0" err="1"/>
              <a:t>формат</a:t>
            </a:r>
            <a:r>
              <a:rPr lang="en-GB" dirty="0"/>
              <a:t> </a:t>
            </a:r>
            <a:r>
              <a:rPr lang="en-GB" dirty="0" err="1"/>
              <a:t>за</a:t>
            </a:r>
            <a:r>
              <a:rPr lang="en-GB" dirty="0"/>
              <a:t> </a:t>
            </a:r>
            <a:r>
              <a:rPr lang="en-GB" dirty="0" err="1"/>
              <a:t>складирање</a:t>
            </a:r>
            <a:r>
              <a:rPr lang="en-GB" dirty="0"/>
              <a:t> </a:t>
            </a:r>
            <a:r>
              <a:rPr lang="en-GB" dirty="0" err="1"/>
              <a:t>на</a:t>
            </a:r>
            <a:r>
              <a:rPr lang="en-GB" dirty="0"/>
              <a:t> </a:t>
            </a:r>
            <a:r>
              <a:rPr lang="en-GB" dirty="0" err="1"/>
              <a:t>биомедицински</a:t>
            </a:r>
            <a:r>
              <a:rPr lang="en-GB" dirty="0"/>
              <a:t> </a:t>
            </a:r>
            <a:r>
              <a:rPr lang="en-GB" dirty="0" err="1"/>
              <a:t>сигнали</a:t>
            </a:r>
            <a:r>
              <a:rPr lang="en-GB" dirty="0"/>
              <a:t>, </a:t>
            </a:r>
            <a:r>
              <a:rPr lang="en-GB" dirty="0" err="1"/>
              <a:t>како</a:t>
            </a:r>
            <a:r>
              <a:rPr lang="en-GB" dirty="0"/>
              <a:t> </a:t>
            </a:r>
            <a:r>
              <a:rPr lang="en-GB" dirty="0" err="1"/>
              <a:t>што</a:t>
            </a:r>
            <a:r>
              <a:rPr lang="en-GB" dirty="0"/>
              <a:t> </a:t>
            </a:r>
            <a:r>
              <a:rPr lang="en-GB" dirty="0" err="1"/>
              <a:t>се</a:t>
            </a:r>
            <a:r>
              <a:rPr lang="en-GB" dirty="0"/>
              <a:t>:</a:t>
            </a:r>
            <a:endParaRPr lang="en-MK" dirty="0"/>
          </a:p>
          <a:p>
            <a:pPr lvl="0"/>
            <a:r>
              <a:rPr lang="en-GB" dirty="0"/>
              <a:t>EEG (</a:t>
            </a:r>
            <a:r>
              <a:rPr lang="en-GB" dirty="0" err="1"/>
              <a:t>електроенцефалограм</a:t>
            </a:r>
            <a:r>
              <a:rPr lang="en-GB" dirty="0"/>
              <a:t>)</a:t>
            </a:r>
            <a:endParaRPr lang="en-MK" dirty="0"/>
          </a:p>
          <a:p>
            <a:pPr lvl="0"/>
            <a:r>
              <a:rPr lang="en-GB" dirty="0"/>
              <a:t>EMG (</a:t>
            </a:r>
            <a:r>
              <a:rPr lang="en-GB" dirty="0" err="1"/>
              <a:t>електромиограм</a:t>
            </a:r>
            <a:r>
              <a:rPr lang="en-GB" dirty="0"/>
              <a:t>)</a:t>
            </a:r>
            <a:endParaRPr lang="en-MK" dirty="0"/>
          </a:p>
          <a:p>
            <a:pPr lvl="0"/>
            <a:r>
              <a:rPr lang="en-GB" dirty="0"/>
              <a:t>ECG (</a:t>
            </a:r>
            <a:r>
              <a:rPr lang="en-GB" dirty="0" err="1"/>
              <a:t>електрокардиограм</a:t>
            </a:r>
            <a:r>
              <a:rPr lang="en-GB" dirty="0"/>
              <a:t>)</a:t>
            </a:r>
            <a:endParaRPr lang="en-MK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4075597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emple University EEG Corpus - Example_0004">
            <a:extLst>
              <a:ext uri="{FF2B5EF4-FFF2-40B4-BE49-F238E27FC236}">
                <a16:creationId xmlns:a16="http://schemas.microsoft.com/office/drawing/2014/main" id="{28001DE4-BD3B-0420-65DE-6D5EC5753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522" y="497508"/>
            <a:ext cx="9804953" cy="521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8D9869-5F9E-FBFD-81A2-ACD8442A9044}"/>
              </a:ext>
            </a:extLst>
          </p:cNvPr>
          <p:cNvSpPr txBox="1"/>
          <p:nvPr/>
        </p:nvSpPr>
        <p:spPr>
          <a:xfrm>
            <a:off x="3046140" y="599116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EDF Format</a:t>
            </a:r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894840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FBFE-10F4-7CBF-5EF1-9C2AC13D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 err="1"/>
              <a:t>Препроцесирање</a:t>
            </a:r>
            <a:r>
              <a:rPr lang="mk-MK" b="1" dirty="0"/>
              <a:t> на податоци за </a:t>
            </a:r>
            <a:r>
              <a:rPr lang="en-GB" b="1" dirty="0"/>
              <a:t>ML </a:t>
            </a:r>
            <a:r>
              <a:rPr lang="en-GB" b="1" dirty="0" err="1"/>
              <a:t>м</a:t>
            </a:r>
            <a:r>
              <a:rPr lang="mk-MK" b="1" dirty="0" err="1"/>
              <a:t>одели</a:t>
            </a:r>
            <a:r>
              <a:rPr lang="en-MK" dirty="0">
                <a:effectLst/>
              </a:rPr>
              <a:t> 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A8224-48FD-4BE9-8352-62296CB0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Чистење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сигналите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шумови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непотребни</a:t>
            </a:r>
            <a:r>
              <a:rPr lang="en-US" dirty="0"/>
              <a:t> </a:t>
            </a:r>
            <a:r>
              <a:rPr lang="en-US" dirty="0" err="1"/>
              <a:t>компоненти</a:t>
            </a:r>
            <a:r>
              <a:rPr lang="en-US" dirty="0"/>
              <a:t>.</a:t>
            </a:r>
            <a:endParaRPr lang="en-MK" sz="2400" dirty="0"/>
          </a:p>
          <a:p>
            <a:pPr lvl="0"/>
            <a:r>
              <a:rPr lang="en-US" b="1" dirty="0" err="1"/>
              <a:t>Филтрирање</a:t>
            </a:r>
            <a:r>
              <a:rPr lang="en-US" dirty="0"/>
              <a:t>:</a:t>
            </a:r>
            <a:endParaRPr lang="en-MK" sz="2400" dirty="0"/>
          </a:p>
          <a:p>
            <a:pPr marL="457200" lvl="1" indent="0">
              <a:buNone/>
            </a:pPr>
            <a:r>
              <a:rPr lang="en-US" dirty="0" err="1"/>
              <a:t>Примена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b="1" dirty="0"/>
              <a:t>Bandpass Filter (0.5 – 40 Hz)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отстранување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DC offset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високофреквентни</a:t>
            </a:r>
            <a:r>
              <a:rPr lang="en-US" dirty="0"/>
              <a:t> </a:t>
            </a:r>
            <a:r>
              <a:rPr lang="en-US" dirty="0" err="1"/>
              <a:t>шумови</a:t>
            </a:r>
            <a:r>
              <a:rPr lang="en-US" dirty="0"/>
              <a:t>.</a:t>
            </a:r>
            <a:endParaRPr lang="en-MK" sz="2000" dirty="0"/>
          </a:p>
          <a:p>
            <a:pPr lvl="0"/>
            <a:r>
              <a:rPr lang="en-US" b="1" dirty="0" err="1"/>
              <a:t>Артефакт</a:t>
            </a:r>
            <a:r>
              <a:rPr lang="en-US" b="1" dirty="0"/>
              <a:t> </a:t>
            </a:r>
            <a:r>
              <a:rPr lang="en-US" b="1" dirty="0" err="1"/>
              <a:t>редукција</a:t>
            </a:r>
            <a:r>
              <a:rPr lang="en-US" dirty="0"/>
              <a:t>:</a:t>
            </a:r>
            <a:endParaRPr lang="en-MK" sz="2400" dirty="0"/>
          </a:p>
          <a:p>
            <a:pPr marL="457200" lvl="1" indent="0">
              <a:buNone/>
            </a:pPr>
            <a:r>
              <a:rPr lang="en-US" dirty="0" err="1"/>
              <a:t>Отстранување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артефакти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трепкање</a:t>
            </a:r>
            <a:r>
              <a:rPr lang="en-US" dirty="0"/>
              <a:t>, </a:t>
            </a:r>
            <a:r>
              <a:rPr lang="en-US" dirty="0" err="1"/>
              <a:t>движење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очи</a:t>
            </a:r>
            <a:r>
              <a:rPr lang="en-US" dirty="0"/>
              <a:t>,</a:t>
            </a:r>
            <a:r>
              <a:rPr lang="mk-MK" dirty="0"/>
              <a:t> мускулна активност</a:t>
            </a:r>
            <a:endParaRPr lang="en-MK" sz="2000" dirty="0"/>
          </a:p>
          <a:p>
            <a:pPr lvl="0"/>
            <a:r>
              <a:rPr lang="en-US" b="1" dirty="0" err="1"/>
              <a:t>Нормализација</a:t>
            </a:r>
            <a:endParaRPr lang="en-MK" sz="2400" dirty="0"/>
          </a:p>
          <a:p>
            <a:pPr marL="457200" lvl="1" indent="0">
              <a:buNone/>
            </a:pPr>
            <a:r>
              <a:rPr lang="en-US" dirty="0" err="1"/>
              <a:t>Сигналите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нормализираат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нула</a:t>
            </a:r>
            <a:r>
              <a:rPr lang="en-US" dirty="0"/>
              <a:t> </a:t>
            </a:r>
            <a:r>
              <a:rPr lang="en-US" dirty="0" err="1"/>
              <a:t>средна</a:t>
            </a:r>
            <a:r>
              <a:rPr lang="en-US" dirty="0"/>
              <a:t> </a:t>
            </a:r>
            <a:r>
              <a:rPr lang="en-US" dirty="0" err="1"/>
              <a:t>вредност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единечна</a:t>
            </a:r>
            <a:r>
              <a:rPr lang="en-US" dirty="0"/>
              <a:t> </a:t>
            </a:r>
            <a:r>
              <a:rPr lang="en-US" dirty="0" err="1"/>
              <a:t>стандардна</a:t>
            </a:r>
            <a:r>
              <a:rPr lang="en-US" dirty="0"/>
              <a:t> </a:t>
            </a:r>
            <a:r>
              <a:rPr lang="en-US" dirty="0" err="1"/>
              <a:t>девијација</a:t>
            </a:r>
            <a:r>
              <a:rPr lang="en-US" dirty="0"/>
              <a:t>.</a:t>
            </a:r>
            <a:endParaRPr lang="en-MK" sz="2000" dirty="0"/>
          </a:p>
          <a:p>
            <a:pPr lvl="0"/>
            <a:r>
              <a:rPr lang="en-US" b="1" dirty="0" err="1"/>
              <a:t>Сегментација</a:t>
            </a:r>
            <a:r>
              <a:rPr lang="en-US" dirty="0"/>
              <a:t>:</a:t>
            </a:r>
            <a:endParaRPr lang="en-MK" sz="2400" dirty="0"/>
          </a:p>
          <a:p>
            <a:pPr marL="457200" lvl="1" indent="0">
              <a:buNone/>
            </a:pPr>
            <a:r>
              <a:rPr lang="en-US" dirty="0"/>
              <a:t>EEG </a:t>
            </a:r>
            <a:r>
              <a:rPr lang="en-US" dirty="0" err="1"/>
              <a:t>сигналите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делат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mk-MK" b="1" dirty="0"/>
              <a:t>движечки</a:t>
            </a:r>
            <a:r>
              <a:rPr lang="mk-MK" dirty="0"/>
              <a:t> </a:t>
            </a:r>
            <a:r>
              <a:rPr lang="en-US" b="1" dirty="0" err="1"/>
              <a:t>прозорци</a:t>
            </a:r>
            <a:r>
              <a:rPr lang="en-US" b="1" dirty="0"/>
              <a:t> (sliding windows) </a:t>
            </a:r>
            <a:r>
              <a:rPr lang="en-US" b="1" dirty="0" err="1"/>
              <a:t>од</a:t>
            </a:r>
            <a:r>
              <a:rPr lang="en-US" b="1" dirty="0"/>
              <a:t> </a:t>
            </a:r>
            <a:r>
              <a:rPr lang="en-US" b="1" dirty="0" err="1"/>
              <a:t>фиксна</a:t>
            </a:r>
            <a:r>
              <a:rPr lang="en-US" b="1" dirty="0"/>
              <a:t> </a:t>
            </a:r>
            <a:r>
              <a:rPr lang="en-US" b="1" dirty="0" err="1"/>
              <a:t>должина</a:t>
            </a:r>
            <a:r>
              <a:rPr lang="en-US" dirty="0"/>
              <a:t>, </a:t>
            </a:r>
            <a:endParaRPr lang="en-MK" sz="2000" dirty="0"/>
          </a:p>
          <a:p>
            <a:pPr marL="914400" lvl="2" indent="0">
              <a:buNone/>
            </a:pP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</a:t>
            </a:r>
            <a:r>
              <a:rPr lang="en-US" dirty="0"/>
              <a:t>. 10 </a:t>
            </a:r>
            <a:r>
              <a:rPr lang="en-US" dirty="0" err="1"/>
              <a:t>секунди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1 </a:t>
            </a:r>
            <a:r>
              <a:rPr lang="en-US" dirty="0" err="1"/>
              <a:t>секунда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пречекорување</a:t>
            </a:r>
            <a:r>
              <a:rPr lang="en-US" dirty="0"/>
              <a:t> (overlap).</a:t>
            </a:r>
            <a:endParaRPr lang="en-MK" sz="1800" dirty="0"/>
          </a:p>
          <a:p>
            <a:pPr marL="457200" lvl="1" indent="0">
              <a:buNone/>
            </a:pPr>
            <a:r>
              <a:rPr lang="en-US" dirty="0" err="1"/>
              <a:t>Секој</a:t>
            </a:r>
            <a:r>
              <a:rPr lang="en-US" dirty="0"/>
              <a:t> </a:t>
            </a:r>
            <a:r>
              <a:rPr lang="en-US" dirty="0" err="1"/>
              <a:t>прозорец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обележува</a:t>
            </a:r>
            <a:r>
              <a:rPr lang="en-US" dirty="0"/>
              <a:t> </a:t>
            </a:r>
            <a:r>
              <a:rPr lang="en-US" dirty="0" err="1"/>
              <a:t>како</a:t>
            </a:r>
            <a:r>
              <a:rPr lang="en-US" dirty="0"/>
              <a:t>:</a:t>
            </a:r>
            <a:endParaRPr lang="en-MK" sz="2000" dirty="0"/>
          </a:p>
          <a:p>
            <a:pPr lvl="2"/>
            <a:r>
              <a:rPr lang="en-US" b="1" dirty="0"/>
              <a:t>Preictal</a:t>
            </a:r>
            <a:r>
              <a:rPr lang="en-US" dirty="0"/>
              <a:t> – </a:t>
            </a:r>
            <a:r>
              <a:rPr lang="en-US" dirty="0" err="1"/>
              <a:t>пред</a:t>
            </a:r>
            <a:r>
              <a:rPr lang="en-US" dirty="0"/>
              <a:t> </a:t>
            </a:r>
            <a:r>
              <a:rPr lang="en-US" dirty="0" err="1"/>
              <a:t>напад</a:t>
            </a:r>
            <a:r>
              <a:rPr lang="en-US" dirty="0"/>
              <a:t> (</a:t>
            </a:r>
            <a:r>
              <a:rPr lang="en-US" dirty="0" err="1"/>
              <a:t>часови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минути</a:t>
            </a:r>
            <a:r>
              <a:rPr lang="en-US" dirty="0"/>
              <a:t>)</a:t>
            </a:r>
            <a:endParaRPr lang="en-MK" sz="1800" dirty="0"/>
          </a:p>
          <a:p>
            <a:pPr lvl="2"/>
            <a:r>
              <a:rPr lang="en-US" b="1" dirty="0"/>
              <a:t>Ictal</a:t>
            </a:r>
            <a:r>
              <a:rPr lang="en-US" dirty="0"/>
              <a:t> – </a:t>
            </a:r>
            <a:r>
              <a:rPr lang="en-US" dirty="0" err="1"/>
              <a:t>време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напад</a:t>
            </a:r>
            <a:endParaRPr lang="en-MK" sz="1800" dirty="0"/>
          </a:p>
          <a:p>
            <a:pPr lvl="2"/>
            <a:r>
              <a:rPr lang="en-US" b="1" dirty="0"/>
              <a:t>Interictal</a:t>
            </a:r>
            <a:r>
              <a:rPr lang="en-US" dirty="0"/>
              <a:t> – </a:t>
            </a:r>
            <a:r>
              <a:rPr lang="en-US" dirty="0" err="1"/>
              <a:t>помеѓу</a:t>
            </a:r>
            <a:r>
              <a:rPr lang="en-US" dirty="0"/>
              <a:t> </a:t>
            </a:r>
            <a:r>
              <a:rPr lang="en-US" dirty="0" err="1"/>
              <a:t>напад</a:t>
            </a:r>
            <a:r>
              <a:rPr lang="mk-MK" dirty="0"/>
              <a:t>и</a:t>
            </a:r>
            <a:endParaRPr lang="en-MK" sz="1800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9972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ECCC-3B75-E7E1-63EC-12A87593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Signal Processor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80B7-DD96-AD7B-321A-96F4202EF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O</a:t>
            </a:r>
            <a:r>
              <a:rPr lang="mk-MK" dirty="0" err="1"/>
              <a:t>ваа</a:t>
            </a:r>
            <a:r>
              <a:rPr lang="mk-MK" dirty="0"/>
              <a:t> класа ќе ја користиме за обработка на самите </a:t>
            </a:r>
            <a:r>
              <a:rPr lang="en-GB" dirty="0"/>
              <a:t>EEG </a:t>
            </a:r>
            <a:r>
              <a:rPr lang="mk-MK" dirty="0"/>
              <a:t>сигнали </a:t>
            </a:r>
            <a:endParaRPr lang="en-MK" sz="2400" dirty="0"/>
          </a:p>
          <a:p>
            <a:pPr marL="0" indent="0">
              <a:buNone/>
            </a:pPr>
            <a:r>
              <a:rPr lang="mk-MK" dirty="0"/>
              <a:t>Дефинираме</a:t>
            </a:r>
            <a:r>
              <a:rPr lang="en-GB" dirty="0"/>
              <a:t>:</a:t>
            </a:r>
            <a:endParaRPr lang="en-MK" sz="2400" dirty="0"/>
          </a:p>
          <a:p>
            <a:pPr lvl="0"/>
            <a:r>
              <a:rPr lang="en-GB" b="1" dirty="0" err="1"/>
              <a:t>sampling_rate</a:t>
            </a:r>
            <a:r>
              <a:rPr lang="en-GB" dirty="0"/>
              <a:t>: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 err="1"/>
              <a:t>е</a:t>
            </a:r>
            <a:r>
              <a:rPr lang="mk-MK" dirty="0"/>
              <a:t> фреквенцијата на </a:t>
            </a:r>
            <a:r>
              <a:rPr lang="mk-MK" dirty="0" err="1"/>
              <a:t>семплирање</a:t>
            </a:r>
            <a:r>
              <a:rPr lang="mk-MK" dirty="0"/>
              <a:t> на самиот сигнал, односно колку пати во секунда се земаат вредности од </a:t>
            </a:r>
            <a:r>
              <a:rPr lang="en-GB" dirty="0"/>
              <a:t>EEG </a:t>
            </a:r>
            <a:r>
              <a:rPr lang="mk-MK" dirty="0"/>
              <a:t>сигналот. </a:t>
            </a:r>
            <a:endParaRPr lang="en-MK" sz="2400" dirty="0"/>
          </a:p>
          <a:p>
            <a:pPr lvl="1"/>
            <a:r>
              <a:rPr lang="mk-MK" b="1" dirty="0"/>
              <a:t>Типична фреквенција на овие сигнали, како што споменавме погоре е 256h</a:t>
            </a:r>
            <a:r>
              <a:rPr lang="en-GB" b="1" dirty="0"/>
              <a:t>z </a:t>
            </a:r>
            <a:r>
              <a:rPr lang="mk-MK" b="1" dirty="0"/>
              <a:t>, што значи дека за секоја секунда имаме 256 вредности</a:t>
            </a:r>
            <a:endParaRPr lang="en-MK" sz="2000" dirty="0"/>
          </a:p>
          <a:p>
            <a:pPr marL="0" indent="0">
              <a:buNone/>
            </a:pPr>
            <a:endParaRPr lang="en-MK" sz="2400" dirty="0"/>
          </a:p>
          <a:p>
            <a:pPr lvl="0"/>
            <a:r>
              <a:rPr lang="mk-MK" b="1" dirty="0"/>
              <a:t>листа на фреквентни рабови (</a:t>
            </a:r>
            <a:r>
              <a:rPr lang="mk-MK" b="1" dirty="0" err="1"/>
              <a:t>f</a:t>
            </a:r>
            <a:r>
              <a:rPr lang="en-GB" b="1" dirty="0" err="1"/>
              <a:t>requency</a:t>
            </a:r>
            <a:r>
              <a:rPr lang="en-GB" b="1" dirty="0"/>
              <a:t> band edges)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mk-MK" dirty="0"/>
              <a:t>овие рабови ги дефинираат интервалите на EEG бранови</a:t>
            </a:r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57105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D301-0801-D5E1-BA7A-EA1FEC7F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/>
              <a:t>Фреквентни појаси (</a:t>
            </a:r>
            <a:r>
              <a:rPr lang="mk-MK" b="1" dirty="0" err="1"/>
              <a:t>f</a:t>
            </a:r>
            <a:r>
              <a:rPr lang="en-GB" b="1" dirty="0" err="1"/>
              <a:t>requency</a:t>
            </a:r>
            <a:r>
              <a:rPr lang="en-GB" b="1" dirty="0"/>
              <a:t> bands)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623EF-CBE6-8EB3-F386-F849ACB45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mk-MK" dirty="0"/>
              <a:t>1-5 </a:t>
            </a:r>
            <a:r>
              <a:rPr lang="mk-MK" dirty="0" err="1"/>
              <a:t>Hz</a:t>
            </a:r>
            <a:r>
              <a:rPr lang="mk-MK" dirty="0"/>
              <a:t> (</a:t>
            </a:r>
            <a:r>
              <a:rPr lang="mk-MK" dirty="0" err="1"/>
              <a:t>δ</a:t>
            </a:r>
            <a:r>
              <a:rPr lang="mk-MK" dirty="0"/>
              <a:t> - </a:t>
            </a:r>
            <a:r>
              <a:rPr lang="mk-MK" dirty="0" err="1"/>
              <a:t>delta</a:t>
            </a:r>
            <a:r>
              <a:rPr lang="mk-MK" dirty="0"/>
              <a:t>)</a:t>
            </a:r>
            <a:endParaRPr lang="en-MK" dirty="0"/>
          </a:p>
          <a:p>
            <a:pPr marL="0" indent="0">
              <a:buNone/>
            </a:pPr>
            <a:r>
              <a:rPr lang="mk-MK" dirty="0"/>
              <a:t>5-10 </a:t>
            </a:r>
            <a:r>
              <a:rPr lang="mk-MK" dirty="0" err="1"/>
              <a:t>Hz</a:t>
            </a:r>
            <a:r>
              <a:rPr lang="mk-MK" dirty="0"/>
              <a:t> (</a:t>
            </a:r>
            <a:r>
              <a:rPr lang="mk-MK" dirty="0" err="1"/>
              <a:t>θ</a:t>
            </a:r>
            <a:r>
              <a:rPr lang="mk-MK" dirty="0"/>
              <a:t> - </a:t>
            </a:r>
            <a:r>
              <a:rPr lang="mk-MK" dirty="0" err="1"/>
              <a:t>theta</a:t>
            </a:r>
            <a:r>
              <a:rPr lang="mk-MK" dirty="0"/>
              <a:t>)</a:t>
            </a:r>
            <a:endParaRPr lang="en-MK" dirty="0"/>
          </a:p>
          <a:p>
            <a:pPr marL="0" indent="0">
              <a:buNone/>
            </a:pPr>
            <a:r>
              <a:rPr lang="mk-MK" dirty="0"/>
              <a:t>10-15 </a:t>
            </a:r>
            <a:r>
              <a:rPr lang="mk-MK" dirty="0" err="1"/>
              <a:t>Hz</a:t>
            </a:r>
            <a:r>
              <a:rPr lang="mk-MK" dirty="0"/>
              <a:t> (α - </a:t>
            </a:r>
            <a:r>
              <a:rPr lang="mk-MK" dirty="0" err="1"/>
              <a:t>alpha</a:t>
            </a:r>
            <a:r>
              <a:rPr lang="mk-MK" dirty="0"/>
              <a:t>)</a:t>
            </a:r>
            <a:endParaRPr lang="en-MK" dirty="0"/>
          </a:p>
          <a:p>
            <a:pPr marL="0" indent="0">
              <a:buNone/>
            </a:pPr>
            <a:r>
              <a:rPr lang="mk-MK" dirty="0"/>
              <a:t>15-20 </a:t>
            </a:r>
            <a:r>
              <a:rPr lang="mk-MK" dirty="0" err="1"/>
              <a:t>Hz</a:t>
            </a:r>
            <a:r>
              <a:rPr lang="mk-MK" dirty="0"/>
              <a:t> (β - </a:t>
            </a:r>
            <a:r>
              <a:rPr lang="mk-MK" dirty="0" err="1"/>
              <a:t>low</a:t>
            </a:r>
            <a:r>
              <a:rPr lang="mk-MK" dirty="0"/>
              <a:t> </a:t>
            </a:r>
            <a:r>
              <a:rPr lang="mk-MK" dirty="0" err="1"/>
              <a:t>beta</a:t>
            </a:r>
            <a:r>
              <a:rPr lang="mk-MK" dirty="0"/>
              <a:t>)</a:t>
            </a:r>
            <a:endParaRPr lang="en-MK" dirty="0"/>
          </a:p>
          <a:p>
            <a:pPr marL="0" indent="0">
              <a:buNone/>
            </a:pPr>
            <a:r>
              <a:rPr lang="mk-MK" dirty="0"/>
              <a:t>20-25 </a:t>
            </a:r>
            <a:r>
              <a:rPr lang="mk-MK" dirty="0" err="1"/>
              <a:t>Hz</a:t>
            </a:r>
            <a:r>
              <a:rPr lang="mk-MK" dirty="0"/>
              <a:t> (β - </a:t>
            </a:r>
            <a:r>
              <a:rPr lang="mk-MK" dirty="0" err="1"/>
              <a:t>high</a:t>
            </a:r>
            <a:r>
              <a:rPr lang="mk-MK" dirty="0"/>
              <a:t> </a:t>
            </a:r>
            <a:r>
              <a:rPr lang="mk-MK" dirty="0" err="1"/>
              <a:t>beta</a:t>
            </a:r>
            <a:r>
              <a:rPr lang="mk-MK" dirty="0"/>
              <a:t>)</a:t>
            </a:r>
            <a:r>
              <a:rPr lang="en-MK" dirty="0">
                <a:effectLst/>
              </a:rPr>
              <a:t> </a:t>
            </a:r>
          </a:p>
          <a:p>
            <a:endParaRPr lang="en-MK" dirty="0">
              <a:effectLst/>
            </a:endParaRPr>
          </a:p>
          <a:p>
            <a:r>
              <a:rPr lang="mk-MK" sz="2600" dirty="0"/>
              <a:t>Во нашиот случај ги зимаме како листа од самите </a:t>
            </a:r>
            <a:r>
              <a:rPr lang="mk-MK" sz="2600" b="1" dirty="0"/>
              <a:t>рабови (е</a:t>
            </a:r>
            <a:r>
              <a:rPr lang="en-GB" sz="2600" b="1" dirty="0" err="1"/>
              <a:t>dges</a:t>
            </a:r>
            <a:r>
              <a:rPr lang="en-GB" sz="2600" b="1" dirty="0"/>
              <a:t>) </a:t>
            </a:r>
            <a:r>
              <a:rPr lang="mk-MK" sz="2600" dirty="0"/>
              <a:t>бидејќи о</a:t>
            </a:r>
            <a:r>
              <a:rPr lang="en-US" sz="2600" dirty="0" err="1"/>
              <a:t>ваа</a:t>
            </a:r>
            <a:r>
              <a:rPr lang="en-US" sz="2600" dirty="0"/>
              <a:t> </a:t>
            </a:r>
            <a:r>
              <a:rPr lang="en-US" sz="2600" dirty="0" err="1"/>
              <a:t>структура</a:t>
            </a:r>
            <a:r>
              <a:rPr lang="en-US" sz="2600" dirty="0"/>
              <a:t> </a:t>
            </a:r>
            <a:r>
              <a:rPr lang="mk-MK" sz="2600" dirty="0"/>
              <a:t>ни </a:t>
            </a:r>
            <a:r>
              <a:rPr lang="en-US" sz="2600" dirty="0" err="1"/>
              <a:t>овозможува</a:t>
            </a:r>
            <a:r>
              <a:rPr lang="en-US" sz="2600" dirty="0"/>
              <a:t> </a:t>
            </a:r>
            <a:r>
              <a:rPr lang="en-US" sz="2600" b="1" dirty="0" err="1"/>
              <a:t>лесно</a:t>
            </a:r>
            <a:r>
              <a:rPr lang="en-US" sz="2600" b="1" dirty="0"/>
              <a:t> </a:t>
            </a:r>
            <a:r>
              <a:rPr lang="en-US" sz="2600" b="1" dirty="0" err="1"/>
              <a:t>и</a:t>
            </a:r>
            <a:r>
              <a:rPr lang="en-US" sz="2600" b="1" dirty="0"/>
              <a:t> </a:t>
            </a:r>
            <a:r>
              <a:rPr lang="en-US" sz="2600" b="1" dirty="0" err="1"/>
              <a:t>автоматизирано</a:t>
            </a:r>
            <a:r>
              <a:rPr lang="en-US" sz="2600" b="1" dirty="0"/>
              <a:t> </a:t>
            </a:r>
            <a:r>
              <a:rPr lang="en-US" sz="2600" dirty="0" err="1"/>
              <a:t>креирање</a:t>
            </a:r>
            <a:r>
              <a:rPr lang="en-US" sz="2600" dirty="0"/>
              <a:t> </a:t>
            </a:r>
            <a:r>
              <a:rPr lang="en-US" sz="2600" dirty="0" err="1"/>
              <a:t>на</a:t>
            </a:r>
            <a:r>
              <a:rPr lang="en-US" sz="2600" dirty="0"/>
              <a:t> </a:t>
            </a:r>
            <a:r>
              <a:rPr lang="en-US" sz="2600" dirty="0" err="1"/>
              <a:t>фреквентни</a:t>
            </a:r>
            <a:r>
              <a:rPr lang="en-US" sz="2600" dirty="0"/>
              <a:t> </a:t>
            </a:r>
            <a:r>
              <a:rPr lang="mk-MK" sz="2600" dirty="0"/>
              <a:t>рабови (</a:t>
            </a:r>
            <a:r>
              <a:rPr lang="mk-MK" sz="2600" b="1" dirty="0" err="1"/>
              <a:t>f</a:t>
            </a:r>
            <a:r>
              <a:rPr lang="en-GB" sz="2600" b="1" dirty="0" err="1"/>
              <a:t>requent</a:t>
            </a:r>
            <a:r>
              <a:rPr lang="en-GB" sz="2600" b="1" dirty="0"/>
              <a:t> band edges)</a:t>
            </a:r>
            <a:r>
              <a:rPr lang="en-GB" sz="2600" dirty="0"/>
              <a:t> </a:t>
            </a:r>
            <a:endParaRPr lang="en-MK" sz="2600" dirty="0"/>
          </a:p>
          <a:p>
            <a:pPr marL="0" indent="0">
              <a:buNone/>
            </a:pPr>
            <a:r>
              <a:rPr lang="en-US" sz="2600" dirty="0"/>
              <a:t>    </a:t>
            </a:r>
            <a:r>
              <a:rPr lang="mk-MK" sz="2600" dirty="0"/>
              <a:t>Пример</a:t>
            </a:r>
            <a:r>
              <a:rPr lang="en-US" sz="2600" dirty="0"/>
              <a:t>:</a:t>
            </a:r>
            <a:r>
              <a:rPr lang="mk-MK" sz="2600" dirty="0"/>
              <a:t> </a:t>
            </a:r>
            <a:r>
              <a:rPr lang="mk-MK" sz="2600" b="1" dirty="0"/>
              <a:t>[</a:t>
            </a:r>
            <a:r>
              <a:rPr lang="en-GB" sz="2600" b="1" dirty="0"/>
              <a:t>1,5,10,15,20,25]</a:t>
            </a:r>
            <a:endParaRPr lang="en-MK" sz="2600" dirty="0"/>
          </a:p>
          <a:p>
            <a:pPr marL="0" indent="0">
              <a:buNone/>
            </a:pPr>
            <a:endParaRPr lang="en-MK" sz="2600" dirty="0"/>
          </a:p>
          <a:p>
            <a:r>
              <a:rPr lang="mk-MK" sz="2600" dirty="0"/>
              <a:t>Со овие рабови го делиме </a:t>
            </a:r>
            <a:r>
              <a:rPr lang="mk-MK" sz="2600" dirty="0" err="1"/>
              <a:t>спректрумот</a:t>
            </a:r>
            <a:r>
              <a:rPr lang="mk-MK" sz="2600" dirty="0"/>
              <a:t> на фреквенцијата на мали интервали</a:t>
            </a:r>
            <a:endParaRPr lang="en-MK" sz="2600" dirty="0"/>
          </a:p>
          <a:p>
            <a:r>
              <a:rPr lang="mk-MK" sz="2600" dirty="0"/>
              <a:t>Овие опсези одговараат на </a:t>
            </a:r>
            <a:r>
              <a:rPr lang="mk-MK" sz="2600" b="1" dirty="0"/>
              <a:t>различни типови на мозочни активности</a:t>
            </a:r>
            <a:r>
              <a:rPr lang="mk-MK" sz="2600" dirty="0"/>
              <a:t>, кои имаат клиничко значење, како што споменавме погоре</a:t>
            </a:r>
            <a:endParaRPr lang="en-MK" sz="2600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1850685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937B-7D86-DCEC-9876-F0DC4DD9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Extraction 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7CDB0-B25E-22CF-BC8D-6615FAD1D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mk-MK" dirty="0"/>
              <a:t>Имаме </a:t>
            </a:r>
            <a:r>
              <a:rPr lang="mk-MK" b="1" dirty="0"/>
              <a:t>3 функции</a:t>
            </a:r>
            <a:r>
              <a:rPr lang="mk-MK" dirty="0"/>
              <a:t> за екстракција на карактеристики од </a:t>
            </a:r>
            <a:r>
              <a:rPr lang="en-GB" dirty="0"/>
              <a:t>EEG </a:t>
            </a:r>
            <a:r>
              <a:rPr lang="mk-MK" dirty="0"/>
              <a:t>сигналите.</a:t>
            </a:r>
            <a:endParaRPr lang="en-MK" dirty="0"/>
          </a:p>
          <a:p>
            <a:pPr marL="0" indent="0">
              <a:buNone/>
            </a:pPr>
            <a:r>
              <a:rPr lang="mk-MK" dirty="0"/>
              <a:t>Овие функции автоматски извлекуваат </a:t>
            </a:r>
          </a:p>
          <a:p>
            <a:pPr marL="0" indent="0">
              <a:buNone/>
            </a:pPr>
            <a:endParaRPr lang="en-MK" dirty="0"/>
          </a:p>
          <a:p>
            <a:pPr lvl="0"/>
            <a:r>
              <a:rPr lang="en-GB" b="1" dirty="0"/>
              <a:t>temporal features </a:t>
            </a:r>
            <a:r>
              <a:rPr lang="en-GB" b="1" dirty="0">
                <a:sym typeface="Wingdings" pitchFamily="2" charset="2"/>
              </a:rPr>
              <a:t></a:t>
            </a:r>
            <a:r>
              <a:rPr lang="en-GB" b="1" dirty="0"/>
              <a:t> </a:t>
            </a:r>
            <a:r>
              <a:rPr lang="mk-MK" dirty="0"/>
              <a:t>темпорални / временски статистички (во време), </a:t>
            </a:r>
            <a:endParaRPr lang="en-MK" dirty="0"/>
          </a:p>
          <a:p>
            <a:pPr lvl="0"/>
            <a:r>
              <a:rPr lang="en-GB" b="1" dirty="0"/>
              <a:t>spectral features </a:t>
            </a:r>
            <a:r>
              <a:rPr lang="en-GB" b="1" dirty="0">
                <a:sym typeface="Wingdings" pitchFamily="2" charset="2"/>
              </a:rPr>
              <a:t></a:t>
            </a:r>
            <a:r>
              <a:rPr lang="en-GB" b="1" dirty="0"/>
              <a:t> </a:t>
            </a:r>
            <a:r>
              <a:rPr lang="mk-MK" dirty="0" err="1"/>
              <a:t>спектрални</a:t>
            </a:r>
            <a:r>
              <a:rPr lang="mk-MK" dirty="0"/>
              <a:t> (во фреквенција) и </a:t>
            </a:r>
            <a:endParaRPr lang="en-MK" dirty="0"/>
          </a:p>
          <a:p>
            <a:pPr lvl="0"/>
            <a:r>
              <a:rPr lang="en-GB" b="1" dirty="0"/>
              <a:t>non-linear features </a:t>
            </a:r>
            <a:r>
              <a:rPr lang="en-GB" b="1" dirty="0">
                <a:sym typeface="Wingdings" pitchFamily="2" charset="2"/>
              </a:rPr>
              <a:t></a:t>
            </a:r>
            <a:r>
              <a:rPr lang="en-GB" b="1" dirty="0"/>
              <a:t> </a:t>
            </a:r>
            <a:r>
              <a:rPr lang="mk-MK" dirty="0"/>
              <a:t>нелинеарни (комплексност) </a:t>
            </a:r>
            <a:endParaRPr lang="en-MK" dirty="0"/>
          </a:p>
          <a:p>
            <a:pPr marL="0" indent="0">
              <a:buNone/>
            </a:pPr>
            <a:endParaRPr lang="en-MK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475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76AC-8AA4-1492-D5BE-E1324AEE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pPr algn="ctr"/>
            <a:r>
              <a:rPr lang="en-GB" sz="3000" b="1"/>
              <a:t>Temporal features (т</a:t>
            </a:r>
            <a:r>
              <a:rPr lang="mk-MK" sz="3000" b="1"/>
              <a:t>емпорални / временски) карактеристики</a:t>
            </a:r>
            <a:endParaRPr lang="en-MK" sz="300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E47D474-95C2-4B26-DA42-BB633C8D75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790495"/>
              </p:ext>
            </p:extLst>
          </p:nvPr>
        </p:nvGraphicFramePr>
        <p:xfrm>
          <a:off x="1266251" y="1915027"/>
          <a:ext cx="9684049" cy="33705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3533">
                  <a:extLst>
                    <a:ext uri="{9D8B030D-6E8A-4147-A177-3AD203B41FA5}">
                      <a16:colId xmlns:a16="http://schemas.microsoft.com/office/drawing/2014/main" val="1811470838"/>
                    </a:ext>
                  </a:extLst>
                </a:gridCol>
                <a:gridCol w="7380516">
                  <a:extLst>
                    <a:ext uri="{9D8B030D-6E8A-4147-A177-3AD203B41FA5}">
                      <a16:colId xmlns:a16="http://schemas.microsoft.com/office/drawing/2014/main" val="1915853655"/>
                    </a:ext>
                  </a:extLst>
                </a:gridCol>
              </a:tblGrid>
              <a:tr h="3199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Карактеристика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effectLst/>
                        </a:rPr>
                        <a:t>Објаснување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160810715"/>
                  </a:ext>
                </a:extLst>
              </a:tr>
              <a:tr h="565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mean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Просек на амплитудата на сигналот </a:t>
                      </a:r>
                      <a:r>
                        <a:rPr lang="mk-MK" sz="1600">
                          <a:effectLst/>
                        </a:rPr>
                        <a:t>(дали сигналот е наклонет во одредена насока)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3536143412"/>
                  </a:ext>
                </a:extLst>
              </a:tr>
              <a:tr h="565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variance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Колку сигналот варира (нестабилност), </a:t>
                      </a:r>
                      <a:r>
                        <a:rPr lang="mk-MK" sz="1600">
                          <a:effectLst/>
                        </a:rPr>
                        <a:t>колку вредностите се распространети од просекот 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2177095069"/>
                  </a:ext>
                </a:extLst>
              </a:tr>
              <a:tr h="319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skewness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Асиметрија на сигналот (дали е повеќе над/под средината)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4198675429"/>
                  </a:ext>
                </a:extLst>
              </a:tr>
              <a:tr h="319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kurtosis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Острината на пиковите во сигналот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2346011452"/>
                  </a:ext>
                </a:extLst>
              </a:tr>
              <a:tr h="319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rms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Root Mean Square – мерка на енергијата на сигналот (signal power)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1928757929"/>
                  </a:ext>
                </a:extLst>
              </a:tr>
              <a:tr h="319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zero_crossings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Број на премини преку нулата (индикатор за фреквенција)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3899056818"/>
                  </a:ext>
                </a:extLst>
              </a:tr>
              <a:tr h="319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peak_amp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Највисока апсолутна вредност на сигналот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3459524336"/>
                  </a:ext>
                </a:extLst>
              </a:tr>
              <a:tr h="319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effectLst/>
                        </a:rPr>
                        <a:t>peak_count</a:t>
                      </a:r>
                      <a:endParaRPr lang="en-MK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Број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на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локални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максимуми</a:t>
                      </a:r>
                      <a:r>
                        <a:rPr lang="en-US" sz="1600" dirty="0">
                          <a:effectLst/>
                        </a:rPr>
                        <a:t> (</a:t>
                      </a:r>
                      <a:r>
                        <a:rPr lang="en-US" sz="1600" dirty="0" err="1">
                          <a:effectLst/>
                        </a:rPr>
                        <a:t>пикови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  <a:endParaRPr lang="en-MK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79" marR="12779" marT="12779" marB="12779" anchor="ctr"/>
                </a:tc>
                <a:extLst>
                  <a:ext uri="{0D108BD9-81ED-4DB2-BD59-A6C34878D82A}">
                    <a16:rowId xmlns:a16="http://schemas.microsoft.com/office/drawing/2014/main" val="124595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734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6BE65-3EC4-6BC5-CD2A-49A396F79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03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O</a:t>
            </a:r>
            <a:r>
              <a:rPr lang="mk-MK" sz="2000" dirty="0"/>
              <a:t>вој вид на карактеристики ни е потребен бидејќи го опишуваат основното однесување на сигналот, всушност EEG сигналите се </a:t>
            </a:r>
            <a:r>
              <a:rPr lang="mk-MK" sz="2000" b="1" dirty="0"/>
              <a:t>временски серии</a:t>
            </a:r>
            <a:r>
              <a:rPr lang="mk-MK" sz="2000" dirty="0"/>
              <a:t> и тие варираат со текот на времето што значи дека </a:t>
            </a:r>
            <a:r>
              <a:rPr lang="mk-MK" sz="2000" b="1" dirty="0"/>
              <a:t>временските статистики</a:t>
            </a:r>
            <a:r>
              <a:rPr lang="mk-MK" sz="2000" dirty="0"/>
              <a:t> ни даваат основен увид во тоа како сигналот се однесува во еден сегмент.</a:t>
            </a:r>
          </a:p>
          <a:p>
            <a:pPr marL="0" indent="0">
              <a:buNone/>
            </a:pPr>
            <a:endParaRPr lang="en-MK" sz="2000" dirty="0"/>
          </a:p>
          <a:p>
            <a:pPr marL="0" indent="0">
              <a:buNone/>
            </a:pPr>
            <a:r>
              <a:rPr lang="mk-MK" sz="2000" dirty="0"/>
              <a:t>Пр. Ако </a:t>
            </a:r>
            <a:r>
              <a:rPr lang="en-US" sz="2000" dirty="0"/>
              <a:t> </a:t>
            </a:r>
            <a:r>
              <a:rPr lang="en-US" sz="2000" dirty="0" err="1"/>
              <a:t>имаме</a:t>
            </a:r>
            <a:r>
              <a:rPr lang="en-US" sz="2000" dirty="0"/>
              <a:t> </a:t>
            </a:r>
            <a:r>
              <a:rPr lang="en-US" sz="2000" dirty="0" err="1"/>
              <a:t>сегмент</a:t>
            </a:r>
            <a:r>
              <a:rPr lang="en-US" sz="2000" dirty="0"/>
              <a:t> </a:t>
            </a:r>
            <a:r>
              <a:rPr lang="en-US" sz="2000" dirty="0" err="1"/>
              <a:t>од</a:t>
            </a:r>
            <a:r>
              <a:rPr lang="en-US" sz="2000" dirty="0"/>
              <a:t> EEG </a:t>
            </a:r>
            <a:r>
              <a:rPr lang="en-US" sz="2000" dirty="0" err="1"/>
              <a:t>сигнал</a:t>
            </a:r>
            <a:r>
              <a:rPr lang="en-US" sz="2000" dirty="0"/>
              <a:t> </a:t>
            </a:r>
            <a:r>
              <a:rPr lang="en-US" sz="2000" dirty="0" err="1"/>
              <a:t>и</a:t>
            </a:r>
            <a:r>
              <a:rPr lang="en-US" sz="2000" dirty="0"/>
              <a:t> </a:t>
            </a:r>
            <a:r>
              <a:rPr lang="en-US" sz="2000" dirty="0" err="1"/>
              <a:t>ја</a:t>
            </a:r>
            <a:r>
              <a:rPr lang="en-US" sz="2000" dirty="0"/>
              <a:t> </a:t>
            </a:r>
            <a:r>
              <a:rPr lang="en-US" sz="2000" dirty="0" err="1"/>
              <a:t>гледаме</a:t>
            </a:r>
            <a:r>
              <a:rPr lang="en-US" sz="2000" dirty="0"/>
              <a:t> </a:t>
            </a:r>
            <a:r>
              <a:rPr lang="en-US" sz="2000" dirty="0" err="1"/>
              <a:t>неговата</a:t>
            </a:r>
            <a:r>
              <a:rPr lang="en-US" sz="2000" dirty="0"/>
              <a:t> RMS (Root Mean Square)</a:t>
            </a:r>
            <a:endParaRPr lang="en-MK" sz="2000" dirty="0"/>
          </a:p>
          <a:p>
            <a:pPr marL="0" lvl="0" indent="0">
              <a:buNone/>
            </a:pPr>
            <a:r>
              <a:rPr lang="en-US" sz="2000" b="1" dirty="0" err="1"/>
              <a:t>Нормален</a:t>
            </a:r>
            <a:r>
              <a:rPr lang="en-US" sz="2000" b="1" dirty="0"/>
              <a:t> </a:t>
            </a:r>
            <a:r>
              <a:rPr lang="en-US" sz="2000" b="1" dirty="0" err="1"/>
              <a:t>период</a:t>
            </a:r>
            <a:r>
              <a:rPr lang="en-US" sz="2000" dirty="0"/>
              <a:t>: RMS = 15</a:t>
            </a:r>
            <a:endParaRPr lang="en-MK" sz="2000" dirty="0"/>
          </a:p>
          <a:p>
            <a:pPr marL="0" lvl="0" indent="0">
              <a:buNone/>
            </a:pPr>
            <a:r>
              <a:rPr lang="en-US" sz="2000" b="1" dirty="0"/>
              <a:t>Pre-ictal </a:t>
            </a:r>
            <a:r>
              <a:rPr lang="en-US" sz="2000" b="1" dirty="0" err="1"/>
              <a:t>период</a:t>
            </a:r>
            <a:r>
              <a:rPr lang="en-US" sz="2000" b="1" dirty="0"/>
              <a:t> (</a:t>
            </a:r>
            <a:r>
              <a:rPr lang="en-US" sz="2000" b="1" dirty="0" err="1"/>
              <a:t>пред</a:t>
            </a:r>
            <a:r>
              <a:rPr lang="en-US" sz="2000" b="1" dirty="0"/>
              <a:t> </a:t>
            </a:r>
            <a:r>
              <a:rPr lang="en-US" sz="2000" b="1" dirty="0" err="1"/>
              <a:t>напад</a:t>
            </a:r>
            <a:r>
              <a:rPr lang="en-US" sz="2000" b="1" dirty="0"/>
              <a:t>)</a:t>
            </a:r>
            <a:r>
              <a:rPr lang="en-US" sz="2000" dirty="0"/>
              <a:t>: RMS = 28</a:t>
            </a:r>
            <a:endParaRPr lang="mk-MK" sz="2000" dirty="0"/>
          </a:p>
          <a:p>
            <a:pPr marL="0" lvl="0" indent="0">
              <a:buNone/>
            </a:pPr>
            <a:endParaRPr lang="en-MK" sz="2000" dirty="0"/>
          </a:p>
          <a:p>
            <a:r>
              <a:rPr lang="en-US" sz="2000" dirty="0" err="1"/>
              <a:t>Оваа</a:t>
            </a:r>
            <a:r>
              <a:rPr lang="en-US" sz="2000" dirty="0"/>
              <a:t> </a:t>
            </a:r>
            <a:r>
              <a:rPr lang="en-US" sz="2000" dirty="0" err="1"/>
              <a:t>разлика</a:t>
            </a:r>
            <a:r>
              <a:rPr lang="en-US" sz="2000" dirty="0"/>
              <a:t> </a:t>
            </a:r>
            <a:r>
              <a:rPr lang="en-US" sz="2000" dirty="0" err="1"/>
              <a:t>во</a:t>
            </a:r>
            <a:r>
              <a:rPr lang="en-US" sz="2000" dirty="0"/>
              <a:t> </a:t>
            </a:r>
            <a:r>
              <a:rPr lang="en-US" sz="2000" dirty="0" err="1"/>
              <a:t>вредности</a:t>
            </a:r>
            <a:r>
              <a:rPr lang="en-US" sz="2000" dirty="0"/>
              <a:t> </a:t>
            </a:r>
            <a:r>
              <a:rPr lang="en-US" sz="2000" dirty="0" err="1"/>
              <a:t>е</a:t>
            </a:r>
            <a:r>
              <a:rPr lang="en-US" sz="2000" dirty="0"/>
              <a:t> </a:t>
            </a:r>
            <a:r>
              <a:rPr lang="en-US" sz="2000" dirty="0" err="1"/>
              <a:t>доволна</a:t>
            </a:r>
            <a:r>
              <a:rPr lang="en-US" sz="2000" dirty="0"/>
              <a:t> </a:t>
            </a:r>
            <a:r>
              <a:rPr lang="en-US" sz="2000" dirty="0" err="1"/>
              <a:t>за</a:t>
            </a:r>
            <a:r>
              <a:rPr lang="en-US" sz="2000" dirty="0"/>
              <a:t> </a:t>
            </a:r>
            <a:r>
              <a:rPr lang="en-US" sz="2000" b="1" dirty="0" err="1"/>
              <a:t>класификаторот</a:t>
            </a:r>
            <a:r>
              <a:rPr lang="en-US" sz="2000" b="1" dirty="0"/>
              <a:t> </a:t>
            </a:r>
            <a:r>
              <a:rPr lang="en-US" sz="2000" b="1" dirty="0" err="1"/>
              <a:t>да</a:t>
            </a:r>
            <a:r>
              <a:rPr lang="en-US" sz="2000" b="1" dirty="0"/>
              <a:t> </a:t>
            </a:r>
            <a:r>
              <a:rPr lang="en-US" sz="2000" b="1" dirty="0" err="1"/>
              <a:t>ја</a:t>
            </a:r>
            <a:r>
              <a:rPr lang="en-US" sz="2000" b="1" dirty="0"/>
              <a:t> </a:t>
            </a:r>
            <a:r>
              <a:rPr lang="en-US" sz="2000" b="1" dirty="0" err="1"/>
              <a:t>научи</a:t>
            </a:r>
            <a:r>
              <a:rPr lang="en-US" sz="2000" b="1" dirty="0"/>
              <a:t> </a:t>
            </a:r>
            <a:r>
              <a:rPr lang="en-US" sz="2000" b="1" dirty="0" err="1"/>
              <a:t>границата</a:t>
            </a:r>
            <a:r>
              <a:rPr lang="en-US" sz="2000" dirty="0"/>
              <a:t> </a:t>
            </a:r>
            <a:r>
              <a:rPr lang="en-US" sz="2000" dirty="0" err="1"/>
              <a:t>и</a:t>
            </a:r>
            <a:r>
              <a:rPr lang="en-US" sz="2000" dirty="0"/>
              <a:t> </a:t>
            </a:r>
            <a:r>
              <a:rPr lang="en-US" sz="2000" dirty="0" err="1"/>
              <a:t>да</a:t>
            </a:r>
            <a:r>
              <a:rPr lang="en-US" sz="2000" dirty="0"/>
              <a:t> </a:t>
            </a:r>
            <a:r>
              <a:rPr lang="en-US" sz="2000" dirty="0" err="1"/>
              <a:t>го</a:t>
            </a:r>
            <a:r>
              <a:rPr lang="en-US" sz="2000" dirty="0"/>
              <a:t> </a:t>
            </a:r>
            <a:r>
              <a:rPr lang="en-US" sz="2000" dirty="0" err="1"/>
              <a:t>предвиди</a:t>
            </a:r>
            <a:r>
              <a:rPr lang="en-US" sz="2000" dirty="0"/>
              <a:t> </a:t>
            </a:r>
            <a:r>
              <a:rPr lang="en-US" sz="2000" dirty="0" err="1"/>
              <a:t>нападот</a:t>
            </a:r>
            <a:r>
              <a:rPr lang="en-US" sz="2000" dirty="0"/>
              <a:t>.</a:t>
            </a:r>
            <a:endParaRPr lang="en-MK" sz="2000" dirty="0"/>
          </a:p>
          <a:p>
            <a:endParaRPr lang="en-MK" sz="2000" dirty="0"/>
          </a:p>
        </p:txBody>
      </p:sp>
    </p:spTree>
    <p:extLst>
      <p:ext uri="{BB962C8B-B14F-4D97-AF65-F5344CB8AC3E}">
        <p14:creationId xmlns:p14="http://schemas.microsoft.com/office/powerpoint/2010/main" val="274170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197C-0DDB-FF04-50DA-B2AF4775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Spectral features (</a:t>
            </a:r>
            <a:r>
              <a:rPr lang="en-GB" sz="3600" b="1" dirty="0" err="1"/>
              <a:t>с</a:t>
            </a:r>
            <a:r>
              <a:rPr lang="mk-MK" sz="3600" b="1" dirty="0" err="1"/>
              <a:t>пектрални</a:t>
            </a:r>
            <a:r>
              <a:rPr lang="mk-MK" sz="3600" b="1" dirty="0"/>
              <a:t>) карактеристики 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6B6D-731F-A3DD-3141-E2988A7CA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mk-MK" sz="2400" dirty="0"/>
              <a:t>Овој </a:t>
            </a:r>
            <a:r>
              <a:rPr lang="en-GB" sz="2400" dirty="0" err="1"/>
              <a:t>в</a:t>
            </a:r>
            <a:r>
              <a:rPr lang="mk-MK" sz="2400" dirty="0" err="1"/>
              <a:t>ид</a:t>
            </a:r>
            <a:r>
              <a:rPr lang="mk-MK" sz="2400" dirty="0"/>
              <a:t> на карактеристики ни служи за вадење на </a:t>
            </a:r>
            <a:r>
              <a:rPr lang="mk-MK" sz="2400" b="1" dirty="0" err="1"/>
              <a:t>фреквенциски</a:t>
            </a:r>
            <a:r>
              <a:rPr lang="mk-MK" sz="2400" b="1" dirty="0"/>
              <a:t> карактеристики</a:t>
            </a:r>
            <a:r>
              <a:rPr lang="mk-MK" sz="2400" dirty="0"/>
              <a:t> од ЕЕГ сигналот. </a:t>
            </a:r>
          </a:p>
          <a:p>
            <a:pPr marL="0" indent="0">
              <a:buNone/>
            </a:pPr>
            <a:endParaRPr lang="en-MK" sz="2400" dirty="0"/>
          </a:p>
          <a:p>
            <a:pPr marL="0" indent="0">
              <a:buNone/>
            </a:pPr>
            <a:r>
              <a:rPr lang="mk-MK" sz="2400" dirty="0" err="1"/>
              <a:t>Фреквенциските</a:t>
            </a:r>
            <a:r>
              <a:rPr lang="mk-MK" sz="2400" dirty="0"/>
              <a:t> карактеристики ни помагаат да го </a:t>
            </a:r>
            <a:r>
              <a:rPr lang="mk-MK" sz="2400" b="1" dirty="0"/>
              <a:t>разбереме како се распределува енергијата на сигналот</a:t>
            </a:r>
            <a:r>
              <a:rPr lang="mk-MK" sz="2400" dirty="0"/>
              <a:t> низ различни </a:t>
            </a:r>
            <a:r>
              <a:rPr lang="mk-MK" sz="2400" dirty="0" err="1"/>
              <a:t>фреквенциски</a:t>
            </a:r>
            <a:r>
              <a:rPr lang="mk-MK" sz="2400" dirty="0"/>
              <a:t> области (фреквентни појаси).</a:t>
            </a:r>
          </a:p>
          <a:p>
            <a:pPr marL="0" indent="0">
              <a:buNone/>
            </a:pPr>
            <a:endParaRPr lang="en-MK" sz="2400" dirty="0"/>
          </a:p>
          <a:p>
            <a:pPr marL="0" indent="0">
              <a:buNone/>
            </a:pPr>
            <a:r>
              <a:rPr lang="mk-MK" sz="2400" dirty="0"/>
              <a:t>ЕЕ</a:t>
            </a:r>
            <a:r>
              <a:rPr lang="en-GB" sz="2400" dirty="0"/>
              <a:t>G</a:t>
            </a:r>
            <a:r>
              <a:rPr lang="mk-MK" sz="2400" dirty="0"/>
              <a:t> сигналите се </a:t>
            </a:r>
            <a:r>
              <a:rPr lang="mk-MK" sz="2400" b="1" dirty="0" err="1"/>
              <a:t>нестационарни</a:t>
            </a:r>
            <a:r>
              <a:rPr lang="mk-MK" sz="2400" dirty="0"/>
              <a:t> – нивната фреквентна содржина се менува со текот на времето.</a:t>
            </a:r>
          </a:p>
          <a:p>
            <a:pPr marL="0" indent="0">
              <a:buNone/>
            </a:pPr>
            <a:endParaRPr lang="en-MK" sz="2400" dirty="0"/>
          </a:p>
          <a:p>
            <a:pPr marL="0" indent="0">
              <a:buNone/>
            </a:pPr>
            <a:r>
              <a:rPr lang="mk-MK" sz="2400" dirty="0"/>
              <a:t>Во случај на епилептични напади, често има </a:t>
            </a:r>
            <a:r>
              <a:rPr lang="mk-MK" sz="2400" b="1" dirty="0"/>
              <a:t>нагли промени во одредени фреквентни појаси</a:t>
            </a:r>
            <a:r>
              <a:rPr lang="mk-MK" sz="2400" dirty="0"/>
              <a:t> (на пример, </a:t>
            </a:r>
            <a:r>
              <a:rPr lang="mk-MK" sz="2400" b="1" dirty="0"/>
              <a:t>ненадеен раст на енергија во делта или тета).</a:t>
            </a:r>
            <a:endParaRPr lang="en-MK" sz="2400" dirty="0"/>
          </a:p>
          <a:p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4063406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0C29D5-6347-D872-EA38-5A9D02FC8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49" y="3113462"/>
            <a:ext cx="4672361" cy="26831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A34E707-D0F1-A410-05A0-C58BDB6A1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75" y="286351"/>
            <a:ext cx="5560451" cy="25000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BD20703-52E5-5275-5EBD-BA7DB8889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726" y="247409"/>
            <a:ext cx="6133171" cy="257791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4E734E3-C482-A05F-FA2C-C67DF6CBCEAC}"/>
              </a:ext>
            </a:extLst>
          </p:cNvPr>
          <p:cNvSpPr txBox="1"/>
          <p:nvPr/>
        </p:nvSpPr>
        <p:spPr>
          <a:xfrm>
            <a:off x="5657385" y="4032679"/>
            <a:ext cx="6133171" cy="114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Оваа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слика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прикажува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споредба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помеѓу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Bartlett-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овиот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метод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и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Welch-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овиот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метод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за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проценка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на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спектралната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густина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на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моќноста</a:t>
            </a:r>
            <a:r>
              <a:rPr lang="en-US" sz="1200" b="1" i="1" dirty="0">
                <a:effectLst/>
                <a:latin typeface="Helvetica" pitchFamily="2" charset="0"/>
                <a:ea typeface="Times New Roman" panose="02020603050405020304" pitchFamily="18" charset="0"/>
              </a:rPr>
              <a:t> (Power Spectral Density – PSD)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. 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buNone/>
            </a:pP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Овие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методи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се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користат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за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да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се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анализира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како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енергијата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(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или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моќта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)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на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сигналот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се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распределува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низ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>
                <a:effectLst/>
                <a:latin typeface="Helvetica" pitchFamily="2" charset="0"/>
                <a:ea typeface="Times New Roman" panose="02020603050405020304" pitchFamily="18" charset="0"/>
              </a:rPr>
              <a:t>фреквенциите</a:t>
            </a:r>
            <a:r>
              <a:rPr lang="en-US" sz="1200" i="1" dirty="0">
                <a:effectLst/>
                <a:latin typeface="Helvetica" pitchFamily="2" charset="0"/>
                <a:ea typeface="Times New Roman" panose="02020603050405020304" pitchFamily="18" charset="0"/>
              </a:rPr>
              <a:t>.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C26B76-7FDB-87E0-F376-F50AFF65B418}"/>
              </a:ext>
            </a:extLst>
          </p:cNvPr>
          <p:cNvSpPr txBox="1"/>
          <p:nvPr/>
        </p:nvSpPr>
        <p:spPr>
          <a:xfrm>
            <a:off x="328961" y="5952734"/>
            <a:ext cx="6099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mk-MK" sz="1400" dirty="0">
                <a:effectLst/>
                <a:latin typeface="Helvetica" pitchFamily="2" charset="0"/>
                <a:ea typeface="Times New Roman" panose="02020603050405020304" pitchFamily="18" charset="0"/>
              </a:rPr>
              <a:t>Наместо да гледаме сигнал во временски домен (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</a:rPr>
              <a:t>time series</a:t>
            </a:r>
            <a:r>
              <a:rPr lang="mk-MK" sz="1400" dirty="0">
                <a:effectLst/>
                <a:latin typeface="Helvetica" pitchFamily="2" charset="0"/>
                <a:ea typeface="Times New Roman" panose="02020603050405020304" pitchFamily="18" charset="0"/>
              </a:rPr>
              <a:t>), со</a:t>
            </a:r>
            <a:r>
              <a:rPr lang="mk-MK" sz="1400" b="1" dirty="0">
                <a:effectLst/>
                <a:latin typeface="Helvetica" pitchFamily="2" charset="0"/>
                <a:ea typeface="Times New Roman" panose="02020603050405020304" pitchFamily="18" charset="0"/>
              </a:rPr>
              <a:t> PSD гледаме колку фреквенции се присутни и колку се "силни" тие.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805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4DCD-22DD-E1C8-6319-4CDF183D5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712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mk-MK" sz="2000" dirty="0"/>
              <a:t>ЕЕ</a:t>
            </a:r>
            <a:r>
              <a:rPr lang="en-GB" sz="2000" dirty="0"/>
              <a:t>G</a:t>
            </a:r>
            <a:r>
              <a:rPr lang="mk-MK" sz="2000" dirty="0"/>
              <a:t> сигналите се </a:t>
            </a:r>
            <a:r>
              <a:rPr lang="mk-MK" sz="2000" b="1" dirty="0"/>
              <a:t>шумовити и нестабилни</a:t>
            </a:r>
            <a:r>
              <a:rPr lang="mk-MK" sz="2000" dirty="0"/>
              <a:t>, па класична  </a:t>
            </a:r>
            <a:r>
              <a:rPr lang="mk-MK" sz="2000" b="1" i="1" dirty="0" err="1"/>
              <a:t>Fourier</a:t>
            </a:r>
            <a:r>
              <a:rPr lang="mk-MK" sz="2000" b="1" i="1" dirty="0"/>
              <a:t> трансформација</a:t>
            </a:r>
            <a:r>
              <a:rPr lang="mk-MK" sz="2000" dirty="0"/>
              <a:t> може да даде непостојани резултати, и затоа ќе користиме </a:t>
            </a:r>
            <a:r>
              <a:rPr lang="mk-MK" sz="2000" b="1" dirty="0" err="1"/>
              <a:t>Welch-ов</a:t>
            </a:r>
            <a:r>
              <a:rPr lang="mk-MK" sz="2000" b="1" dirty="0"/>
              <a:t> метод</a:t>
            </a:r>
            <a:r>
              <a:rPr lang="mk-MK" sz="2000" dirty="0"/>
              <a:t> кој ја подобрува прецизноста и стабилноста на PSD со следниве чекори:</a:t>
            </a:r>
            <a:endParaRPr lang="en-MK" sz="1800" dirty="0"/>
          </a:p>
          <a:p>
            <a:endParaRPr lang="en-MK" sz="1800" dirty="0"/>
          </a:p>
          <a:p>
            <a:pPr marL="0" lvl="0" indent="0">
              <a:buNone/>
            </a:pPr>
            <a:r>
              <a:rPr lang="mk-MK" sz="2000" b="1" dirty="0"/>
              <a:t>Сегментирање на сигналот:</a:t>
            </a:r>
            <a:endParaRPr lang="en-MK" sz="1800" dirty="0"/>
          </a:p>
          <a:p>
            <a:pPr marL="0" lvl="0" indent="0">
              <a:buNone/>
            </a:pPr>
            <a:r>
              <a:rPr lang="mk-MK" sz="2000" dirty="0"/>
              <a:t>Сигналот се дели на </a:t>
            </a:r>
            <a:r>
              <a:rPr lang="en-GB" sz="2000" dirty="0"/>
              <a:t>overlapping windows (</a:t>
            </a:r>
            <a:r>
              <a:rPr lang="mk-MK" sz="2000" dirty="0"/>
              <a:t>50% </a:t>
            </a:r>
            <a:r>
              <a:rPr lang="en-GB" sz="2000" dirty="0"/>
              <a:t>overlap</a:t>
            </a:r>
            <a:r>
              <a:rPr lang="mk-MK" sz="2000" dirty="0"/>
              <a:t>).</a:t>
            </a:r>
            <a:endParaRPr lang="en-MK" sz="1800" dirty="0"/>
          </a:p>
          <a:p>
            <a:pPr marL="0" lvl="0" indent="0">
              <a:buNone/>
            </a:pPr>
            <a:r>
              <a:rPr lang="mk-MK" sz="2000" dirty="0"/>
              <a:t>Секој прозорец содржи дел од сигналот </a:t>
            </a:r>
            <a:endParaRPr lang="en-MK" sz="1800" dirty="0"/>
          </a:p>
          <a:p>
            <a:pPr marL="457200" lvl="1" indent="0">
              <a:buNone/>
            </a:pPr>
            <a:r>
              <a:rPr lang="mk-MK" sz="1800" dirty="0"/>
              <a:t>256 точки = 1 секунда на 256 </a:t>
            </a:r>
            <a:r>
              <a:rPr lang="mk-MK" sz="1800" dirty="0" err="1"/>
              <a:t>Hz</a:t>
            </a:r>
            <a:r>
              <a:rPr lang="mk-MK" sz="1800" dirty="0"/>
              <a:t>.</a:t>
            </a:r>
            <a:endParaRPr lang="en-MK" sz="1600" dirty="0"/>
          </a:p>
          <a:p>
            <a:endParaRPr lang="en-MK" sz="1800" dirty="0"/>
          </a:p>
          <a:p>
            <a:pPr marL="0" lvl="0" indent="0">
              <a:buNone/>
            </a:pPr>
            <a:r>
              <a:rPr lang="en-GB" sz="2000" b="1" dirty="0"/>
              <a:t>Windowing:</a:t>
            </a:r>
            <a:endParaRPr lang="en-MK" sz="1800" dirty="0"/>
          </a:p>
          <a:p>
            <a:pPr marL="0" lvl="0" indent="0">
              <a:buNone/>
            </a:pPr>
            <a:r>
              <a:rPr lang="mk-MK" sz="2000" dirty="0"/>
              <a:t>Секој сегмент се множи со </a:t>
            </a:r>
            <a:r>
              <a:rPr lang="en-GB" sz="2000" dirty="0"/>
              <a:t>window function</a:t>
            </a:r>
            <a:r>
              <a:rPr lang="mk-MK" sz="2000" dirty="0"/>
              <a:t> (на пример </a:t>
            </a:r>
            <a:r>
              <a:rPr lang="mk-MK" sz="2000" dirty="0" err="1"/>
              <a:t>Hamming</a:t>
            </a:r>
            <a:r>
              <a:rPr lang="mk-MK" sz="2000" dirty="0"/>
              <a:t> </a:t>
            </a:r>
            <a:r>
              <a:rPr lang="mk-MK" sz="2000" dirty="0" err="1"/>
              <a:t>window</a:t>
            </a:r>
            <a:r>
              <a:rPr lang="mk-MK" sz="2000" dirty="0"/>
              <a:t>) за да се намалат </a:t>
            </a:r>
            <a:r>
              <a:rPr lang="mk-MK" sz="2000" dirty="0" err="1"/>
              <a:t>рабните</a:t>
            </a:r>
            <a:r>
              <a:rPr lang="mk-MK" sz="2000" dirty="0"/>
              <a:t> ефекти.</a:t>
            </a:r>
            <a:endParaRPr lang="en-MK" sz="1800" dirty="0"/>
          </a:p>
          <a:p>
            <a:endParaRPr lang="en-MK" sz="2000" dirty="0"/>
          </a:p>
        </p:txBody>
      </p:sp>
    </p:spTree>
    <p:extLst>
      <p:ext uri="{BB962C8B-B14F-4D97-AF65-F5344CB8AC3E}">
        <p14:creationId xmlns:p14="http://schemas.microsoft.com/office/powerpoint/2010/main" val="3349209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5DDDE-BFDC-496D-F3C3-F1401388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EEG </a:t>
            </a:r>
            <a:r>
              <a:rPr lang="mk-MK" dirty="0" err="1"/>
              <a:t>с</a:t>
            </a:r>
            <a:r>
              <a:rPr lang="en-GB" dirty="0" err="1"/>
              <a:t>игналот</a:t>
            </a:r>
            <a:r>
              <a:rPr lang="en-GB" dirty="0"/>
              <a:t> (</a:t>
            </a:r>
            <a:r>
              <a:rPr lang="en-GB" dirty="0" err="1"/>
              <a:t>на</a:t>
            </a:r>
            <a:r>
              <a:rPr lang="en-GB" dirty="0"/>
              <a:t> </a:t>
            </a:r>
            <a:r>
              <a:rPr lang="en-GB" dirty="0" err="1"/>
              <a:t>пример</a:t>
            </a:r>
            <a:r>
              <a:rPr lang="en-GB" dirty="0"/>
              <a:t>, 10 </a:t>
            </a:r>
            <a:r>
              <a:rPr lang="en-GB" dirty="0" err="1"/>
              <a:t>секунди</a:t>
            </a:r>
            <a:r>
              <a:rPr lang="en-GB" dirty="0"/>
              <a:t>) </a:t>
            </a:r>
            <a:r>
              <a:rPr lang="en-GB" dirty="0" err="1"/>
              <a:t>е</a:t>
            </a:r>
            <a:r>
              <a:rPr lang="en-GB" dirty="0"/>
              <a:t> </a:t>
            </a:r>
            <a:r>
              <a:rPr lang="en-GB" dirty="0" err="1"/>
              <a:t>предолг</a:t>
            </a:r>
            <a:r>
              <a:rPr lang="en-GB" dirty="0"/>
              <a:t> </a:t>
            </a:r>
            <a:r>
              <a:rPr lang="en-GB" dirty="0" err="1"/>
              <a:t>за</a:t>
            </a:r>
            <a:r>
              <a:rPr lang="en-GB" dirty="0"/>
              <a:t> </a:t>
            </a:r>
            <a:r>
              <a:rPr lang="en-GB" dirty="0" err="1"/>
              <a:t>да</a:t>
            </a:r>
            <a:r>
              <a:rPr lang="en-GB" dirty="0"/>
              <a:t> </a:t>
            </a:r>
            <a:r>
              <a:rPr lang="en-GB" dirty="0" err="1"/>
              <a:t>се</a:t>
            </a:r>
            <a:r>
              <a:rPr lang="en-GB" dirty="0"/>
              <a:t> </a:t>
            </a:r>
            <a:r>
              <a:rPr lang="en-GB" dirty="0" err="1"/>
              <a:t>анализира</a:t>
            </a:r>
            <a:r>
              <a:rPr lang="en-GB" dirty="0"/>
              <a:t> </a:t>
            </a:r>
            <a:r>
              <a:rPr lang="en-GB" dirty="0" err="1"/>
              <a:t>како</a:t>
            </a:r>
            <a:r>
              <a:rPr lang="en-GB" dirty="0"/>
              <a:t> </a:t>
            </a:r>
            <a:r>
              <a:rPr lang="en-GB" dirty="0" err="1"/>
              <a:t>една</a:t>
            </a:r>
            <a:r>
              <a:rPr lang="en-GB" dirty="0"/>
              <a:t> </a:t>
            </a:r>
            <a:r>
              <a:rPr lang="en-GB" dirty="0" err="1"/>
              <a:t>целина</a:t>
            </a:r>
            <a:r>
              <a:rPr lang="en-GB" dirty="0"/>
              <a:t>, </a:t>
            </a:r>
            <a:r>
              <a:rPr lang="en-GB" dirty="0" err="1"/>
              <a:t>и</a:t>
            </a:r>
            <a:r>
              <a:rPr lang="en-GB" dirty="0"/>
              <a:t> </a:t>
            </a:r>
            <a:r>
              <a:rPr lang="en-GB" dirty="0" err="1"/>
              <a:t>може</a:t>
            </a:r>
            <a:r>
              <a:rPr lang="en-GB" dirty="0"/>
              <a:t> </a:t>
            </a:r>
            <a:r>
              <a:rPr lang="en-GB" dirty="0" err="1"/>
              <a:t>да</a:t>
            </a:r>
            <a:r>
              <a:rPr lang="en-GB" dirty="0"/>
              <a:t> </a:t>
            </a:r>
            <a:r>
              <a:rPr lang="en-GB" dirty="0" err="1"/>
              <a:t>има</a:t>
            </a:r>
            <a:r>
              <a:rPr lang="en-GB" dirty="0"/>
              <a:t> </a:t>
            </a:r>
            <a:r>
              <a:rPr lang="en-GB" dirty="0" err="1"/>
              <a:t>различни</a:t>
            </a:r>
            <a:r>
              <a:rPr lang="en-GB" dirty="0"/>
              <a:t> </a:t>
            </a:r>
            <a:r>
              <a:rPr lang="en-GB" dirty="0" err="1"/>
              <a:t>карактеристики</a:t>
            </a:r>
            <a:r>
              <a:rPr lang="en-GB" dirty="0"/>
              <a:t> </a:t>
            </a:r>
            <a:r>
              <a:rPr lang="en-GB" dirty="0" err="1"/>
              <a:t>во</a:t>
            </a:r>
            <a:r>
              <a:rPr lang="en-GB" dirty="0"/>
              <a:t> </a:t>
            </a:r>
            <a:r>
              <a:rPr lang="en-GB" dirty="0" err="1"/>
              <a:t>различни</a:t>
            </a:r>
            <a:r>
              <a:rPr lang="en-GB" dirty="0"/>
              <a:t> </a:t>
            </a:r>
            <a:r>
              <a:rPr lang="en-GB" dirty="0" err="1"/>
              <a:t>делови</a:t>
            </a:r>
            <a:r>
              <a:rPr lang="en-GB" dirty="0"/>
              <a:t> </a:t>
            </a:r>
            <a:r>
              <a:rPr lang="en-GB" dirty="0" err="1"/>
              <a:t>од</a:t>
            </a:r>
            <a:r>
              <a:rPr lang="en-GB" dirty="0"/>
              <a:t> </a:t>
            </a:r>
            <a:r>
              <a:rPr lang="en-GB" dirty="0" err="1"/>
              <a:t>времето</a:t>
            </a:r>
            <a:r>
              <a:rPr lang="en-GB" dirty="0"/>
              <a:t>. </a:t>
            </a:r>
            <a:r>
              <a:rPr lang="en-GB" dirty="0" err="1"/>
              <a:t>Затоа</a:t>
            </a:r>
            <a:r>
              <a:rPr lang="en-GB" dirty="0"/>
              <a:t>, </a:t>
            </a:r>
            <a:r>
              <a:rPr lang="en-GB" dirty="0" err="1"/>
              <a:t>сигналот</a:t>
            </a:r>
            <a:r>
              <a:rPr lang="en-GB" dirty="0"/>
              <a:t> </a:t>
            </a:r>
            <a:r>
              <a:rPr lang="en-GB" dirty="0" err="1"/>
              <a:t>се</a:t>
            </a:r>
            <a:r>
              <a:rPr lang="en-GB" dirty="0"/>
              <a:t> </a:t>
            </a:r>
            <a:r>
              <a:rPr lang="en-GB" dirty="0" err="1"/>
              <a:t>сече</a:t>
            </a:r>
            <a:r>
              <a:rPr lang="en-GB" dirty="0"/>
              <a:t> </a:t>
            </a:r>
            <a:r>
              <a:rPr lang="en-GB" dirty="0" err="1"/>
              <a:t>на</a:t>
            </a:r>
            <a:r>
              <a:rPr lang="en-GB" dirty="0"/>
              <a:t> </a:t>
            </a:r>
            <a:r>
              <a:rPr lang="en-GB" b="1" dirty="0" err="1"/>
              <a:t>помали</a:t>
            </a:r>
            <a:r>
              <a:rPr lang="en-GB" b="1" dirty="0"/>
              <a:t> </a:t>
            </a:r>
            <a:r>
              <a:rPr lang="en-GB" b="1" dirty="0" err="1"/>
              <a:t>сегменти</a:t>
            </a:r>
            <a:r>
              <a:rPr lang="en-GB" b="1" dirty="0"/>
              <a:t> (</a:t>
            </a:r>
            <a:r>
              <a:rPr lang="en-GB" b="1" dirty="0" err="1"/>
              <a:t>прозорци</a:t>
            </a:r>
            <a:r>
              <a:rPr lang="en-GB" b="1" dirty="0"/>
              <a:t>)</a:t>
            </a:r>
            <a:r>
              <a:rPr lang="mk-MK" b="1" dirty="0"/>
              <a:t> и користиме техника на движечки прозорец </a:t>
            </a:r>
            <a:r>
              <a:rPr lang="en-GB" b="1" dirty="0"/>
              <a:t>(sliding window) </a:t>
            </a:r>
            <a:endParaRPr lang="en-MK" dirty="0"/>
          </a:p>
          <a:p>
            <a:pPr marL="0" indent="0">
              <a:buNone/>
            </a:pPr>
            <a:endParaRPr lang="en-MK" dirty="0"/>
          </a:p>
          <a:p>
            <a:pPr marL="0" indent="0">
              <a:buNone/>
            </a:pPr>
            <a:endParaRPr lang="en-MK" dirty="0"/>
          </a:p>
          <a:p>
            <a:r>
              <a:rPr lang="mk-MK" dirty="0"/>
              <a:t>Имплементиравме метода за екстракција </a:t>
            </a:r>
            <a:r>
              <a:rPr lang="mk-MK" b="1" dirty="0"/>
              <a:t>на</a:t>
            </a:r>
            <a:r>
              <a:rPr lang="mk-MK" dirty="0"/>
              <a:t> </a:t>
            </a:r>
            <a:r>
              <a:rPr lang="mk-MK" b="1" dirty="0" err="1"/>
              <a:t>спектралните</a:t>
            </a:r>
            <a:r>
              <a:rPr lang="mk-MK" b="1" dirty="0"/>
              <a:t> карактеристики </a:t>
            </a:r>
            <a:r>
              <a:rPr lang="mk-MK" dirty="0"/>
              <a:t>каде што </a:t>
            </a:r>
            <a:endParaRPr lang="en-MK" dirty="0"/>
          </a:p>
          <a:p>
            <a:pPr marL="0" lvl="0" indent="0">
              <a:buNone/>
            </a:pPr>
            <a:r>
              <a:rPr lang="en-US" dirty="0"/>
              <a:t>	- </a:t>
            </a:r>
            <a:r>
              <a:rPr lang="mk-MK" dirty="0"/>
              <a:t>на в</a:t>
            </a:r>
            <a:r>
              <a:rPr lang="en-GB" dirty="0" err="1"/>
              <a:t>лез</a:t>
            </a:r>
            <a:r>
              <a:rPr lang="mk-MK" dirty="0"/>
              <a:t> се п</a:t>
            </a:r>
            <a:r>
              <a:rPr lang="en-GB" dirty="0" err="1"/>
              <a:t>рима</a:t>
            </a:r>
            <a:r>
              <a:rPr lang="en-GB" dirty="0"/>
              <a:t> 1D EEG </a:t>
            </a:r>
            <a:r>
              <a:rPr lang="en-GB" dirty="0" err="1"/>
              <a:t>сигнал</a:t>
            </a:r>
            <a:r>
              <a:rPr lang="en-GB" dirty="0"/>
              <a:t> (signal), </a:t>
            </a:r>
            <a:r>
              <a:rPr lang="en-GB" dirty="0" err="1"/>
              <a:t>т.е</a:t>
            </a:r>
            <a:r>
              <a:rPr lang="en-GB" dirty="0"/>
              <a:t>. </a:t>
            </a:r>
            <a:r>
              <a:rPr lang="en-GB" dirty="0" err="1"/>
              <a:t>вредности</a:t>
            </a:r>
            <a:r>
              <a:rPr lang="en-GB" dirty="0"/>
              <a:t> </a:t>
            </a:r>
            <a:r>
              <a:rPr lang="en-GB" dirty="0" err="1"/>
              <a:t>од</a:t>
            </a:r>
            <a:r>
              <a:rPr lang="en-GB" dirty="0"/>
              <a:t> </a:t>
            </a:r>
            <a:r>
              <a:rPr lang="en-GB" dirty="0" err="1"/>
              <a:t>една</a:t>
            </a:r>
            <a:r>
              <a:rPr lang="en-GB" dirty="0"/>
              <a:t> EEG </a:t>
            </a:r>
            <a:r>
              <a:rPr lang="en-GB" dirty="0" err="1"/>
              <a:t>електрода</a:t>
            </a:r>
            <a:r>
              <a:rPr lang="en-GB" dirty="0"/>
              <a:t>.</a:t>
            </a:r>
            <a:endParaRPr lang="en-MK" dirty="0"/>
          </a:p>
          <a:p>
            <a:pPr marL="0" lvl="0" indent="0">
              <a:buNone/>
            </a:pPr>
            <a:r>
              <a:rPr lang="en-GB" dirty="0"/>
              <a:t>	- </a:t>
            </a:r>
            <a:r>
              <a:rPr lang="en-GB" dirty="0" err="1"/>
              <a:t>Се</a:t>
            </a:r>
            <a:r>
              <a:rPr lang="en-GB" dirty="0"/>
              <a:t> </a:t>
            </a:r>
            <a:r>
              <a:rPr lang="en-GB" dirty="0" err="1"/>
              <a:t>користи</a:t>
            </a:r>
            <a:r>
              <a:rPr lang="en-GB" dirty="0"/>
              <a:t> </a:t>
            </a:r>
            <a:r>
              <a:rPr lang="en-GB" b="1" dirty="0"/>
              <a:t>welch() </a:t>
            </a:r>
            <a:r>
              <a:rPr lang="en-GB" dirty="0" err="1"/>
              <a:t>функцијата</a:t>
            </a:r>
            <a:r>
              <a:rPr lang="en-GB" dirty="0"/>
              <a:t> </a:t>
            </a:r>
            <a:r>
              <a:rPr lang="en-GB" dirty="0" err="1"/>
              <a:t>за</a:t>
            </a:r>
            <a:r>
              <a:rPr lang="en-GB" dirty="0"/>
              <a:t> </a:t>
            </a:r>
            <a:r>
              <a:rPr lang="en-GB" dirty="0" err="1"/>
              <a:t>да</a:t>
            </a:r>
            <a:r>
              <a:rPr lang="en-GB" dirty="0"/>
              <a:t> </a:t>
            </a:r>
            <a:r>
              <a:rPr lang="en-GB" dirty="0" err="1"/>
              <a:t>се</a:t>
            </a:r>
            <a:r>
              <a:rPr lang="en-GB" dirty="0"/>
              <a:t> </a:t>
            </a:r>
            <a:r>
              <a:rPr lang="en-GB" dirty="0" err="1"/>
              <a:t>добие</a:t>
            </a:r>
            <a:r>
              <a:rPr lang="en-GB" dirty="0"/>
              <a:t> </a:t>
            </a:r>
            <a:r>
              <a:rPr lang="en-GB" b="1" dirty="0"/>
              <a:t>Power Spectral Density (PSD) </a:t>
            </a:r>
            <a:r>
              <a:rPr lang="en-GB" dirty="0"/>
              <a:t>→ </a:t>
            </a:r>
            <a:r>
              <a:rPr lang="en-GB" dirty="0" err="1"/>
              <a:t>покажува</a:t>
            </a:r>
            <a:r>
              <a:rPr lang="en-GB" dirty="0"/>
              <a:t>   	   </a:t>
            </a:r>
            <a:r>
              <a:rPr lang="en-GB" dirty="0" err="1"/>
              <a:t>колку</a:t>
            </a:r>
            <a:r>
              <a:rPr lang="en-GB" dirty="0"/>
              <a:t> </a:t>
            </a:r>
            <a:r>
              <a:rPr lang="en-GB" dirty="0" err="1"/>
              <a:t>енергија</a:t>
            </a:r>
            <a:r>
              <a:rPr lang="en-GB" dirty="0"/>
              <a:t> </a:t>
            </a:r>
            <a:r>
              <a:rPr lang="en-GB" dirty="0" err="1"/>
              <a:t>има</a:t>
            </a:r>
            <a:r>
              <a:rPr lang="en-GB" dirty="0"/>
              <a:t> </a:t>
            </a:r>
            <a:r>
              <a:rPr lang="en-GB" dirty="0" err="1"/>
              <a:t>во</a:t>
            </a:r>
            <a:r>
              <a:rPr lang="en-GB" dirty="0"/>
              <a:t> </a:t>
            </a:r>
            <a:r>
              <a:rPr lang="en-GB" dirty="0" err="1"/>
              <a:t>секоја</a:t>
            </a:r>
            <a:r>
              <a:rPr lang="en-GB" dirty="0"/>
              <a:t> </a:t>
            </a:r>
            <a:r>
              <a:rPr lang="en-GB" dirty="0" err="1"/>
              <a:t>фреквенција</a:t>
            </a:r>
            <a:r>
              <a:rPr lang="en-GB" dirty="0"/>
              <a:t>.</a:t>
            </a:r>
            <a:endParaRPr lang="en-MK" dirty="0"/>
          </a:p>
          <a:p>
            <a:pPr marL="0" lvl="0" indent="0">
              <a:buNone/>
            </a:pPr>
            <a:r>
              <a:rPr lang="en-US" dirty="0"/>
              <a:t> 	- </a:t>
            </a:r>
            <a:r>
              <a:rPr lang="mk-MK" dirty="0"/>
              <a:t>Прави </a:t>
            </a:r>
            <a:r>
              <a:rPr lang="mk-MK" b="1" dirty="0"/>
              <a:t>в</a:t>
            </a:r>
            <a:r>
              <a:rPr lang="en-GB" b="1" dirty="0" err="1"/>
              <a:t>купна</a:t>
            </a:r>
            <a:r>
              <a:rPr lang="en-GB" b="1" dirty="0"/>
              <a:t> </a:t>
            </a:r>
            <a:r>
              <a:rPr lang="en-GB" b="1" dirty="0" err="1"/>
              <a:t>енергија</a:t>
            </a:r>
            <a:r>
              <a:rPr lang="en-GB" b="1" dirty="0"/>
              <a:t> (</a:t>
            </a:r>
            <a:r>
              <a:rPr lang="en-GB" b="1" dirty="0" err="1"/>
              <a:t>total_power</a:t>
            </a:r>
            <a:r>
              <a:rPr lang="en-GB" b="1" dirty="0"/>
              <a:t>)</a:t>
            </a:r>
            <a:r>
              <a:rPr lang="en-GB" dirty="0"/>
              <a:t> → </a:t>
            </a:r>
            <a:r>
              <a:rPr lang="en-GB" dirty="0" err="1"/>
              <a:t>сума</a:t>
            </a:r>
            <a:r>
              <a:rPr lang="en-GB" dirty="0"/>
              <a:t> </a:t>
            </a:r>
            <a:r>
              <a:rPr lang="en-GB" dirty="0" err="1"/>
              <a:t>на</a:t>
            </a:r>
            <a:r>
              <a:rPr lang="en-GB" dirty="0"/>
              <a:t> </a:t>
            </a:r>
            <a:r>
              <a:rPr lang="en-GB" dirty="0" err="1"/>
              <a:t>сите</a:t>
            </a:r>
            <a:r>
              <a:rPr lang="en-GB" dirty="0"/>
              <a:t> PSD </a:t>
            </a:r>
            <a:r>
              <a:rPr lang="en-GB" dirty="0" err="1"/>
              <a:t>вредности</a:t>
            </a:r>
            <a:r>
              <a:rPr lang="mk-MK" dirty="0"/>
              <a:t>, </a:t>
            </a:r>
            <a:r>
              <a:rPr lang="mk-MK" b="1" dirty="0"/>
              <a:t>м</a:t>
            </a:r>
            <a:r>
              <a:rPr lang="en-GB" b="1" dirty="0" err="1"/>
              <a:t>едијална</a:t>
            </a:r>
            <a:r>
              <a:rPr lang="en-GB" b="1" dirty="0"/>
              <a:t> 	    	   </a:t>
            </a:r>
            <a:r>
              <a:rPr lang="en-GB" b="1" dirty="0" err="1"/>
              <a:t>фреквенција</a:t>
            </a:r>
            <a:r>
              <a:rPr lang="en-GB" b="1" dirty="0"/>
              <a:t> (</a:t>
            </a:r>
            <a:r>
              <a:rPr lang="en-GB" b="1" dirty="0" err="1"/>
              <a:t>median_freq</a:t>
            </a:r>
            <a:r>
              <a:rPr lang="en-GB" b="1" dirty="0"/>
              <a:t>)</a:t>
            </a:r>
            <a:r>
              <a:rPr lang="en-GB" dirty="0"/>
              <a:t> →</a:t>
            </a:r>
            <a:r>
              <a:rPr lang="en-GB" dirty="0" err="1"/>
              <a:t>фреквенција</a:t>
            </a:r>
            <a:r>
              <a:rPr lang="en-GB" dirty="0"/>
              <a:t> </a:t>
            </a:r>
            <a:r>
              <a:rPr lang="en-GB" dirty="0" err="1"/>
              <a:t>под</a:t>
            </a:r>
            <a:r>
              <a:rPr lang="en-GB" dirty="0"/>
              <a:t> </a:t>
            </a:r>
            <a:r>
              <a:rPr lang="en-GB" dirty="0" err="1"/>
              <a:t>која</a:t>
            </a:r>
            <a:r>
              <a:rPr lang="en-GB" dirty="0"/>
              <a:t> </a:t>
            </a:r>
            <a:r>
              <a:rPr lang="en-GB" dirty="0" err="1"/>
              <a:t>е</a:t>
            </a:r>
            <a:r>
              <a:rPr lang="en-GB" dirty="0"/>
              <a:t> 50% </a:t>
            </a:r>
            <a:r>
              <a:rPr lang="en-GB" dirty="0" err="1"/>
              <a:t>од</a:t>
            </a:r>
            <a:r>
              <a:rPr lang="en-GB" dirty="0"/>
              <a:t> </a:t>
            </a:r>
            <a:r>
              <a:rPr lang="en-GB" dirty="0" err="1"/>
              <a:t>енергијата</a:t>
            </a:r>
            <a:r>
              <a:rPr lang="mk-MK" dirty="0"/>
              <a:t> и </a:t>
            </a:r>
            <a:r>
              <a:rPr lang="mk-MK" b="1" dirty="0"/>
              <a:t>н</a:t>
            </a:r>
            <a:r>
              <a:rPr lang="en-GB" b="1" dirty="0" err="1"/>
              <a:t>ајсилна</a:t>
            </a:r>
            <a:r>
              <a:rPr lang="en-GB" b="1" dirty="0"/>
              <a:t> 	 	   </a:t>
            </a:r>
            <a:r>
              <a:rPr lang="en-GB" b="1" dirty="0" err="1"/>
              <a:t>фреквенција</a:t>
            </a:r>
            <a:r>
              <a:rPr lang="en-GB" b="1" dirty="0"/>
              <a:t> (</a:t>
            </a:r>
            <a:r>
              <a:rPr lang="en-GB" b="1" dirty="0" err="1"/>
              <a:t>peak_freq</a:t>
            </a:r>
            <a:r>
              <a:rPr lang="en-GB" b="1" dirty="0"/>
              <a:t>)</a:t>
            </a:r>
            <a:r>
              <a:rPr lang="en-GB" dirty="0"/>
              <a:t> → </a:t>
            </a:r>
            <a:r>
              <a:rPr lang="en-GB" dirty="0" err="1"/>
              <a:t>фреквенцијата</a:t>
            </a:r>
            <a:r>
              <a:rPr lang="en-GB" dirty="0"/>
              <a:t> </a:t>
            </a:r>
            <a:r>
              <a:rPr lang="en-GB" dirty="0" err="1"/>
              <a:t>со</a:t>
            </a:r>
            <a:r>
              <a:rPr lang="en-GB" dirty="0"/>
              <a:t> </a:t>
            </a:r>
            <a:r>
              <a:rPr lang="en-GB" dirty="0" err="1"/>
              <a:t>најголема</a:t>
            </a:r>
            <a:r>
              <a:rPr lang="en-GB" dirty="0"/>
              <a:t> </a:t>
            </a:r>
            <a:r>
              <a:rPr lang="en-GB" dirty="0" err="1"/>
              <a:t>енергија</a:t>
            </a:r>
            <a:r>
              <a:rPr lang="en-GB" dirty="0"/>
              <a:t>.</a:t>
            </a:r>
            <a:endParaRPr lang="en-MK" dirty="0"/>
          </a:p>
          <a:p>
            <a:pPr marL="0" lvl="0" indent="0">
              <a:buNone/>
            </a:pPr>
            <a:r>
              <a:rPr lang="en-GB" b="1" dirty="0"/>
              <a:t>	- Bin power </a:t>
            </a:r>
            <a:r>
              <a:rPr lang="en-GB" dirty="0"/>
              <a:t>→ </a:t>
            </a:r>
            <a:r>
              <a:rPr lang="en-GB" dirty="0" err="1"/>
              <a:t>пресметува</a:t>
            </a:r>
            <a:r>
              <a:rPr lang="en-GB" dirty="0"/>
              <a:t> </a:t>
            </a:r>
            <a:r>
              <a:rPr lang="en-GB" dirty="0" err="1"/>
              <a:t>колку</a:t>
            </a:r>
            <a:r>
              <a:rPr lang="en-GB" dirty="0"/>
              <a:t> </a:t>
            </a:r>
            <a:r>
              <a:rPr lang="en-GB" dirty="0" err="1"/>
              <a:t>енергија</a:t>
            </a:r>
            <a:r>
              <a:rPr lang="en-GB" dirty="0"/>
              <a:t> </a:t>
            </a:r>
            <a:r>
              <a:rPr lang="en-GB" dirty="0" err="1"/>
              <a:t>има</a:t>
            </a:r>
            <a:r>
              <a:rPr lang="en-GB" dirty="0"/>
              <a:t> </a:t>
            </a:r>
            <a:r>
              <a:rPr lang="en-GB" dirty="0" err="1"/>
              <a:t>во</a:t>
            </a:r>
            <a:r>
              <a:rPr lang="en-GB" dirty="0"/>
              <a:t> </a:t>
            </a:r>
            <a:r>
              <a:rPr lang="en-GB" dirty="0" err="1"/>
              <a:t>секој</a:t>
            </a:r>
            <a:r>
              <a:rPr lang="en-GB" dirty="0"/>
              <a:t> </a:t>
            </a:r>
            <a:r>
              <a:rPr lang="en-GB" dirty="0" err="1"/>
              <a:t>фреквентен</a:t>
            </a:r>
            <a:r>
              <a:rPr lang="en-GB" dirty="0"/>
              <a:t> </a:t>
            </a:r>
            <a:r>
              <a:rPr lang="en-GB" dirty="0" err="1"/>
              <a:t>појас</a:t>
            </a:r>
            <a:r>
              <a:rPr lang="en-GB" dirty="0"/>
              <a:t> (</a:t>
            </a:r>
            <a:r>
              <a:rPr lang="en-GB" dirty="0" err="1"/>
              <a:t>на</a:t>
            </a:r>
            <a:r>
              <a:rPr lang="en-GB" dirty="0"/>
              <a:t> </a:t>
            </a:r>
            <a:r>
              <a:rPr lang="en-GB" dirty="0" err="1"/>
              <a:t>пр</a:t>
            </a:r>
            <a:r>
              <a:rPr lang="en-GB" dirty="0"/>
              <a:t>. </a:t>
            </a:r>
            <a:r>
              <a:rPr lang="en-GB" dirty="0" err="1"/>
              <a:t>алфа</a:t>
            </a:r>
            <a:r>
              <a:rPr lang="en-GB" dirty="0"/>
              <a:t>, 		   </a:t>
            </a:r>
            <a:r>
              <a:rPr lang="en-GB" dirty="0" err="1"/>
              <a:t>бета</a:t>
            </a:r>
            <a:r>
              <a:rPr lang="en-GB" dirty="0"/>
              <a:t>...).</a:t>
            </a:r>
            <a:endParaRPr lang="en-MK" dirty="0"/>
          </a:p>
          <a:p>
            <a:pPr marL="0" indent="0">
              <a:buNone/>
            </a:pPr>
            <a:r>
              <a:rPr lang="en-GB" dirty="0"/>
              <a:t>	- </a:t>
            </a:r>
            <a:r>
              <a:rPr lang="en-GB" dirty="0" err="1"/>
              <a:t>Спектрална</a:t>
            </a:r>
            <a:r>
              <a:rPr lang="en-GB" dirty="0"/>
              <a:t> </a:t>
            </a:r>
            <a:r>
              <a:rPr lang="en-GB" dirty="0" err="1"/>
              <a:t>ентропија</a:t>
            </a:r>
            <a:r>
              <a:rPr lang="en-GB" dirty="0"/>
              <a:t> → </a:t>
            </a:r>
            <a:r>
              <a:rPr lang="en-GB" dirty="0" err="1"/>
              <a:t>мерач</a:t>
            </a:r>
            <a:r>
              <a:rPr lang="en-GB" dirty="0"/>
              <a:t> </a:t>
            </a:r>
            <a:r>
              <a:rPr lang="en-GB" dirty="0" err="1"/>
              <a:t>на</a:t>
            </a:r>
            <a:r>
              <a:rPr lang="en-GB" dirty="0"/>
              <a:t> </a:t>
            </a:r>
            <a:r>
              <a:rPr lang="en-GB" dirty="0" err="1"/>
              <a:t>хаотичност</a:t>
            </a:r>
            <a:r>
              <a:rPr lang="en-GB" dirty="0"/>
              <a:t> </a:t>
            </a:r>
            <a:r>
              <a:rPr lang="en-GB" dirty="0" err="1"/>
              <a:t>во</a:t>
            </a:r>
            <a:r>
              <a:rPr lang="en-GB" dirty="0"/>
              <a:t> </a:t>
            </a:r>
            <a:r>
              <a:rPr lang="en-GB" dirty="0" err="1"/>
              <a:t>сигналот</a:t>
            </a:r>
            <a:r>
              <a:rPr lang="en-GB" dirty="0"/>
              <a:t>.</a:t>
            </a:r>
            <a:endParaRPr lang="en-MK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795974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871A-4F3F-86DD-7099-BB4F0842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Non-linear features (</a:t>
            </a:r>
            <a:r>
              <a:rPr lang="mk-MK" sz="3600" b="1" dirty="0"/>
              <a:t>нелинеарни) карактеристики 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A1C33-C519-B0B5-8CF3-613DE8B7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err="1"/>
              <a:t>Ов</a:t>
            </a:r>
            <a:r>
              <a:rPr lang="mk-MK" sz="2000" dirty="0"/>
              <a:t>ој вид на </a:t>
            </a:r>
            <a:r>
              <a:rPr lang="en-GB" sz="2000" b="1" dirty="0" err="1"/>
              <a:t>нелинеарни</a:t>
            </a:r>
            <a:r>
              <a:rPr lang="en-GB" sz="2000" b="1" dirty="0"/>
              <a:t> (complexity-based) </a:t>
            </a:r>
            <a:r>
              <a:rPr lang="en-GB" sz="2000" b="1" dirty="0" err="1"/>
              <a:t>карактеристики</a:t>
            </a:r>
            <a:r>
              <a:rPr lang="en-GB" sz="2000" b="1" dirty="0"/>
              <a:t> </a:t>
            </a:r>
            <a:r>
              <a:rPr lang="en-GB" sz="2000" dirty="0" err="1"/>
              <a:t>од</a:t>
            </a:r>
            <a:r>
              <a:rPr lang="en-GB" sz="2000" dirty="0"/>
              <a:t> EEG </a:t>
            </a:r>
            <a:r>
              <a:rPr lang="en-GB" sz="2000" dirty="0" err="1"/>
              <a:t>сигнал</a:t>
            </a:r>
            <a:r>
              <a:rPr lang="en-GB" sz="2000" dirty="0"/>
              <a:t>, </a:t>
            </a:r>
            <a:r>
              <a:rPr lang="mk-MK" sz="2000" dirty="0"/>
              <a:t>се</a:t>
            </a:r>
            <a:r>
              <a:rPr lang="en-GB" sz="2000" dirty="0"/>
              <a:t> </a:t>
            </a:r>
            <a:r>
              <a:rPr lang="en-GB" sz="2000" dirty="0" err="1"/>
              <a:t>карактеристики</a:t>
            </a:r>
            <a:r>
              <a:rPr lang="en-GB" sz="2000" dirty="0"/>
              <a:t> </a:t>
            </a:r>
            <a:r>
              <a:rPr lang="en-GB" sz="2000" dirty="0" err="1"/>
              <a:t>кои</a:t>
            </a:r>
            <a:r>
              <a:rPr lang="en-GB" sz="2000" dirty="0"/>
              <a:t> </a:t>
            </a:r>
            <a:r>
              <a:rPr lang="en-GB" sz="2000" dirty="0" err="1"/>
              <a:t>не</a:t>
            </a:r>
            <a:r>
              <a:rPr lang="en-GB" sz="2000" dirty="0"/>
              <a:t> </a:t>
            </a:r>
            <a:r>
              <a:rPr lang="en-GB" sz="2000" dirty="0" err="1"/>
              <a:t>можат</a:t>
            </a:r>
            <a:r>
              <a:rPr lang="en-GB" sz="2000" dirty="0"/>
              <a:t> </a:t>
            </a:r>
            <a:r>
              <a:rPr lang="en-GB" sz="2000" dirty="0" err="1"/>
              <a:t>да</a:t>
            </a:r>
            <a:r>
              <a:rPr lang="en-GB" sz="2000" dirty="0"/>
              <a:t> </a:t>
            </a:r>
            <a:r>
              <a:rPr lang="en-GB" sz="2000" dirty="0" err="1"/>
              <a:t>се</a:t>
            </a:r>
            <a:r>
              <a:rPr lang="en-GB" sz="2000" dirty="0"/>
              <a:t> </a:t>
            </a:r>
            <a:r>
              <a:rPr lang="en-GB" sz="2000" dirty="0" err="1"/>
              <a:t>опишат</a:t>
            </a:r>
            <a:r>
              <a:rPr lang="en-GB" sz="2000" dirty="0"/>
              <a:t> </a:t>
            </a:r>
            <a:r>
              <a:rPr lang="en-GB" sz="2000" dirty="0" err="1"/>
              <a:t>со</a:t>
            </a:r>
            <a:r>
              <a:rPr lang="en-GB" sz="2000" dirty="0"/>
              <a:t> </a:t>
            </a:r>
            <a:r>
              <a:rPr lang="en-GB" sz="2000" dirty="0" err="1"/>
              <a:t>едноставни</a:t>
            </a:r>
            <a:r>
              <a:rPr lang="en-GB" sz="2000" dirty="0"/>
              <a:t> </a:t>
            </a:r>
            <a:r>
              <a:rPr lang="en-GB" sz="2000" dirty="0" err="1"/>
              <a:t>статистички</a:t>
            </a:r>
            <a:r>
              <a:rPr lang="en-GB" sz="2000" dirty="0"/>
              <a:t> </a:t>
            </a:r>
            <a:r>
              <a:rPr lang="en-GB" sz="2000" dirty="0" err="1"/>
              <a:t>или</a:t>
            </a:r>
            <a:r>
              <a:rPr lang="en-GB" sz="2000" dirty="0"/>
              <a:t> </a:t>
            </a:r>
            <a:r>
              <a:rPr lang="en-GB" sz="2000" dirty="0" err="1"/>
              <a:t>фреквентни</a:t>
            </a:r>
            <a:r>
              <a:rPr lang="en-GB" sz="2000" dirty="0"/>
              <a:t> </a:t>
            </a:r>
            <a:r>
              <a:rPr lang="en-GB" sz="2000" dirty="0" err="1"/>
              <a:t>мерки</a:t>
            </a:r>
            <a:r>
              <a:rPr lang="en-GB" sz="2000" dirty="0"/>
              <a:t>, </a:t>
            </a:r>
            <a:r>
              <a:rPr lang="en-GB" sz="2000" dirty="0" err="1"/>
              <a:t>туку</a:t>
            </a:r>
            <a:r>
              <a:rPr lang="en-GB" sz="2000" dirty="0"/>
              <a:t> </a:t>
            </a:r>
            <a:r>
              <a:rPr lang="en-GB" sz="2000" dirty="0" err="1"/>
              <a:t>со</a:t>
            </a:r>
            <a:r>
              <a:rPr lang="en-GB" sz="2000" dirty="0"/>
              <a:t> </a:t>
            </a:r>
            <a:r>
              <a:rPr lang="en-GB" sz="2000" b="1" dirty="0" err="1"/>
              <a:t>математички</a:t>
            </a:r>
            <a:r>
              <a:rPr lang="en-GB" sz="2000" b="1" dirty="0"/>
              <a:t> </a:t>
            </a:r>
            <a:r>
              <a:rPr lang="en-GB" sz="2000" b="1" dirty="0" err="1"/>
              <a:t>индикатори</a:t>
            </a:r>
            <a:r>
              <a:rPr lang="en-GB" sz="2000" b="1" dirty="0"/>
              <a:t> </a:t>
            </a:r>
            <a:r>
              <a:rPr lang="en-GB" sz="2000" b="1" dirty="0" err="1"/>
              <a:t>за</a:t>
            </a:r>
            <a:r>
              <a:rPr lang="en-GB" sz="2000" b="1" dirty="0"/>
              <a:t> </a:t>
            </a:r>
            <a:r>
              <a:rPr lang="en-GB" sz="2000" b="1" dirty="0" err="1"/>
              <a:t>хаотичност</a:t>
            </a:r>
            <a:r>
              <a:rPr lang="en-GB" sz="2000" b="1" dirty="0"/>
              <a:t>, </a:t>
            </a:r>
            <a:r>
              <a:rPr lang="en-GB" sz="2000" b="1" dirty="0" err="1"/>
              <a:t>фрактална</a:t>
            </a:r>
            <a:r>
              <a:rPr lang="en-GB" sz="2000" b="1" dirty="0"/>
              <a:t> </a:t>
            </a:r>
            <a:r>
              <a:rPr lang="en-GB" sz="2000" b="1" dirty="0" err="1"/>
              <a:t>структура</a:t>
            </a:r>
            <a:r>
              <a:rPr lang="en-GB" sz="2000" b="1" dirty="0"/>
              <a:t> </a:t>
            </a:r>
            <a:r>
              <a:rPr lang="en-GB" sz="2000" b="1" dirty="0" err="1"/>
              <a:t>и</a:t>
            </a:r>
            <a:r>
              <a:rPr lang="en-GB" sz="2000" b="1" dirty="0"/>
              <a:t> </a:t>
            </a:r>
            <a:r>
              <a:rPr lang="en-GB" sz="2000" b="1" dirty="0" err="1"/>
              <a:t>самосличност</a:t>
            </a:r>
            <a:r>
              <a:rPr lang="en-GB" sz="2000" b="1" dirty="0"/>
              <a:t>. </a:t>
            </a:r>
            <a:r>
              <a:rPr lang="en-GB" sz="2000" dirty="0" err="1"/>
              <a:t>Овие</a:t>
            </a:r>
            <a:r>
              <a:rPr lang="en-GB" sz="2000" dirty="0"/>
              <a:t> </a:t>
            </a:r>
            <a:r>
              <a:rPr lang="en-GB" sz="2000" dirty="0" err="1"/>
              <a:t>мерки</a:t>
            </a:r>
            <a:r>
              <a:rPr lang="en-GB" sz="2000" dirty="0"/>
              <a:t> </a:t>
            </a:r>
            <a:r>
              <a:rPr lang="en-GB" sz="2000" dirty="0" err="1"/>
              <a:t>даваат</a:t>
            </a:r>
            <a:r>
              <a:rPr lang="en-GB" sz="2000" dirty="0"/>
              <a:t> </a:t>
            </a:r>
            <a:r>
              <a:rPr lang="en-GB" sz="2000" dirty="0" err="1"/>
              <a:t>длабоко</a:t>
            </a:r>
            <a:r>
              <a:rPr lang="en-GB" sz="2000" dirty="0"/>
              <a:t> </a:t>
            </a:r>
            <a:r>
              <a:rPr lang="en-GB" sz="2000" dirty="0" err="1"/>
              <a:t>разбирање</a:t>
            </a:r>
            <a:r>
              <a:rPr lang="en-GB" sz="2000" dirty="0"/>
              <a:t> </a:t>
            </a:r>
            <a:r>
              <a:rPr lang="en-GB" sz="2000" dirty="0" err="1"/>
              <a:t>на</a:t>
            </a:r>
            <a:r>
              <a:rPr lang="en-GB" sz="2000" dirty="0"/>
              <a:t> </a:t>
            </a:r>
            <a:r>
              <a:rPr lang="en-GB" sz="2000" dirty="0" err="1"/>
              <a:t>динамичноста</a:t>
            </a:r>
            <a:r>
              <a:rPr lang="en-GB" sz="2000" dirty="0"/>
              <a:t> </a:t>
            </a:r>
            <a:r>
              <a:rPr lang="en-GB" sz="2000" dirty="0" err="1"/>
              <a:t>и</a:t>
            </a:r>
            <a:r>
              <a:rPr lang="en-GB" sz="2000" dirty="0"/>
              <a:t> </a:t>
            </a:r>
            <a:r>
              <a:rPr lang="en-GB" sz="2000" dirty="0" err="1"/>
              <a:t>сложеноста</a:t>
            </a:r>
            <a:r>
              <a:rPr lang="en-GB" sz="2000" dirty="0"/>
              <a:t> </a:t>
            </a:r>
            <a:r>
              <a:rPr lang="en-GB" sz="2000" dirty="0" err="1"/>
              <a:t>на</a:t>
            </a:r>
            <a:r>
              <a:rPr lang="en-GB" sz="2000" dirty="0"/>
              <a:t> </a:t>
            </a:r>
            <a:r>
              <a:rPr lang="en-GB" sz="2000" dirty="0" err="1"/>
              <a:t>мозочната</a:t>
            </a:r>
            <a:r>
              <a:rPr lang="en-GB" sz="2000" dirty="0"/>
              <a:t> </a:t>
            </a:r>
            <a:r>
              <a:rPr lang="en-GB" sz="2000" dirty="0" err="1"/>
              <a:t>активност</a:t>
            </a:r>
            <a:r>
              <a:rPr lang="en-GB" sz="2000" dirty="0"/>
              <a:t>.</a:t>
            </a:r>
            <a:endParaRPr lang="en-MK" sz="2000" dirty="0"/>
          </a:p>
          <a:p>
            <a:pPr marL="0" indent="0">
              <a:buNone/>
            </a:pPr>
            <a:endParaRPr lang="en-MK" sz="2000" dirty="0"/>
          </a:p>
          <a:p>
            <a:r>
              <a:rPr lang="mk-MK" sz="2000" dirty="0"/>
              <a:t>Методот за екстракција на нелинеарни карактеристики ги прима </a:t>
            </a:r>
            <a:r>
              <a:rPr lang="mk-MK" sz="2000" b="1" dirty="0"/>
              <a:t>сигналите </a:t>
            </a:r>
            <a:r>
              <a:rPr lang="en-GB" sz="2000" b="1" dirty="0"/>
              <a:t>(time series </a:t>
            </a:r>
            <a:r>
              <a:rPr lang="en-GB" sz="2000" b="1" dirty="0" err="1"/>
              <a:t>под</a:t>
            </a:r>
            <a:r>
              <a:rPr lang="mk-MK" sz="2000" b="1" dirty="0" err="1"/>
              <a:t>аток</a:t>
            </a:r>
            <a:r>
              <a:rPr lang="en-GB" sz="2000" b="1" dirty="0"/>
              <a:t>) </a:t>
            </a:r>
            <a:r>
              <a:rPr lang="mk-MK" sz="2000" dirty="0"/>
              <a:t>како влезни податоци</a:t>
            </a:r>
            <a:r>
              <a:rPr lang="mk-MK" sz="2000" b="1" dirty="0"/>
              <a:t> </a:t>
            </a:r>
            <a:r>
              <a:rPr lang="mk-MK" sz="2000" dirty="0"/>
              <a:t>кои се </a:t>
            </a:r>
            <a:r>
              <a:rPr lang="mk-MK" sz="2000" b="1" dirty="0"/>
              <a:t>2</a:t>
            </a:r>
            <a:r>
              <a:rPr lang="en-GB" sz="2000" b="1" dirty="0"/>
              <a:t>D NumPy</a:t>
            </a:r>
            <a:r>
              <a:rPr lang="en-GB" sz="2000" dirty="0"/>
              <a:t> </a:t>
            </a:r>
            <a:r>
              <a:rPr lang="en-GB" sz="2000" b="1" dirty="0" err="1"/>
              <a:t>низа</a:t>
            </a:r>
            <a:r>
              <a:rPr lang="en-GB" sz="2000" dirty="0"/>
              <a:t> </a:t>
            </a:r>
            <a:r>
              <a:rPr lang="en-GB" sz="2000" dirty="0" err="1"/>
              <a:t>каде</a:t>
            </a:r>
            <a:r>
              <a:rPr lang="en-GB" sz="2000" dirty="0"/>
              <a:t> </a:t>
            </a:r>
            <a:r>
              <a:rPr lang="en-GB" sz="2000" dirty="0" err="1"/>
              <a:t>првата</a:t>
            </a:r>
            <a:r>
              <a:rPr lang="en-GB" sz="2000" dirty="0"/>
              <a:t> </a:t>
            </a:r>
            <a:r>
              <a:rPr lang="en-GB" sz="2000" dirty="0" err="1"/>
              <a:t>димензија</a:t>
            </a:r>
            <a:r>
              <a:rPr lang="en-GB" sz="2000" dirty="0"/>
              <a:t> </a:t>
            </a:r>
            <a:r>
              <a:rPr lang="en-GB" sz="2000" dirty="0" err="1"/>
              <a:t>се</a:t>
            </a:r>
            <a:r>
              <a:rPr lang="en-GB" sz="2000" dirty="0"/>
              <a:t> </a:t>
            </a:r>
            <a:r>
              <a:rPr lang="en-GB" sz="2000" dirty="0" err="1"/>
              <a:t>каналите</a:t>
            </a:r>
            <a:r>
              <a:rPr lang="en-GB" sz="2000" dirty="0"/>
              <a:t>, </a:t>
            </a:r>
            <a:r>
              <a:rPr lang="en-GB" sz="2000" dirty="0" err="1"/>
              <a:t>а</a:t>
            </a:r>
            <a:r>
              <a:rPr lang="en-GB" sz="2000" dirty="0"/>
              <a:t> </a:t>
            </a:r>
            <a:r>
              <a:rPr lang="en-GB" sz="2000" dirty="0" err="1"/>
              <a:t>втората</a:t>
            </a:r>
            <a:r>
              <a:rPr lang="en-GB" sz="2000" dirty="0"/>
              <a:t> </a:t>
            </a:r>
            <a:r>
              <a:rPr lang="en-GB" sz="2000" dirty="0" err="1"/>
              <a:t>се</a:t>
            </a:r>
            <a:r>
              <a:rPr lang="en-GB" sz="2000" dirty="0"/>
              <a:t> </a:t>
            </a:r>
            <a:r>
              <a:rPr lang="en-GB" sz="2000" dirty="0" err="1"/>
              <a:t>временските</a:t>
            </a:r>
            <a:r>
              <a:rPr lang="en-GB" sz="2000" dirty="0"/>
              <a:t> </a:t>
            </a:r>
            <a:r>
              <a:rPr lang="en-GB" sz="2000" dirty="0" err="1"/>
              <a:t>точки</a:t>
            </a:r>
            <a:endParaRPr lang="en-MK" sz="2000" dirty="0"/>
          </a:p>
          <a:p>
            <a:endParaRPr lang="en-MK" sz="2000" dirty="0"/>
          </a:p>
        </p:txBody>
      </p:sp>
    </p:spTree>
    <p:extLst>
      <p:ext uri="{BB962C8B-B14F-4D97-AF65-F5344CB8AC3E}">
        <p14:creationId xmlns:p14="http://schemas.microsoft.com/office/powerpoint/2010/main" val="2765145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F424-9D47-D0FC-BD15-30308548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Hjorth </a:t>
            </a:r>
            <a:r>
              <a:rPr lang="mk-MK" b="1" dirty="0"/>
              <a:t>параметри 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1F6E4-6F19-2F9B-E56B-17E59FD6B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3713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en-GB" b="1" dirty="0"/>
              <a:t>Hjorth </a:t>
            </a:r>
            <a:r>
              <a:rPr lang="mk-MK" b="1" dirty="0"/>
              <a:t>параметри </a:t>
            </a:r>
            <a:r>
              <a:rPr lang="mk-MK" dirty="0"/>
              <a:t>се 3 три статистички мерки развиени од Бо </a:t>
            </a:r>
            <a:r>
              <a:rPr lang="mk-MK" dirty="0" err="1"/>
              <a:t>Hjorth</a:t>
            </a:r>
            <a:r>
              <a:rPr lang="mk-MK" dirty="0"/>
              <a:t> за </a:t>
            </a:r>
            <a:r>
              <a:rPr lang="mk-MK" dirty="0" err="1"/>
              <a:t>квантификување</a:t>
            </a:r>
            <a:r>
              <a:rPr lang="mk-MK" dirty="0"/>
              <a:t> на карактеристиките на EEG сигнали</a:t>
            </a:r>
            <a:r>
              <a:rPr lang="en-GB" dirty="0"/>
              <a:t>, </a:t>
            </a:r>
            <a:r>
              <a:rPr lang="mk-MK" i="1" dirty="0"/>
              <a:t>поточно ја опишува активноста на сигналот и комплексноста</a:t>
            </a:r>
            <a:endParaRPr lang="en-MK" sz="2000" dirty="0"/>
          </a:p>
          <a:p>
            <a:endParaRPr lang="en-MK" sz="2400" dirty="0"/>
          </a:p>
          <a:p>
            <a:pPr lvl="2"/>
            <a:r>
              <a:rPr lang="mk-MK" b="1" dirty="0"/>
              <a:t>Активност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mk-MK" dirty="0"/>
              <a:t>мери </a:t>
            </a:r>
            <a:r>
              <a:rPr lang="mk-MK" dirty="0" err="1"/>
              <a:t>варијансата</a:t>
            </a:r>
            <a:r>
              <a:rPr lang="mk-MK" dirty="0"/>
              <a:t> на сигналот (не го користиме овој параметар)</a:t>
            </a:r>
            <a:endParaRPr lang="en-MK" sz="1800" dirty="0"/>
          </a:p>
          <a:p>
            <a:pPr lvl="3"/>
            <a:r>
              <a:rPr lang="mk-MK" dirty="0"/>
              <a:t>Претставува </a:t>
            </a:r>
            <a:r>
              <a:rPr lang="en-GB" dirty="0"/>
              <a:t>“</a:t>
            </a:r>
            <a:r>
              <a:rPr lang="mk-MK" dirty="0"/>
              <a:t>моќност” на сигналот </a:t>
            </a:r>
            <a:endParaRPr lang="en-MK" sz="1600" dirty="0"/>
          </a:p>
          <a:p>
            <a:endParaRPr lang="en-MK" sz="2400" dirty="0"/>
          </a:p>
          <a:p>
            <a:pPr lvl="2"/>
            <a:r>
              <a:rPr lang="mk-MK" b="1" dirty="0"/>
              <a:t>Комплексност </a:t>
            </a:r>
            <a:r>
              <a:rPr lang="mk-MK" dirty="0"/>
              <a:t>мери колку сигналот се разликува од чиста синусоида</a:t>
            </a:r>
            <a:endParaRPr lang="en-MK" sz="1800" dirty="0"/>
          </a:p>
          <a:p>
            <a:pPr lvl="3"/>
            <a:r>
              <a:rPr lang="mk-MK" dirty="0"/>
              <a:t>1.0 = чиста синусоида</a:t>
            </a:r>
            <a:endParaRPr lang="en-MK" sz="1600" dirty="0"/>
          </a:p>
          <a:p>
            <a:pPr lvl="3"/>
            <a:r>
              <a:rPr lang="mk-MK" dirty="0"/>
              <a:t>&gt; 1.0 = покомплексен од синусоида</a:t>
            </a:r>
            <a:endParaRPr lang="en-MK" sz="1600" dirty="0"/>
          </a:p>
          <a:p>
            <a:pPr lvl="3"/>
            <a:r>
              <a:rPr lang="mk-MK" b="1" dirty="0"/>
              <a:t>Повисоки вредности</a:t>
            </a:r>
            <a:r>
              <a:rPr lang="mk-MK" dirty="0"/>
              <a:t> = повеќе </a:t>
            </a:r>
            <a:r>
              <a:rPr lang="mk-MK" dirty="0" err="1"/>
              <a:t>фреквенциски</a:t>
            </a:r>
            <a:r>
              <a:rPr lang="mk-MK" dirty="0"/>
              <a:t> компоненти</a:t>
            </a:r>
            <a:endParaRPr lang="en-MK" sz="1600" dirty="0"/>
          </a:p>
          <a:p>
            <a:endParaRPr lang="en-MK" sz="2400" dirty="0"/>
          </a:p>
          <a:p>
            <a:pPr lvl="2"/>
            <a:r>
              <a:rPr lang="mk-MK" b="1" dirty="0"/>
              <a:t>Мобилност (подвижност) </a:t>
            </a:r>
            <a:r>
              <a:rPr lang="mk-MK" dirty="0"/>
              <a:t>ја мери средната фреквенција (просекот) на сигналот , поточно мери колку “</a:t>
            </a:r>
            <a:r>
              <a:rPr lang="en-GB" dirty="0" err="1"/>
              <a:t>б</a:t>
            </a:r>
            <a:r>
              <a:rPr lang="mk-MK" dirty="0" err="1"/>
              <a:t>рзо</a:t>
            </a:r>
            <a:r>
              <a:rPr lang="mk-MK" dirty="0"/>
              <a:t>” се менува сигналот </a:t>
            </a:r>
            <a:endParaRPr lang="en-MK" sz="1800" dirty="0"/>
          </a:p>
          <a:p>
            <a:pPr lvl="3"/>
            <a:r>
              <a:rPr lang="en-US" b="1" dirty="0" err="1"/>
              <a:t>Повисоки</a:t>
            </a:r>
            <a:r>
              <a:rPr lang="en-US" b="1" dirty="0"/>
              <a:t> </a:t>
            </a:r>
            <a:r>
              <a:rPr lang="en-US" b="1" dirty="0" err="1"/>
              <a:t>вредности</a:t>
            </a:r>
            <a:r>
              <a:rPr lang="en-US" dirty="0"/>
              <a:t> = </a:t>
            </a:r>
            <a:r>
              <a:rPr lang="en-US" dirty="0" err="1"/>
              <a:t>побрзи</a:t>
            </a:r>
            <a:r>
              <a:rPr lang="en-US" dirty="0"/>
              <a:t> </a:t>
            </a:r>
            <a:r>
              <a:rPr lang="en-US" dirty="0" err="1"/>
              <a:t>промени</a:t>
            </a:r>
            <a:r>
              <a:rPr lang="en-US" dirty="0"/>
              <a:t>, </a:t>
            </a:r>
            <a:r>
              <a:rPr lang="en-US" dirty="0" err="1"/>
              <a:t>повисоки</a:t>
            </a:r>
            <a:r>
              <a:rPr lang="en-US" dirty="0"/>
              <a:t> </a:t>
            </a:r>
            <a:r>
              <a:rPr lang="en-US" dirty="0" err="1"/>
              <a:t>фреквенции</a:t>
            </a:r>
            <a:r>
              <a:rPr lang="en-US" dirty="0"/>
              <a:t> </a:t>
            </a:r>
            <a:endParaRPr lang="en-MK" dirty="0"/>
          </a:p>
          <a:p>
            <a:pPr lvl="3"/>
            <a:r>
              <a:rPr lang="en-US" b="1" dirty="0" err="1"/>
              <a:t>Пониски</a:t>
            </a:r>
            <a:r>
              <a:rPr lang="en-US" b="1" dirty="0"/>
              <a:t> </a:t>
            </a:r>
            <a:r>
              <a:rPr lang="en-US" b="1" dirty="0" err="1"/>
              <a:t>вредности</a:t>
            </a:r>
            <a:r>
              <a:rPr lang="en-US" dirty="0"/>
              <a:t> = </a:t>
            </a:r>
            <a:r>
              <a:rPr lang="en-US" dirty="0" err="1"/>
              <a:t>побавни</a:t>
            </a:r>
            <a:r>
              <a:rPr lang="en-US" dirty="0"/>
              <a:t> </a:t>
            </a:r>
            <a:r>
              <a:rPr lang="en-US" dirty="0" err="1"/>
              <a:t>промени</a:t>
            </a:r>
            <a:r>
              <a:rPr lang="en-US" dirty="0"/>
              <a:t>, </a:t>
            </a:r>
            <a:r>
              <a:rPr lang="en-US" dirty="0" err="1"/>
              <a:t>пониски</a:t>
            </a:r>
            <a:r>
              <a:rPr lang="en-US" dirty="0"/>
              <a:t> </a:t>
            </a:r>
            <a:r>
              <a:rPr lang="en-US" dirty="0" err="1"/>
              <a:t>фреквенции</a:t>
            </a:r>
            <a:endParaRPr lang="en-MK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159576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784D6-6492-0DBA-5A2F-778C2322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Fractal dimension (</a:t>
            </a:r>
            <a:r>
              <a:rPr lang="en-GB" sz="3600" b="1" dirty="0" err="1"/>
              <a:t>ф</a:t>
            </a:r>
            <a:r>
              <a:rPr lang="mk-MK" sz="3600" b="1" dirty="0" err="1"/>
              <a:t>рактална</a:t>
            </a:r>
            <a:r>
              <a:rPr lang="mk-MK" sz="3600" b="1" dirty="0"/>
              <a:t> димензија)</a:t>
            </a:r>
            <a:r>
              <a:rPr lang="en-MK" sz="3600" dirty="0">
                <a:effectLst/>
              </a:rPr>
              <a:t> 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A50D-FEAF-4F2F-BB58-645100EC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244" y="1690688"/>
            <a:ext cx="10515600" cy="4351338"/>
          </a:xfrm>
        </p:spPr>
        <p:txBody>
          <a:bodyPr>
            <a:normAutofit fontScale="32500" lnSpcReduction="20000"/>
          </a:bodyPr>
          <a:lstStyle/>
          <a:p>
            <a:pPr marL="457200" lvl="1" indent="0">
              <a:buNone/>
            </a:pPr>
            <a:r>
              <a:rPr lang="en-GB" sz="4800" b="1" dirty="0"/>
              <a:t>Fractal dimension (</a:t>
            </a:r>
            <a:r>
              <a:rPr lang="en-GB" sz="4800" b="1" dirty="0" err="1"/>
              <a:t>ф</a:t>
            </a:r>
            <a:r>
              <a:rPr lang="mk-MK" sz="4800" b="1" dirty="0" err="1"/>
              <a:t>рактална</a:t>
            </a:r>
            <a:r>
              <a:rPr lang="mk-MK" sz="4800" b="1" dirty="0"/>
              <a:t> димензија) </a:t>
            </a:r>
            <a:r>
              <a:rPr lang="mk-MK" sz="4800" dirty="0"/>
              <a:t>ја</a:t>
            </a:r>
            <a:r>
              <a:rPr lang="en-GB" sz="4800" dirty="0"/>
              <a:t> </a:t>
            </a:r>
            <a:r>
              <a:rPr lang="en-GB" sz="4800" dirty="0" err="1"/>
              <a:t>мери</a:t>
            </a:r>
            <a:r>
              <a:rPr lang="en-GB" sz="4800" dirty="0"/>
              <a:t> "</a:t>
            </a:r>
            <a:r>
              <a:rPr lang="en-GB" sz="4800" dirty="0" err="1"/>
              <a:t>грубоста</a:t>
            </a:r>
            <a:r>
              <a:rPr lang="en-GB" sz="4800" dirty="0"/>
              <a:t>" </a:t>
            </a:r>
            <a:r>
              <a:rPr lang="en-GB" sz="4800" dirty="0" err="1"/>
              <a:t>или</a:t>
            </a:r>
            <a:r>
              <a:rPr lang="en-GB" sz="4800" dirty="0"/>
              <a:t> </a:t>
            </a:r>
            <a:r>
              <a:rPr lang="en-GB" sz="4800" dirty="0" err="1"/>
              <a:t>комплексноста</a:t>
            </a:r>
            <a:r>
              <a:rPr lang="en-GB" sz="4800" dirty="0"/>
              <a:t> </a:t>
            </a:r>
            <a:r>
              <a:rPr lang="en-GB" sz="4800" dirty="0" err="1"/>
              <a:t>на</a:t>
            </a:r>
            <a:r>
              <a:rPr lang="en-GB" sz="4800" dirty="0"/>
              <a:t> </a:t>
            </a:r>
            <a:r>
              <a:rPr lang="en-GB" sz="4800" dirty="0" err="1"/>
              <a:t>формата</a:t>
            </a:r>
            <a:r>
              <a:rPr lang="en-GB" sz="4800" dirty="0"/>
              <a:t>. </a:t>
            </a:r>
            <a:r>
              <a:rPr lang="en-GB" sz="4800" dirty="0" err="1"/>
              <a:t>Фракталите</a:t>
            </a:r>
            <a:r>
              <a:rPr lang="en-GB" sz="4800" dirty="0"/>
              <a:t> </a:t>
            </a:r>
            <a:r>
              <a:rPr lang="en-GB" sz="4800" dirty="0" err="1"/>
              <a:t>се</a:t>
            </a:r>
            <a:r>
              <a:rPr lang="en-GB" sz="4800" dirty="0"/>
              <a:t> </a:t>
            </a:r>
            <a:r>
              <a:rPr lang="en-GB" sz="4800" dirty="0" err="1"/>
              <a:t>геометриски</a:t>
            </a:r>
            <a:r>
              <a:rPr lang="en-GB" sz="4800" dirty="0"/>
              <a:t> </a:t>
            </a:r>
            <a:r>
              <a:rPr lang="en-GB" sz="4800" dirty="0" err="1"/>
              <a:t>објекти</a:t>
            </a:r>
            <a:r>
              <a:rPr lang="en-GB" sz="4800" dirty="0"/>
              <a:t> </a:t>
            </a:r>
            <a:r>
              <a:rPr lang="en-GB" sz="4800" dirty="0" err="1"/>
              <a:t>што</a:t>
            </a:r>
            <a:r>
              <a:rPr lang="en-GB" sz="4800" dirty="0"/>
              <a:t> </a:t>
            </a:r>
            <a:r>
              <a:rPr lang="en-GB" sz="4800" dirty="0" err="1"/>
              <a:t>покажуваат</a:t>
            </a:r>
            <a:r>
              <a:rPr lang="en-GB" sz="4800" dirty="0"/>
              <a:t> </a:t>
            </a:r>
            <a:r>
              <a:rPr lang="en-GB" sz="4800" dirty="0" err="1"/>
              <a:t>самосличност</a:t>
            </a:r>
            <a:r>
              <a:rPr lang="en-GB" sz="4800" dirty="0"/>
              <a:t> </a:t>
            </a:r>
            <a:r>
              <a:rPr lang="en-GB" sz="4800" dirty="0" err="1"/>
              <a:t>на</a:t>
            </a:r>
            <a:r>
              <a:rPr lang="en-GB" sz="4800" dirty="0"/>
              <a:t> </a:t>
            </a:r>
            <a:r>
              <a:rPr lang="en-GB" sz="4800" dirty="0" err="1"/>
              <a:t>различни</a:t>
            </a:r>
            <a:r>
              <a:rPr lang="en-GB" sz="4800" dirty="0"/>
              <a:t> </a:t>
            </a:r>
            <a:r>
              <a:rPr lang="en-GB" sz="4800" dirty="0" err="1"/>
              <a:t>скали</a:t>
            </a:r>
            <a:r>
              <a:rPr lang="en-GB" sz="4800" dirty="0"/>
              <a:t>.</a:t>
            </a:r>
            <a:r>
              <a:rPr lang="en-GB" sz="4000" dirty="0"/>
              <a:t> </a:t>
            </a:r>
          </a:p>
          <a:p>
            <a:pPr marL="457200" lvl="1" indent="0">
              <a:buNone/>
            </a:pPr>
            <a:endParaRPr lang="en-MK" sz="4800" dirty="0"/>
          </a:p>
          <a:p>
            <a:pPr lvl="2">
              <a:buFontTx/>
              <a:buChar char="-"/>
            </a:pPr>
            <a:r>
              <a:rPr lang="en-GB" sz="4900" b="1" i="1" dirty="0" err="1"/>
              <a:t>hfd</a:t>
            </a:r>
            <a:r>
              <a:rPr lang="en-GB" sz="4900" b="1" i="1" dirty="0"/>
              <a:t> (Higuchi Fractal Dimension)</a:t>
            </a:r>
            <a:r>
              <a:rPr lang="en-GB" sz="4900" i="1" dirty="0"/>
              <a:t>:</a:t>
            </a:r>
            <a:r>
              <a:rPr lang="en-GB" sz="4900" dirty="0"/>
              <a:t> </a:t>
            </a:r>
            <a:r>
              <a:rPr lang="en-GB" sz="4900" dirty="0" err="1"/>
              <a:t>jа</a:t>
            </a:r>
            <a:r>
              <a:rPr lang="en-GB" sz="4900" dirty="0"/>
              <a:t> </a:t>
            </a:r>
            <a:r>
              <a:rPr lang="en-GB" sz="4900" dirty="0" err="1"/>
              <a:t>мери</a:t>
            </a:r>
            <a:r>
              <a:rPr lang="en-GB" sz="4900" dirty="0"/>
              <a:t> </a:t>
            </a:r>
            <a:r>
              <a:rPr lang="en-GB" sz="4900" dirty="0" err="1"/>
              <a:t>фракталната</a:t>
            </a:r>
            <a:r>
              <a:rPr lang="en-GB" sz="4900" dirty="0"/>
              <a:t> </a:t>
            </a:r>
            <a:r>
              <a:rPr lang="en-GB" sz="4900" dirty="0" err="1"/>
              <a:t>димензија</a:t>
            </a:r>
            <a:r>
              <a:rPr lang="en-GB" sz="4900" dirty="0"/>
              <a:t> </a:t>
            </a:r>
            <a:r>
              <a:rPr lang="en-GB" sz="4900" dirty="0" err="1"/>
              <a:t>преку</a:t>
            </a:r>
            <a:r>
              <a:rPr lang="en-GB" sz="4900" dirty="0"/>
              <a:t> </a:t>
            </a:r>
            <a:r>
              <a:rPr lang="en-GB" sz="4900" dirty="0" err="1"/>
              <a:t>пресметување</a:t>
            </a:r>
            <a:r>
              <a:rPr lang="en-GB" sz="4900" dirty="0"/>
              <a:t> </a:t>
            </a:r>
            <a:r>
              <a:rPr lang="en-GB" sz="4900" dirty="0" err="1"/>
              <a:t>на</a:t>
            </a:r>
            <a:r>
              <a:rPr lang="en-GB" sz="4900" dirty="0"/>
              <a:t> </a:t>
            </a:r>
            <a:r>
              <a:rPr lang="en-GB" sz="4900" dirty="0" err="1"/>
              <a:t>должини</a:t>
            </a:r>
            <a:r>
              <a:rPr lang="en-GB" sz="4900" dirty="0"/>
              <a:t> </a:t>
            </a:r>
            <a:r>
              <a:rPr lang="en-GB" sz="4900" dirty="0" err="1"/>
              <a:t>на</a:t>
            </a:r>
            <a:r>
              <a:rPr lang="en-GB" sz="4900" dirty="0"/>
              <a:t> </a:t>
            </a:r>
            <a:r>
              <a:rPr lang="en-GB" sz="4900" dirty="0" err="1"/>
              <a:t>криви</a:t>
            </a:r>
            <a:r>
              <a:rPr lang="en-GB" sz="4900" dirty="0"/>
              <a:t> </a:t>
            </a:r>
            <a:r>
              <a:rPr lang="en-GB" sz="4900" dirty="0" err="1"/>
              <a:t>на</a:t>
            </a:r>
            <a:r>
              <a:rPr lang="en-GB" sz="4900" dirty="0"/>
              <a:t> </a:t>
            </a:r>
            <a:r>
              <a:rPr lang="en-GB" sz="4900" dirty="0" err="1"/>
              <a:t>различни</a:t>
            </a:r>
            <a:r>
              <a:rPr lang="en-GB" sz="4900" dirty="0"/>
              <a:t> </a:t>
            </a:r>
            <a:r>
              <a:rPr lang="en-GB" sz="4900" dirty="0" err="1"/>
              <a:t>скали</a:t>
            </a:r>
            <a:r>
              <a:rPr lang="mk-MK" sz="4900" dirty="0"/>
              <a:t>, </a:t>
            </a:r>
            <a:r>
              <a:rPr lang="mk-MK" sz="4900" i="1" dirty="0"/>
              <a:t>поточно ја мери </a:t>
            </a:r>
            <a:r>
              <a:rPr lang="mk-MK" sz="4900" i="1" dirty="0" err="1"/>
              <a:t>фракталната</a:t>
            </a:r>
            <a:r>
              <a:rPr lang="mk-MK" sz="4900" i="1" dirty="0"/>
              <a:t> сложеност на сигналот.</a:t>
            </a:r>
            <a:endParaRPr lang="en-US" sz="4900" i="1" dirty="0"/>
          </a:p>
          <a:p>
            <a:pPr lvl="2">
              <a:buFontTx/>
              <a:buChar char="-"/>
            </a:pPr>
            <a:endParaRPr lang="en-MK" sz="4800" dirty="0"/>
          </a:p>
          <a:p>
            <a:pPr marL="914400" lvl="2" indent="0">
              <a:buNone/>
            </a:pPr>
            <a:r>
              <a:rPr lang="en-GB" sz="4300" dirty="0"/>
              <a:t>1. </a:t>
            </a:r>
            <a:r>
              <a:rPr lang="en-GB" sz="4300" dirty="0" err="1"/>
              <a:t>Сигналот</a:t>
            </a:r>
            <a:r>
              <a:rPr lang="en-GB" sz="4300" dirty="0"/>
              <a:t> </a:t>
            </a:r>
            <a:r>
              <a:rPr lang="en-GB" sz="4300" dirty="0" err="1"/>
              <a:t>се</a:t>
            </a:r>
            <a:r>
              <a:rPr lang="en-GB" sz="4300" dirty="0"/>
              <a:t> </a:t>
            </a:r>
            <a:r>
              <a:rPr lang="en-GB" sz="4300" dirty="0" err="1"/>
              <a:t>дели</a:t>
            </a:r>
            <a:r>
              <a:rPr lang="en-GB" sz="4300" dirty="0"/>
              <a:t> </a:t>
            </a:r>
            <a:r>
              <a:rPr lang="en-GB" sz="4300" dirty="0" err="1"/>
              <a:t>на</a:t>
            </a:r>
            <a:r>
              <a:rPr lang="en-GB" sz="4300" dirty="0"/>
              <a:t> </a:t>
            </a:r>
            <a:r>
              <a:rPr lang="en-GB" sz="4300" dirty="0" err="1"/>
              <a:t>сегменти</a:t>
            </a:r>
            <a:r>
              <a:rPr lang="en-GB" sz="4300" dirty="0"/>
              <a:t> </a:t>
            </a:r>
            <a:r>
              <a:rPr lang="en-GB" sz="4300" dirty="0" err="1"/>
              <a:t>со</a:t>
            </a:r>
            <a:r>
              <a:rPr lang="en-GB" sz="4300" dirty="0"/>
              <a:t> </a:t>
            </a:r>
            <a:r>
              <a:rPr lang="en-GB" sz="4300" dirty="0" err="1"/>
              <a:t>различни</a:t>
            </a:r>
            <a:r>
              <a:rPr lang="en-GB" sz="4300" dirty="0"/>
              <a:t> </a:t>
            </a:r>
            <a:r>
              <a:rPr lang="en-GB" sz="4300" dirty="0" err="1"/>
              <a:t>чекори</a:t>
            </a:r>
            <a:r>
              <a:rPr lang="en-GB" sz="4300" dirty="0"/>
              <a:t> k (1 </a:t>
            </a:r>
            <a:r>
              <a:rPr lang="en-GB" sz="4300" dirty="0" err="1"/>
              <a:t>до</a:t>
            </a:r>
            <a:r>
              <a:rPr lang="en-GB" sz="4300" dirty="0"/>
              <a:t> </a:t>
            </a:r>
            <a:r>
              <a:rPr lang="en-GB" sz="4300" dirty="0" err="1"/>
              <a:t>Kmax</a:t>
            </a:r>
            <a:r>
              <a:rPr lang="en-GB" sz="4300" dirty="0"/>
              <a:t>)</a:t>
            </a:r>
            <a:endParaRPr lang="en-MK" sz="4300" dirty="0"/>
          </a:p>
          <a:p>
            <a:pPr marL="914400" lvl="2" indent="0">
              <a:buNone/>
            </a:pPr>
            <a:r>
              <a:rPr lang="en-GB" sz="4300" dirty="0"/>
              <a:t>2. </a:t>
            </a:r>
            <a:r>
              <a:rPr lang="en-GB" sz="4300" dirty="0" err="1"/>
              <a:t>За</a:t>
            </a:r>
            <a:r>
              <a:rPr lang="en-GB" sz="4300" dirty="0"/>
              <a:t> </a:t>
            </a:r>
            <a:r>
              <a:rPr lang="en-GB" sz="4300" dirty="0" err="1"/>
              <a:t>секој</a:t>
            </a:r>
            <a:r>
              <a:rPr lang="en-GB" sz="4300" dirty="0"/>
              <a:t> k </a:t>
            </a:r>
            <a:r>
              <a:rPr lang="en-GB" sz="4300" dirty="0" err="1"/>
              <a:t>се</a:t>
            </a:r>
            <a:r>
              <a:rPr lang="en-GB" sz="4300" dirty="0"/>
              <a:t> </a:t>
            </a:r>
            <a:r>
              <a:rPr lang="en-GB" sz="4300" dirty="0" err="1"/>
              <a:t>пресметува</a:t>
            </a:r>
            <a:r>
              <a:rPr lang="en-GB" sz="4300" dirty="0"/>
              <a:t> </a:t>
            </a:r>
            <a:r>
              <a:rPr lang="en-GB" sz="4300" dirty="0" err="1"/>
              <a:t>должината</a:t>
            </a:r>
            <a:r>
              <a:rPr lang="en-GB" sz="4300" dirty="0"/>
              <a:t> </a:t>
            </a:r>
            <a:r>
              <a:rPr lang="en-GB" sz="4300" dirty="0" err="1"/>
              <a:t>на</a:t>
            </a:r>
            <a:r>
              <a:rPr lang="en-GB" sz="4300" dirty="0"/>
              <a:t> </a:t>
            </a:r>
            <a:r>
              <a:rPr lang="en-GB" sz="4300" dirty="0" err="1"/>
              <a:t>кривата</a:t>
            </a:r>
            <a:endParaRPr lang="en-MK" sz="4300" dirty="0"/>
          </a:p>
          <a:p>
            <a:pPr marL="914400" lvl="2" indent="0">
              <a:buNone/>
            </a:pPr>
            <a:r>
              <a:rPr lang="en-GB" sz="4300" dirty="0"/>
              <a:t>3. </a:t>
            </a:r>
            <a:r>
              <a:rPr lang="en-GB" sz="4300" dirty="0" err="1"/>
              <a:t>Фракталната</a:t>
            </a:r>
            <a:r>
              <a:rPr lang="en-GB" sz="4300" dirty="0"/>
              <a:t> </a:t>
            </a:r>
            <a:r>
              <a:rPr lang="en-GB" sz="4300" dirty="0" err="1"/>
              <a:t>димензија</a:t>
            </a:r>
            <a:r>
              <a:rPr lang="en-GB" sz="4300" dirty="0"/>
              <a:t> </a:t>
            </a:r>
            <a:r>
              <a:rPr lang="en-GB" sz="4300" dirty="0" err="1"/>
              <a:t>се</a:t>
            </a:r>
            <a:r>
              <a:rPr lang="en-GB" sz="4300" dirty="0"/>
              <a:t> </a:t>
            </a:r>
            <a:r>
              <a:rPr lang="en-GB" sz="4300" dirty="0" err="1"/>
              <a:t>добива</a:t>
            </a:r>
            <a:r>
              <a:rPr lang="en-GB" sz="4300" dirty="0"/>
              <a:t> </a:t>
            </a:r>
            <a:r>
              <a:rPr lang="en-GB" sz="4300" dirty="0" err="1"/>
              <a:t>од</a:t>
            </a:r>
            <a:r>
              <a:rPr lang="en-GB" sz="4300" dirty="0"/>
              <a:t> </a:t>
            </a:r>
            <a:r>
              <a:rPr lang="en-GB" sz="4300" dirty="0" err="1"/>
              <a:t>наклонот</a:t>
            </a:r>
            <a:r>
              <a:rPr lang="en-GB" sz="4300" dirty="0"/>
              <a:t> </a:t>
            </a:r>
            <a:r>
              <a:rPr lang="en-GB" sz="4300" dirty="0" err="1"/>
              <a:t>во</a:t>
            </a:r>
            <a:r>
              <a:rPr lang="en-GB" sz="4300" dirty="0"/>
              <a:t> log-log </a:t>
            </a:r>
            <a:r>
              <a:rPr lang="en-GB" sz="4300" dirty="0" err="1"/>
              <a:t>координати</a:t>
            </a:r>
            <a:endParaRPr lang="en-MK" sz="4300" dirty="0"/>
          </a:p>
          <a:p>
            <a:pPr marL="0" indent="0">
              <a:buNone/>
            </a:pPr>
            <a:r>
              <a:rPr lang="en-US" sz="4800" b="1" dirty="0"/>
              <a:t>	</a:t>
            </a:r>
            <a:r>
              <a:rPr lang="mk-MK" sz="3700" b="1" dirty="0"/>
              <a:t>Поголеми вредности</a:t>
            </a:r>
            <a:r>
              <a:rPr lang="mk-MK" sz="3700" dirty="0"/>
              <a:t> = посложен, </a:t>
            </a:r>
            <a:r>
              <a:rPr lang="mk-MK" sz="3700" dirty="0" err="1"/>
              <a:t>понеуреден</a:t>
            </a:r>
            <a:r>
              <a:rPr lang="mk-MK" sz="3700" dirty="0"/>
              <a:t> сигнал.</a:t>
            </a:r>
            <a:endParaRPr lang="en-US" sz="3700" dirty="0"/>
          </a:p>
          <a:p>
            <a:pPr marL="0" indent="0">
              <a:buNone/>
            </a:pPr>
            <a:endParaRPr lang="en-MK" sz="3000" dirty="0"/>
          </a:p>
          <a:p>
            <a:pPr marL="914400" lvl="2" indent="0">
              <a:buNone/>
            </a:pPr>
            <a:r>
              <a:rPr lang="en-GB" sz="4900" b="1" i="1" dirty="0"/>
              <a:t>- </a:t>
            </a:r>
            <a:r>
              <a:rPr lang="en-GB" sz="4900" b="1" i="1" dirty="0" err="1"/>
              <a:t>pfd</a:t>
            </a:r>
            <a:r>
              <a:rPr lang="en-GB" sz="4900" b="1" i="1" dirty="0"/>
              <a:t> (Petrosian Fractal Dimension)</a:t>
            </a:r>
            <a:r>
              <a:rPr lang="en-GB" sz="4900" dirty="0"/>
              <a:t>: </a:t>
            </a:r>
            <a:r>
              <a:rPr lang="mk-MK" sz="4900" dirty="0"/>
              <a:t>ј</a:t>
            </a:r>
            <a:r>
              <a:rPr lang="en-GB" sz="4900" dirty="0" err="1"/>
              <a:t>а</a:t>
            </a:r>
            <a:r>
              <a:rPr lang="en-GB" sz="4900" dirty="0"/>
              <a:t> </a:t>
            </a:r>
            <a:r>
              <a:rPr lang="en-GB" sz="4900" dirty="0" err="1"/>
              <a:t>мери</a:t>
            </a:r>
            <a:r>
              <a:rPr lang="en-GB" sz="4900" dirty="0"/>
              <a:t> </a:t>
            </a:r>
            <a:r>
              <a:rPr lang="en-GB" sz="4900" dirty="0" err="1"/>
              <a:t>комплексноста</a:t>
            </a:r>
            <a:r>
              <a:rPr lang="en-GB" sz="4900" dirty="0"/>
              <a:t> </a:t>
            </a:r>
            <a:r>
              <a:rPr lang="en-GB" sz="4900" dirty="0" err="1"/>
              <a:t>преку</a:t>
            </a:r>
            <a:r>
              <a:rPr lang="en-GB" sz="4900" dirty="0"/>
              <a:t> </a:t>
            </a:r>
            <a:r>
              <a:rPr lang="en-GB" sz="4900" dirty="0" err="1"/>
              <a:t>броење</a:t>
            </a:r>
            <a:r>
              <a:rPr lang="en-GB" sz="4900" dirty="0"/>
              <a:t> </a:t>
            </a:r>
            <a:r>
              <a:rPr lang="en-GB" sz="4900" dirty="0" err="1"/>
              <a:t>на</a:t>
            </a:r>
            <a:r>
              <a:rPr lang="en-GB" sz="4900" dirty="0"/>
              <a:t> </a:t>
            </a:r>
            <a:r>
              <a:rPr lang="en-GB" sz="4900" dirty="0" err="1"/>
              <a:t>промени</a:t>
            </a:r>
            <a:r>
              <a:rPr lang="en-GB" sz="4900" dirty="0"/>
              <a:t> </a:t>
            </a:r>
            <a:r>
              <a:rPr lang="en-GB" sz="4900" dirty="0" err="1"/>
              <a:t>во</a:t>
            </a:r>
            <a:r>
              <a:rPr lang="en-GB" sz="4900" dirty="0"/>
              <a:t> </a:t>
            </a:r>
            <a:r>
              <a:rPr lang="en-GB" sz="4900" dirty="0" err="1"/>
              <a:t>правецот</a:t>
            </a:r>
            <a:r>
              <a:rPr lang="en-GB" sz="4900" dirty="0"/>
              <a:t> </a:t>
            </a:r>
            <a:r>
              <a:rPr lang="en-GB" sz="4900" dirty="0" err="1"/>
              <a:t>на</a:t>
            </a:r>
            <a:r>
              <a:rPr lang="en-GB" sz="4900" dirty="0"/>
              <a:t> </a:t>
            </a:r>
            <a:r>
              <a:rPr lang="en-GB" sz="4900" dirty="0" err="1"/>
              <a:t>сигналот</a:t>
            </a:r>
            <a:br>
              <a:rPr lang="en-GB" sz="4000" dirty="0"/>
            </a:br>
            <a:endParaRPr lang="en-MK" sz="4800" dirty="0"/>
          </a:p>
          <a:p>
            <a:pPr marL="914400" lvl="2" indent="0">
              <a:buNone/>
            </a:pPr>
            <a:r>
              <a:rPr lang="en-US" sz="4000" dirty="0"/>
              <a:t>1. </a:t>
            </a:r>
            <a:r>
              <a:rPr lang="mk-MK" sz="4000" dirty="0"/>
              <a:t>Го б</a:t>
            </a:r>
            <a:r>
              <a:rPr lang="en-GB" sz="4000" dirty="0" err="1"/>
              <a:t>инаризира</a:t>
            </a:r>
            <a:r>
              <a:rPr lang="en-GB" sz="4000" dirty="0"/>
              <a:t> </a:t>
            </a:r>
            <a:r>
              <a:rPr lang="en-GB" sz="4000" dirty="0" err="1"/>
              <a:t>сигналот</a:t>
            </a:r>
            <a:r>
              <a:rPr lang="en-GB" sz="4000" dirty="0"/>
              <a:t> (1 </a:t>
            </a:r>
            <a:r>
              <a:rPr lang="en-GB" sz="4000" dirty="0" err="1"/>
              <a:t>ако</a:t>
            </a:r>
            <a:r>
              <a:rPr lang="en-GB" sz="4000" dirty="0"/>
              <a:t> </a:t>
            </a:r>
            <a:r>
              <a:rPr lang="en-GB" sz="4000" dirty="0" err="1"/>
              <a:t>се</a:t>
            </a:r>
            <a:r>
              <a:rPr lang="en-GB" sz="4000" dirty="0"/>
              <a:t> </a:t>
            </a:r>
            <a:r>
              <a:rPr lang="en-GB" sz="4000" dirty="0" err="1"/>
              <a:t>зголемува</a:t>
            </a:r>
            <a:r>
              <a:rPr lang="en-GB" sz="4000" dirty="0"/>
              <a:t>, 0 </a:t>
            </a:r>
            <a:r>
              <a:rPr lang="en-GB" sz="4000" dirty="0" err="1"/>
              <a:t>ако</a:t>
            </a:r>
            <a:r>
              <a:rPr lang="en-GB" sz="4000" dirty="0"/>
              <a:t> </a:t>
            </a:r>
            <a:r>
              <a:rPr lang="en-GB" sz="4000" dirty="0" err="1"/>
              <a:t>се</a:t>
            </a:r>
            <a:r>
              <a:rPr lang="en-GB" sz="4000" dirty="0"/>
              <a:t> </a:t>
            </a:r>
            <a:r>
              <a:rPr lang="en-GB" sz="4000" dirty="0" err="1"/>
              <a:t>намалува</a:t>
            </a:r>
            <a:r>
              <a:rPr lang="en-GB" sz="4000" dirty="0"/>
              <a:t>)</a:t>
            </a:r>
            <a:endParaRPr lang="en-MK" sz="4000" dirty="0"/>
          </a:p>
          <a:p>
            <a:pPr marL="914400" lvl="2" indent="0">
              <a:buNone/>
            </a:pPr>
            <a:r>
              <a:rPr lang="en-GB" sz="4000" dirty="0"/>
              <a:t>2. </a:t>
            </a:r>
            <a:r>
              <a:rPr lang="en-GB" sz="4000" dirty="0" err="1"/>
              <a:t>Брои</a:t>
            </a:r>
            <a:r>
              <a:rPr lang="en-GB" sz="4000" dirty="0"/>
              <a:t> </a:t>
            </a:r>
            <a:r>
              <a:rPr lang="en-GB" sz="4000" dirty="0" err="1"/>
              <a:t>колку</a:t>
            </a:r>
            <a:r>
              <a:rPr lang="en-GB" sz="4000" dirty="0"/>
              <a:t> </a:t>
            </a:r>
            <a:r>
              <a:rPr lang="en-GB" sz="4000" dirty="0" err="1"/>
              <a:t>пати</a:t>
            </a:r>
            <a:r>
              <a:rPr lang="en-GB" sz="4000" dirty="0"/>
              <a:t> </a:t>
            </a:r>
            <a:r>
              <a:rPr lang="en-GB" sz="4000" dirty="0" err="1"/>
              <a:t>се</a:t>
            </a:r>
            <a:r>
              <a:rPr lang="en-GB" sz="4000" dirty="0"/>
              <a:t> </a:t>
            </a:r>
            <a:r>
              <a:rPr lang="en-GB" sz="4000" dirty="0" err="1"/>
              <a:t>менува</a:t>
            </a:r>
            <a:r>
              <a:rPr lang="en-GB" sz="4000" dirty="0"/>
              <a:t> </a:t>
            </a:r>
            <a:r>
              <a:rPr lang="en-GB" sz="4000" dirty="0" err="1"/>
              <a:t>правецот</a:t>
            </a:r>
            <a:endParaRPr lang="en-MK" sz="4000" dirty="0"/>
          </a:p>
          <a:p>
            <a:pPr marL="914400" lvl="2" indent="0">
              <a:buNone/>
            </a:pPr>
            <a:r>
              <a:rPr lang="en-GB" sz="3100" dirty="0"/>
              <a:t>3. </a:t>
            </a:r>
            <a:r>
              <a:rPr lang="en-GB" sz="3100" dirty="0" err="1"/>
              <a:t>Нормализира</a:t>
            </a:r>
            <a:r>
              <a:rPr lang="en-GB" sz="3100" dirty="0"/>
              <a:t> </a:t>
            </a:r>
            <a:r>
              <a:rPr lang="en-GB" sz="3100" dirty="0" err="1"/>
              <a:t>спрема</a:t>
            </a:r>
            <a:r>
              <a:rPr lang="en-GB" sz="3100" dirty="0"/>
              <a:t> </a:t>
            </a:r>
            <a:r>
              <a:rPr lang="en-GB" sz="3100" dirty="0" err="1"/>
              <a:t>должината</a:t>
            </a:r>
            <a:r>
              <a:rPr lang="en-GB" sz="3100" dirty="0"/>
              <a:t> </a:t>
            </a:r>
            <a:r>
              <a:rPr lang="en-GB" sz="3100" dirty="0" err="1"/>
              <a:t>на</a:t>
            </a:r>
            <a:r>
              <a:rPr lang="en-GB" sz="3100" dirty="0"/>
              <a:t> </a:t>
            </a:r>
            <a:r>
              <a:rPr lang="en-GB" sz="3100" dirty="0" err="1"/>
              <a:t>сигналот</a:t>
            </a:r>
            <a:br>
              <a:rPr lang="en-GB" sz="3100" dirty="0"/>
            </a:br>
            <a:endParaRPr lang="en-MK" sz="3100" dirty="0"/>
          </a:p>
          <a:p>
            <a:pPr marL="914400" lvl="2" indent="0">
              <a:buNone/>
            </a:pPr>
            <a:r>
              <a:rPr lang="en-GB" sz="3700" b="1" dirty="0" err="1"/>
              <a:t>Повисоки</a:t>
            </a:r>
            <a:r>
              <a:rPr lang="en-GB" sz="3700" b="1" dirty="0"/>
              <a:t> </a:t>
            </a:r>
            <a:r>
              <a:rPr lang="en-GB" sz="3700" b="1" dirty="0" err="1"/>
              <a:t>вредности</a:t>
            </a:r>
            <a:r>
              <a:rPr lang="en-GB" sz="3700" b="1" dirty="0"/>
              <a:t> </a:t>
            </a:r>
            <a:r>
              <a:rPr lang="en-GB" sz="3700" dirty="0"/>
              <a:t>= </a:t>
            </a:r>
            <a:r>
              <a:rPr lang="en-GB" sz="3700" dirty="0" err="1"/>
              <a:t>повеќе</a:t>
            </a:r>
            <a:r>
              <a:rPr lang="en-GB" sz="3700" dirty="0"/>
              <a:t> </a:t>
            </a:r>
            <a:r>
              <a:rPr lang="en-GB" sz="3700" dirty="0" err="1"/>
              <a:t>промени</a:t>
            </a:r>
            <a:r>
              <a:rPr lang="en-GB" sz="3700" dirty="0"/>
              <a:t> </a:t>
            </a:r>
            <a:r>
              <a:rPr lang="en-GB" sz="3700" dirty="0" err="1"/>
              <a:t>во</a:t>
            </a:r>
            <a:r>
              <a:rPr lang="en-GB" sz="3700" dirty="0"/>
              <a:t> </a:t>
            </a:r>
            <a:r>
              <a:rPr lang="en-GB" sz="3700" dirty="0" err="1"/>
              <a:t>правец</a:t>
            </a:r>
            <a:endParaRPr lang="en-MK" sz="3700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54651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636C-9061-1B81-F880-31686EF5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1" dirty="0"/>
              <a:t>Hurst</a:t>
            </a:r>
            <a:r>
              <a:rPr lang="mk-MK" sz="3200" b="1" i="1" dirty="0"/>
              <a:t> експонент</a:t>
            </a:r>
            <a:r>
              <a:rPr lang="en-GB" sz="3200" b="1" i="1" dirty="0"/>
              <a:t>: </a:t>
            </a:r>
            <a:r>
              <a:rPr lang="mk-MK" sz="3200" b="1" i="1" dirty="0"/>
              <a:t>(</a:t>
            </a:r>
            <a:r>
              <a:rPr lang="en-GB" sz="3200" b="1" i="1" dirty="0" err="1"/>
              <a:t>Хурст</a:t>
            </a:r>
            <a:r>
              <a:rPr lang="en-GB" sz="3200" b="1" i="1" dirty="0"/>
              <a:t> </a:t>
            </a:r>
            <a:r>
              <a:rPr lang="en-GB" sz="3200" b="1" i="1" dirty="0" err="1"/>
              <a:t>експонентот</a:t>
            </a:r>
            <a:r>
              <a:rPr lang="mk-MK" sz="3200" b="1" i="1" dirty="0"/>
              <a:t>)</a:t>
            </a:r>
            <a:r>
              <a:rPr lang="en-MK" sz="3200" dirty="0">
                <a:effectLst/>
              </a:rPr>
              <a:t> </a:t>
            </a:r>
            <a:endParaRPr lang="en-M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0AAFC-80C3-99E9-E911-39AE3151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 b="1" i="1" dirty="0"/>
              <a:t>Hurst</a:t>
            </a:r>
            <a:r>
              <a:rPr lang="mk-MK" b="1" i="1" dirty="0"/>
              <a:t> експонент</a:t>
            </a:r>
            <a:r>
              <a:rPr lang="en-GB" b="1" i="1" dirty="0"/>
              <a:t>: </a:t>
            </a:r>
            <a:r>
              <a:rPr lang="mk-MK" b="1" i="1" dirty="0"/>
              <a:t>(</a:t>
            </a:r>
            <a:r>
              <a:rPr lang="en-GB" b="1" i="1" dirty="0" err="1"/>
              <a:t>Хурст</a:t>
            </a:r>
            <a:r>
              <a:rPr lang="en-GB" b="1" i="1" dirty="0"/>
              <a:t> </a:t>
            </a:r>
            <a:r>
              <a:rPr lang="en-GB" b="1" i="1" dirty="0" err="1"/>
              <a:t>експонентот</a:t>
            </a:r>
            <a:r>
              <a:rPr lang="mk-MK" b="1" i="1" dirty="0"/>
              <a:t>)</a:t>
            </a:r>
            <a:r>
              <a:rPr lang="en-GB" b="1" i="1" dirty="0"/>
              <a:t>:</a:t>
            </a:r>
            <a:r>
              <a:rPr lang="en-GB" dirty="0"/>
              <a:t> </a:t>
            </a:r>
            <a:r>
              <a:rPr lang="en-GB" dirty="0" err="1"/>
              <a:t>мерка</a:t>
            </a:r>
            <a:r>
              <a:rPr lang="en-GB" dirty="0"/>
              <a:t> </a:t>
            </a:r>
            <a:r>
              <a:rPr lang="en-GB" dirty="0" err="1"/>
              <a:t>за</a:t>
            </a:r>
            <a:r>
              <a:rPr lang="en-GB" dirty="0"/>
              <a:t> </a:t>
            </a:r>
            <a:r>
              <a:rPr lang="en-GB" dirty="0" err="1"/>
              <a:t>долгорочна</a:t>
            </a:r>
            <a:r>
              <a:rPr lang="en-GB" dirty="0"/>
              <a:t> </a:t>
            </a:r>
            <a:r>
              <a:rPr lang="en-GB" dirty="0" err="1"/>
              <a:t>корелација</a:t>
            </a:r>
            <a:r>
              <a:rPr lang="mk-MK" dirty="0"/>
              <a:t>, </a:t>
            </a:r>
            <a:r>
              <a:rPr lang="mk-MK" i="1" dirty="0"/>
              <a:t>поточно мери долгорочна меморија и </a:t>
            </a:r>
            <a:r>
              <a:rPr lang="mk-MK" i="1" dirty="0" err="1"/>
              <a:t>самосличност</a:t>
            </a:r>
            <a:r>
              <a:rPr lang="mk-MK" i="1" dirty="0"/>
              <a:t> на сигналот</a:t>
            </a:r>
            <a:endParaRPr lang="en-MK" sz="2000" dirty="0"/>
          </a:p>
          <a:p>
            <a:endParaRPr lang="en-MK" sz="2400" dirty="0"/>
          </a:p>
          <a:p>
            <a:pPr marL="914400" lvl="2" indent="0">
              <a:buNone/>
            </a:pPr>
            <a:r>
              <a:rPr lang="en-US" sz="1800" dirty="0"/>
              <a:t>1. </a:t>
            </a:r>
            <a:r>
              <a:rPr lang="en-US" sz="1800" dirty="0" err="1"/>
              <a:t>Ги</a:t>
            </a:r>
            <a:r>
              <a:rPr lang="en-US" sz="1800" dirty="0"/>
              <a:t> </a:t>
            </a:r>
            <a:r>
              <a:rPr lang="en-US" sz="1800" dirty="0" err="1"/>
              <a:t>пресметува</a:t>
            </a:r>
            <a:r>
              <a:rPr lang="en-US" sz="1800" dirty="0"/>
              <a:t> </a:t>
            </a:r>
            <a:r>
              <a:rPr lang="en-US" sz="1800" dirty="0" err="1"/>
              <a:t>кумулативните</a:t>
            </a:r>
            <a:r>
              <a:rPr lang="en-US" sz="1800" dirty="0"/>
              <a:t> </a:t>
            </a:r>
            <a:r>
              <a:rPr lang="en-US" sz="1800" dirty="0" err="1"/>
              <a:t>отстапувања</a:t>
            </a:r>
            <a:r>
              <a:rPr lang="en-US" sz="1800" dirty="0"/>
              <a:t> </a:t>
            </a:r>
            <a:r>
              <a:rPr lang="en-US" sz="1800" dirty="0" err="1"/>
              <a:t>од</a:t>
            </a:r>
            <a:r>
              <a:rPr lang="en-US" sz="1800" dirty="0"/>
              <a:t> </a:t>
            </a:r>
            <a:r>
              <a:rPr lang="en-US" sz="1800" dirty="0" err="1"/>
              <a:t>средната</a:t>
            </a:r>
            <a:r>
              <a:rPr lang="en-US" sz="1800" dirty="0"/>
              <a:t> </a:t>
            </a:r>
            <a:r>
              <a:rPr lang="en-US" sz="1800" dirty="0" err="1"/>
              <a:t>вредност</a:t>
            </a:r>
            <a:r>
              <a:rPr lang="en-US" sz="1800" dirty="0"/>
              <a:t> </a:t>
            </a:r>
            <a:endParaRPr lang="en-MK" sz="1800" dirty="0"/>
          </a:p>
          <a:p>
            <a:pPr marL="914400" lvl="2" indent="0">
              <a:buNone/>
            </a:pPr>
            <a:r>
              <a:rPr lang="en-US" sz="1800" dirty="0"/>
              <a:t>2. </a:t>
            </a:r>
            <a:r>
              <a:rPr lang="en-US" sz="1800" dirty="0" err="1"/>
              <a:t>Ја</a:t>
            </a:r>
            <a:r>
              <a:rPr lang="en-US" sz="1800" dirty="0"/>
              <a:t> </a:t>
            </a:r>
            <a:r>
              <a:rPr lang="en-US" sz="1800" dirty="0" err="1"/>
              <a:t>пресметува</a:t>
            </a:r>
            <a:r>
              <a:rPr lang="en-US" sz="1800" dirty="0"/>
              <a:t> </a:t>
            </a:r>
            <a:r>
              <a:rPr lang="en-US" sz="1800" dirty="0" err="1"/>
              <a:t>разликата</a:t>
            </a:r>
            <a:r>
              <a:rPr lang="en-US" sz="1800" dirty="0"/>
              <a:t> </a:t>
            </a:r>
            <a:r>
              <a:rPr lang="en-US" sz="1800" dirty="0" err="1"/>
              <a:t>помеѓу</a:t>
            </a:r>
            <a:r>
              <a:rPr lang="en-US" sz="1800" dirty="0"/>
              <a:t> </a:t>
            </a:r>
            <a:r>
              <a:rPr lang="en-US" sz="1800" dirty="0" err="1"/>
              <a:t>мин</a:t>
            </a:r>
            <a:r>
              <a:rPr lang="en-US" sz="1800" dirty="0"/>
              <a:t>/</a:t>
            </a:r>
            <a:r>
              <a:rPr lang="en-US" sz="1800" dirty="0" err="1"/>
              <a:t>макс</a:t>
            </a:r>
            <a:r>
              <a:rPr lang="en-US" sz="1800" dirty="0"/>
              <a:t> </a:t>
            </a:r>
            <a:r>
              <a:rPr lang="en-US" sz="1800" dirty="0" err="1"/>
              <a:t>вредности</a:t>
            </a:r>
            <a:r>
              <a:rPr lang="en-US" sz="1800" dirty="0"/>
              <a:t> (Range) </a:t>
            </a:r>
            <a:endParaRPr lang="en-MK" sz="1800" dirty="0"/>
          </a:p>
          <a:p>
            <a:pPr marL="914400" lvl="2" indent="0">
              <a:buNone/>
            </a:pPr>
            <a:r>
              <a:rPr lang="en-US" sz="1800" dirty="0"/>
              <a:t>3. </a:t>
            </a:r>
            <a:r>
              <a:rPr lang="en-US" sz="1800" dirty="0" err="1"/>
              <a:t>Ја</a:t>
            </a:r>
            <a:r>
              <a:rPr lang="en-US" sz="1800" dirty="0"/>
              <a:t> </a:t>
            </a:r>
            <a:r>
              <a:rPr lang="en-US" sz="1800" dirty="0" err="1"/>
              <a:t>нормализира</a:t>
            </a:r>
            <a:r>
              <a:rPr lang="en-US" sz="1800" dirty="0"/>
              <a:t> </a:t>
            </a:r>
            <a:r>
              <a:rPr lang="en-US" sz="1800" dirty="0" err="1"/>
              <a:t>со</a:t>
            </a:r>
            <a:r>
              <a:rPr lang="en-US" sz="1800" dirty="0"/>
              <a:t> </a:t>
            </a:r>
            <a:r>
              <a:rPr lang="en-US" sz="1800" dirty="0" err="1"/>
              <a:t>стандардна</a:t>
            </a:r>
            <a:r>
              <a:rPr lang="en-US" sz="1800" dirty="0"/>
              <a:t> </a:t>
            </a:r>
            <a:r>
              <a:rPr lang="en-US" sz="1800" dirty="0" err="1"/>
              <a:t>девијација</a:t>
            </a:r>
            <a:r>
              <a:rPr lang="en-US" sz="1800" dirty="0"/>
              <a:t> (Rescaled) </a:t>
            </a:r>
            <a:endParaRPr lang="en-MK" sz="1800" dirty="0"/>
          </a:p>
          <a:p>
            <a:pPr marL="914400" lvl="2" indent="0">
              <a:buNone/>
            </a:pPr>
            <a:r>
              <a:rPr lang="en-US" sz="1800" dirty="0"/>
              <a:t>4. </a:t>
            </a:r>
            <a:r>
              <a:rPr lang="en-US" sz="1800" dirty="0" err="1"/>
              <a:t>Наклонот</a:t>
            </a:r>
            <a:r>
              <a:rPr lang="en-US" sz="1800" dirty="0"/>
              <a:t> </a:t>
            </a:r>
            <a:r>
              <a:rPr lang="en-US" sz="1800" dirty="0" err="1"/>
              <a:t>во</a:t>
            </a:r>
            <a:r>
              <a:rPr lang="en-US" sz="1800" dirty="0"/>
              <a:t> log-log </a:t>
            </a:r>
            <a:r>
              <a:rPr lang="en-US" sz="1800" dirty="0" err="1"/>
              <a:t>е</a:t>
            </a:r>
            <a:r>
              <a:rPr lang="en-US" sz="1800" dirty="0"/>
              <a:t> Hurst </a:t>
            </a:r>
            <a:r>
              <a:rPr lang="en-US" sz="1800" dirty="0" err="1"/>
              <a:t>експонентот</a:t>
            </a:r>
            <a:endParaRPr lang="en-MK" sz="1800" dirty="0"/>
          </a:p>
          <a:p>
            <a:endParaRPr lang="en-MK" sz="2400" dirty="0"/>
          </a:p>
          <a:p>
            <a:pPr lvl="2"/>
            <a:r>
              <a:rPr lang="en-US" sz="1400" dirty="0"/>
              <a:t>H = 0.5: </a:t>
            </a:r>
            <a:r>
              <a:rPr lang="en-US" sz="1400" dirty="0" err="1"/>
              <a:t>случаен</a:t>
            </a:r>
            <a:r>
              <a:rPr lang="en-US" sz="1400" dirty="0"/>
              <a:t> </a:t>
            </a:r>
            <a:r>
              <a:rPr lang="en-US" sz="1400" dirty="0" err="1"/>
              <a:t>процес</a:t>
            </a:r>
            <a:r>
              <a:rPr lang="en-US" sz="1400" dirty="0"/>
              <a:t> (</a:t>
            </a:r>
            <a:r>
              <a:rPr lang="en-US" sz="1400" dirty="0" err="1"/>
              <a:t>бел</a:t>
            </a:r>
            <a:r>
              <a:rPr lang="en-US" sz="1400" dirty="0"/>
              <a:t> </a:t>
            </a:r>
            <a:r>
              <a:rPr lang="en-US" sz="1400" dirty="0" err="1"/>
              <a:t>шум</a:t>
            </a:r>
            <a:r>
              <a:rPr lang="en-US" sz="1400" dirty="0"/>
              <a:t>)</a:t>
            </a:r>
            <a:endParaRPr lang="en-MK" sz="1100" dirty="0"/>
          </a:p>
          <a:p>
            <a:pPr lvl="2"/>
            <a:r>
              <a:rPr lang="en-US" sz="1400" dirty="0"/>
              <a:t>H &gt; 0.5: </a:t>
            </a:r>
            <a:r>
              <a:rPr lang="en-US" sz="1400" dirty="0" err="1"/>
              <a:t>постојан</a:t>
            </a:r>
            <a:r>
              <a:rPr lang="en-US" sz="1400" dirty="0"/>
              <a:t> </a:t>
            </a:r>
            <a:r>
              <a:rPr lang="en-US" sz="1400" dirty="0" err="1"/>
              <a:t>тренд</a:t>
            </a:r>
            <a:r>
              <a:rPr lang="en-US" sz="1400" dirty="0"/>
              <a:t> (</a:t>
            </a:r>
            <a:r>
              <a:rPr lang="en-US" sz="1400" dirty="0" err="1"/>
              <a:t>позитивна</a:t>
            </a:r>
            <a:r>
              <a:rPr lang="en-US" sz="1400" dirty="0"/>
              <a:t> </a:t>
            </a:r>
            <a:r>
              <a:rPr lang="en-US" sz="1400" dirty="0" err="1"/>
              <a:t>корелација</a:t>
            </a:r>
            <a:r>
              <a:rPr lang="en-US" sz="1400" dirty="0"/>
              <a:t>)</a:t>
            </a:r>
            <a:endParaRPr lang="en-MK" sz="1100" dirty="0"/>
          </a:p>
          <a:p>
            <a:pPr lvl="2"/>
            <a:r>
              <a:rPr lang="en-US" sz="1400" dirty="0"/>
              <a:t>H &lt; 0.5: </a:t>
            </a:r>
            <a:r>
              <a:rPr lang="en-US" sz="1400" dirty="0" err="1"/>
              <a:t>анти-постојан</a:t>
            </a:r>
            <a:r>
              <a:rPr lang="en-US" sz="1400" dirty="0"/>
              <a:t> </a:t>
            </a:r>
            <a:r>
              <a:rPr lang="en-US" sz="1400" dirty="0" err="1"/>
              <a:t>тренд</a:t>
            </a:r>
            <a:r>
              <a:rPr lang="en-US" sz="1400" dirty="0"/>
              <a:t> (</a:t>
            </a:r>
            <a:r>
              <a:rPr lang="en-US" sz="1400" dirty="0" err="1"/>
              <a:t>негативна</a:t>
            </a:r>
            <a:r>
              <a:rPr lang="en-US" sz="1400" dirty="0"/>
              <a:t> </a:t>
            </a:r>
            <a:r>
              <a:rPr lang="en-US" sz="1400" dirty="0" err="1"/>
              <a:t>корелација</a:t>
            </a:r>
            <a:r>
              <a:rPr lang="en-US" sz="1400" dirty="0"/>
              <a:t>) </a:t>
            </a:r>
            <a:endParaRPr lang="en-MK" sz="1100" dirty="0"/>
          </a:p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448222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A4F7-8A9D-3733-B852-182E5748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618E3-9421-454B-04BC-892EBAD4F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b="1" dirty="0" err="1"/>
              <a:t>Обработка</a:t>
            </a:r>
            <a:r>
              <a:rPr lang="en-GB" sz="2400" b="1" dirty="0"/>
              <a:t> </a:t>
            </a:r>
            <a:r>
              <a:rPr lang="en-GB" sz="2400" b="1" dirty="0" err="1"/>
              <a:t>по</a:t>
            </a:r>
            <a:r>
              <a:rPr lang="en-GB" sz="2400" b="1" dirty="0"/>
              <a:t> </a:t>
            </a:r>
            <a:r>
              <a:rPr lang="en-GB" sz="2400" b="1" dirty="0" err="1"/>
              <a:t>канали</a:t>
            </a:r>
            <a:r>
              <a:rPr lang="en-GB" sz="2400" b="1" dirty="0"/>
              <a:t>: </a:t>
            </a:r>
            <a:endParaRPr lang="en-MK" sz="2400" dirty="0"/>
          </a:p>
          <a:p>
            <a:r>
              <a:rPr lang="en-GB" sz="2400" dirty="0" err="1"/>
              <a:t>За</a:t>
            </a:r>
            <a:r>
              <a:rPr lang="en-GB" sz="2400" dirty="0"/>
              <a:t> </a:t>
            </a:r>
            <a:r>
              <a:rPr lang="en-GB" sz="2400" dirty="0" err="1"/>
              <a:t>секој</a:t>
            </a:r>
            <a:r>
              <a:rPr lang="en-GB" sz="2400" dirty="0"/>
              <a:t> </a:t>
            </a:r>
            <a:r>
              <a:rPr lang="en-GB" sz="2400" dirty="0" err="1"/>
              <a:t>канал</a:t>
            </a:r>
            <a:r>
              <a:rPr lang="en-GB" sz="2400" dirty="0"/>
              <a:t> </a:t>
            </a:r>
            <a:r>
              <a:rPr lang="en-GB" sz="2400" dirty="0" err="1"/>
              <a:t>посебно</a:t>
            </a:r>
            <a:r>
              <a:rPr lang="en-GB" sz="2400" dirty="0"/>
              <a:t>:</a:t>
            </a:r>
            <a:endParaRPr lang="en-MK" sz="2400" dirty="0"/>
          </a:p>
          <a:p>
            <a:pPr lvl="0"/>
            <a:r>
              <a:rPr lang="en-GB" sz="2400" dirty="0" err="1"/>
              <a:t>Пресметувам</a:t>
            </a:r>
            <a:r>
              <a:rPr lang="mk-MK" sz="2400" dirty="0"/>
              <a:t>е</a:t>
            </a:r>
            <a:r>
              <a:rPr lang="en-GB" sz="2400" dirty="0"/>
              <a:t> Hjorth </a:t>
            </a:r>
            <a:r>
              <a:rPr lang="en-GB" sz="2400" dirty="0" err="1"/>
              <a:t>параметри</a:t>
            </a:r>
            <a:endParaRPr lang="en-MK" sz="2400" dirty="0"/>
          </a:p>
          <a:p>
            <a:pPr lvl="0"/>
            <a:r>
              <a:rPr lang="en-GB" sz="2400" dirty="0" err="1"/>
              <a:t>Пресметува</a:t>
            </a:r>
            <a:r>
              <a:rPr lang="mk-MK" sz="2400" dirty="0"/>
              <a:t>ме</a:t>
            </a:r>
            <a:r>
              <a:rPr lang="en-GB" sz="2400" dirty="0"/>
              <a:t> </a:t>
            </a:r>
            <a:r>
              <a:rPr lang="en-GB" sz="2400" dirty="0" err="1"/>
              <a:t>фрактални</a:t>
            </a:r>
            <a:r>
              <a:rPr lang="en-GB" sz="2400" dirty="0"/>
              <a:t> </a:t>
            </a:r>
            <a:r>
              <a:rPr lang="en-GB" sz="2400" dirty="0" err="1"/>
              <a:t>димензии</a:t>
            </a:r>
            <a:r>
              <a:rPr lang="en-GB" sz="2400" dirty="0"/>
              <a:t> (</a:t>
            </a:r>
            <a:r>
              <a:rPr lang="en-GB" sz="2400" dirty="0" err="1"/>
              <a:t>со</a:t>
            </a:r>
            <a:r>
              <a:rPr lang="en-GB" sz="2400" dirty="0"/>
              <a:t> </a:t>
            </a:r>
            <a:r>
              <a:rPr lang="en-GB" sz="2400" dirty="0" err="1"/>
              <a:t>намален</a:t>
            </a:r>
            <a:r>
              <a:rPr lang="en-GB" sz="2400" dirty="0"/>
              <a:t> </a:t>
            </a:r>
            <a:r>
              <a:rPr lang="en-GB" sz="2400" dirty="0" err="1"/>
              <a:t>Kmax</a:t>
            </a:r>
            <a:r>
              <a:rPr lang="en-GB" sz="2400" dirty="0"/>
              <a:t>=3 </a:t>
            </a:r>
            <a:r>
              <a:rPr lang="en-GB" sz="2400" dirty="0" err="1"/>
              <a:t>за</a:t>
            </a:r>
            <a:r>
              <a:rPr lang="en-GB" sz="2400" dirty="0"/>
              <a:t> </a:t>
            </a:r>
            <a:r>
              <a:rPr lang="en-GB" sz="2400" dirty="0" err="1"/>
              <a:t>побрзина</a:t>
            </a:r>
            <a:r>
              <a:rPr lang="mk-MK" sz="2400" dirty="0"/>
              <a:t> и ефикасност</a:t>
            </a:r>
            <a:r>
              <a:rPr lang="en-GB" sz="2400" dirty="0"/>
              <a:t>)</a:t>
            </a:r>
            <a:endParaRPr lang="en-MK" sz="2400" dirty="0"/>
          </a:p>
          <a:p>
            <a:endParaRPr lang="en-MK" sz="2400" dirty="0"/>
          </a:p>
          <a:p>
            <a:pPr marL="0" indent="0">
              <a:buNone/>
            </a:pPr>
            <a:r>
              <a:rPr lang="en-GB" sz="2400" b="1" dirty="0" err="1"/>
              <a:t>Обработка</a:t>
            </a:r>
            <a:r>
              <a:rPr lang="en-GB" sz="2400" b="1" dirty="0"/>
              <a:t> </a:t>
            </a:r>
            <a:r>
              <a:rPr lang="en-GB" sz="2400" b="1" dirty="0" err="1"/>
              <a:t>на</a:t>
            </a:r>
            <a:r>
              <a:rPr lang="en-GB" sz="2400" b="1" dirty="0"/>
              <a:t> </a:t>
            </a:r>
            <a:r>
              <a:rPr lang="en-GB" sz="2400" b="1" dirty="0" err="1"/>
              <a:t>грешки</a:t>
            </a:r>
            <a:r>
              <a:rPr lang="en-GB" sz="2400" dirty="0"/>
              <a:t>: </a:t>
            </a:r>
            <a:r>
              <a:rPr lang="en-GB" sz="2400" dirty="0" err="1"/>
              <a:t>Ако</a:t>
            </a:r>
            <a:r>
              <a:rPr lang="en-GB" sz="2400" dirty="0"/>
              <a:t> </a:t>
            </a:r>
            <a:r>
              <a:rPr lang="en-GB" sz="2400" dirty="0" err="1"/>
              <a:t>било</a:t>
            </a:r>
            <a:r>
              <a:rPr lang="en-GB" sz="2400" dirty="0"/>
              <a:t> </a:t>
            </a:r>
            <a:r>
              <a:rPr lang="en-GB" sz="2400" dirty="0" err="1"/>
              <a:t>која</a:t>
            </a:r>
            <a:r>
              <a:rPr lang="en-GB" sz="2400" dirty="0"/>
              <a:t> </a:t>
            </a:r>
            <a:r>
              <a:rPr lang="en-GB" sz="2400" dirty="0" err="1"/>
              <a:t>пресметка</a:t>
            </a:r>
            <a:r>
              <a:rPr lang="en-GB" sz="2400" dirty="0"/>
              <a:t> </a:t>
            </a:r>
            <a:r>
              <a:rPr lang="en-GB" sz="2400" dirty="0" err="1"/>
              <a:t>не</a:t>
            </a:r>
            <a:r>
              <a:rPr lang="en-GB" sz="2400" dirty="0"/>
              <a:t> </a:t>
            </a:r>
            <a:r>
              <a:rPr lang="en-GB" sz="2400" dirty="0" err="1"/>
              <a:t>успее</a:t>
            </a:r>
            <a:r>
              <a:rPr lang="en-GB" sz="2400" dirty="0"/>
              <a:t>, </a:t>
            </a:r>
            <a:r>
              <a:rPr lang="en-GB" sz="2400" dirty="0" err="1"/>
              <a:t>се</a:t>
            </a:r>
            <a:r>
              <a:rPr lang="en-GB" sz="2400" dirty="0"/>
              <a:t> </a:t>
            </a:r>
            <a:r>
              <a:rPr lang="en-GB" sz="2400" dirty="0" err="1"/>
              <a:t>користат</a:t>
            </a:r>
            <a:r>
              <a:rPr lang="en-GB" sz="2400" dirty="0"/>
              <a:t> </a:t>
            </a:r>
            <a:r>
              <a:rPr lang="en-GB" sz="2400" dirty="0" err="1"/>
              <a:t>стандардни</a:t>
            </a:r>
            <a:r>
              <a:rPr lang="en-GB" sz="2400" dirty="0"/>
              <a:t> </a:t>
            </a:r>
            <a:r>
              <a:rPr lang="en-GB" sz="2400" dirty="0" err="1"/>
              <a:t>вредности</a:t>
            </a:r>
            <a:r>
              <a:rPr lang="en-GB" sz="2400" dirty="0"/>
              <a:t>:</a:t>
            </a:r>
            <a:endParaRPr lang="en-MK" sz="2400" dirty="0"/>
          </a:p>
          <a:p>
            <a:pPr lvl="0"/>
            <a:r>
              <a:rPr lang="en-GB" sz="2400" dirty="0"/>
              <a:t>Hjorth </a:t>
            </a:r>
            <a:r>
              <a:rPr lang="en-GB" sz="2400" dirty="0" err="1"/>
              <a:t>параметри</a:t>
            </a:r>
            <a:r>
              <a:rPr lang="en-GB" sz="2400" dirty="0"/>
              <a:t>: 0</a:t>
            </a:r>
            <a:endParaRPr lang="en-MK" sz="2400" dirty="0"/>
          </a:p>
          <a:p>
            <a:pPr lvl="0"/>
            <a:r>
              <a:rPr lang="en-GB" sz="2400" dirty="0"/>
              <a:t>HFD/PFD: 1.0 (</a:t>
            </a:r>
            <a:r>
              <a:rPr lang="en-GB" sz="2400" dirty="0" err="1"/>
              <a:t>неутрална</a:t>
            </a:r>
            <a:r>
              <a:rPr lang="en-GB" sz="2400" dirty="0"/>
              <a:t> </a:t>
            </a:r>
            <a:r>
              <a:rPr lang="en-GB" sz="2400" dirty="0" err="1"/>
              <a:t>фрактална</a:t>
            </a:r>
            <a:r>
              <a:rPr lang="en-GB" sz="2400" dirty="0"/>
              <a:t> </a:t>
            </a:r>
            <a:r>
              <a:rPr lang="en-GB" sz="2400" dirty="0" err="1"/>
              <a:t>димензија</a:t>
            </a:r>
            <a:r>
              <a:rPr lang="en-GB" sz="2400" dirty="0"/>
              <a:t>)</a:t>
            </a:r>
            <a:endParaRPr lang="en-MK" sz="2400" dirty="0"/>
          </a:p>
          <a:p>
            <a:pPr lvl="0"/>
            <a:r>
              <a:rPr lang="en-GB" sz="2400" dirty="0"/>
              <a:t>Hurst: 0.5 (</a:t>
            </a:r>
            <a:r>
              <a:rPr lang="en-GB" sz="2400" dirty="0" err="1"/>
              <a:t>случаен</a:t>
            </a:r>
            <a:r>
              <a:rPr lang="en-GB" sz="2400" dirty="0"/>
              <a:t> </a:t>
            </a:r>
            <a:r>
              <a:rPr lang="en-GB" sz="2400" dirty="0" err="1"/>
              <a:t>процес</a:t>
            </a:r>
            <a:r>
              <a:rPr lang="en-GB" sz="2400" dirty="0"/>
              <a:t>)</a:t>
            </a:r>
            <a:endParaRPr lang="en-MK" sz="2400" dirty="0"/>
          </a:p>
          <a:p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769537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1052B-5488-4341-056B-F42C708A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sz="3600" b="1" dirty="0"/>
              <a:t>Вчитување на податоците и филтрирање 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3B5A5-CE46-3CC9-855B-91FCA4807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mk-MK" sz="2000" b="1" i="1" dirty="0"/>
              <a:t>1.Вчитување на податоци </a:t>
            </a:r>
            <a:endParaRPr lang="en-MK" sz="2000" dirty="0"/>
          </a:p>
          <a:p>
            <a:pPr marL="0" indent="0">
              <a:buNone/>
            </a:pPr>
            <a:r>
              <a:rPr lang="en-US" sz="2000" dirty="0"/>
              <a:t>- </a:t>
            </a:r>
            <a:r>
              <a:rPr lang="mk-MK" sz="2000" dirty="0"/>
              <a:t>Ги читаме податоците преку </a:t>
            </a:r>
            <a:r>
              <a:rPr lang="mk-MK" sz="2000" b="1" dirty="0" err="1"/>
              <a:t>r</a:t>
            </a:r>
            <a:r>
              <a:rPr lang="en-GB" sz="2000" b="1" dirty="0" err="1"/>
              <a:t>ead_raw_edf</a:t>
            </a:r>
            <a:r>
              <a:rPr lang="en-GB" sz="2000" dirty="0"/>
              <a:t> </a:t>
            </a:r>
            <a:r>
              <a:rPr lang="mk-MK" sz="2000" dirty="0"/>
              <a:t>функцијата , каде ставаме параметар </a:t>
            </a:r>
            <a:r>
              <a:rPr lang="en-GB" sz="2000" b="1" dirty="0"/>
              <a:t>preload=True</a:t>
            </a:r>
            <a:r>
              <a:rPr lang="en-GB" sz="2000" dirty="0"/>
              <a:t> </a:t>
            </a:r>
            <a:r>
              <a:rPr lang="mk-MK" sz="2000" dirty="0"/>
              <a:t>за податоците да се вчитуваат директно во меморија која го зголемува </a:t>
            </a:r>
            <a:r>
              <a:rPr lang="mk-MK" sz="2000" dirty="0" err="1"/>
              <a:t>перфомансот</a:t>
            </a:r>
            <a:r>
              <a:rPr lang="mk-MK" sz="2000" dirty="0"/>
              <a:t> и ефикасноста.  </a:t>
            </a: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mk-MK" sz="2000" b="1" i="1" dirty="0"/>
              <a:t>2.Филтрирање на сигналот</a:t>
            </a:r>
            <a:r>
              <a:rPr lang="mk-MK" sz="2000" dirty="0"/>
              <a:t> </a:t>
            </a:r>
            <a:endParaRPr lang="en-US" sz="2000" dirty="0"/>
          </a:p>
          <a:p>
            <a:pPr marL="0" indent="0">
              <a:buNone/>
            </a:pPr>
            <a:r>
              <a:rPr lang="mk-MK" sz="2000" dirty="0"/>
              <a:t>-</a:t>
            </a:r>
            <a:r>
              <a:rPr lang="en-US" sz="2000" dirty="0"/>
              <a:t> </a:t>
            </a:r>
            <a:r>
              <a:rPr lang="mk-MK" sz="2000" dirty="0"/>
              <a:t>Применуваме </a:t>
            </a:r>
            <a:r>
              <a:rPr lang="mk-MK" sz="2000" b="1" dirty="0" err="1"/>
              <a:t>ba</a:t>
            </a:r>
            <a:r>
              <a:rPr lang="en-GB" sz="2000" b="1" dirty="0" err="1"/>
              <a:t>ndpass</a:t>
            </a:r>
            <a:r>
              <a:rPr lang="en-GB" sz="2000" b="1" dirty="0"/>
              <a:t> filter</a:t>
            </a:r>
            <a:r>
              <a:rPr lang="en-GB" sz="2000" dirty="0"/>
              <a:t> </a:t>
            </a:r>
            <a:r>
              <a:rPr lang="mk-MK" sz="2000" dirty="0"/>
              <a:t>со прекин на пониска фреквенција наместена на 0.25h</a:t>
            </a:r>
            <a:r>
              <a:rPr lang="en-GB" sz="2000" dirty="0"/>
              <a:t>z </a:t>
            </a:r>
            <a:r>
              <a:rPr lang="mk-MK" sz="2000" dirty="0"/>
              <a:t>и прекин на повисока фреквенција наместена на 25</a:t>
            </a:r>
            <a:r>
              <a:rPr lang="en-GB" sz="2000" dirty="0" err="1"/>
              <a:t>hz</a:t>
            </a:r>
            <a:r>
              <a:rPr lang="en-GB" sz="2000" dirty="0"/>
              <a:t> </a:t>
            </a:r>
            <a:br>
              <a:rPr lang="en-GB" sz="2000" dirty="0"/>
            </a:br>
            <a:endParaRPr lang="en-MK" sz="2000" dirty="0"/>
          </a:p>
          <a:p>
            <a:pPr marL="0" indent="0">
              <a:buNone/>
            </a:pPr>
            <a:r>
              <a:rPr lang="en-GB" sz="2000" dirty="0"/>
              <a:t>- </a:t>
            </a:r>
            <a:r>
              <a:rPr lang="en-GB" sz="2000" dirty="0" err="1"/>
              <a:t>Ова</a:t>
            </a:r>
            <a:r>
              <a:rPr lang="en-GB" sz="2000" dirty="0"/>
              <a:t> </a:t>
            </a:r>
            <a:r>
              <a:rPr lang="en-GB" sz="2000" dirty="0" err="1"/>
              <a:t>филтрирање</a:t>
            </a:r>
            <a:r>
              <a:rPr lang="en-GB" sz="2000" dirty="0"/>
              <a:t> </a:t>
            </a:r>
            <a:r>
              <a:rPr lang="en-GB" sz="2000" dirty="0" err="1"/>
              <a:t>ги</a:t>
            </a:r>
            <a:r>
              <a:rPr lang="en-GB" sz="2000" dirty="0"/>
              <a:t> </a:t>
            </a:r>
            <a:r>
              <a:rPr lang="en-GB" sz="2000" dirty="0" err="1"/>
              <a:t>отстранува</a:t>
            </a:r>
            <a:r>
              <a:rPr lang="en-GB" sz="2000" dirty="0"/>
              <a:t> </a:t>
            </a:r>
            <a:r>
              <a:rPr lang="en-GB" sz="2000" dirty="0" err="1"/>
              <a:t>многу</a:t>
            </a:r>
            <a:r>
              <a:rPr lang="en-GB" sz="2000" dirty="0"/>
              <a:t> </a:t>
            </a:r>
            <a:r>
              <a:rPr lang="en-GB" sz="2000" dirty="0" err="1"/>
              <a:t>бавните</a:t>
            </a:r>
            <a:r>
              <a:rPr lang="en-GB" sz="2000" dirty="0"/>
              <a:t> </a:t>
            </a:r>
            <a:r>
              <a:rPr lang="en-GB" sz="2000" dirty="0" err="1"/>
              <a:t>отстапувања</a:t>
            </a:r>
            <a:r>
              <a:rPr lang="en-GB" sz="2000" dirty="0"/>
              <a:t> (</a:t>
            </a:r>
            <a:r>
              <a:rPr lang="en-GB" sz="2000" dirty="0" err="1"/>
              <a:t>под</a:t>
            </a:r>
            <a:r>
              <a:rPr lang="en-GB" sz="2000" dirty="0"/>
              <a:t> 0,25 Hz) </a:t>
            </a:r>
            <a:r>
              <a:rPr lang="en-GB" sz="2000" dirty="0" err="1"/>
              <a:t>и</a:t>
            </a:r>
            <a:r>
              <a:rPr lang="en-GB" sz="2000" dirty="0"/>
              <a:t> </a:t>
            </a:r>
            <a:r>
              <a:rPr lang="en-GB" sz="2000" dirty="0" err="1"/>
              <a:t>високофреквентниот</a:t>
            </a:r>
            <a:r>
              <a:rPr lang="en-GB" sz="2000" dirty="0"/>
              <a:t> </a:t>
            </a:r>
            <a:r>
              <a:rPr lang="en-GB" sz="2000" dirty="0" err="1"/>
              <a:t>шум</a:t>
            </a:r>
            <a:r>
              <a:rPr lang="en-GB" sz="2000" dirty="0"/>
              <a:t> (</a:t>
            </a:r>
            <a:r>
              <a:rPr lang="en-GB" sz="2000" dirty="0" err="1"/>
              <a:t>над</a:t>
            </a:r>
            <a:r>
              <a:rPr lang="en-GB" sz="2000" dirty="0"/>
              <a:t> 25 Hz), </a:t>
            </a:r>
            <a:r>
              <a:rPr lang="en-GB" sz="2000" dirty="0" err="1"/>
              <a:t>задржувајќи</a:t>
            </a:r>
            <a:r>
              <a:rPr lang="en-GB" sz="2000" dirty="0"/>
              <a:t> </a:t>
            </a:r>
            <a:r>
              <a:rPr lang="en-GB" sz="2000" dirty="0" err="1"/>
              <a:t>го</a:t>
            </a:r>
            <a:r>
              <a:rPr lang="en-GB" sz="2000" dirty="0"/>
              <a:t> </a:t>
            </a:r>
            <a:r>
              <a:rPr lang="en-GB" sz="2000" dirty="0" err="1"/>
              <a:t>само</a:t>
            </a:r>
            <a:r>
              <a:rPr lang="en-GB" sz="2000" dirty="0"/>
              <a:t> </a:t>
            </a:r>
            <a:r>
              <a:rPr lang="en-GB" sz="2000" dirty="0" err="1"/>
              <a:t>фреквентниот</a:t>
            </a:r>
            <a:r>
              <a:rPr lang="en-GB" sz="2000" dirty="0"/>
              <a:t> </a:t>
            </a:r>
            <a:r>
              <a:rPr lang="en-GB" sz="2000" dirty="0" err="1"/>
              <a:t>опсег</a:t>
            </a:r>
            <a:r>
              <a:rPr lang="en-GB" sz="2000" dirty="0"/>
              <a:t> </a:t>
            </a:r>
            <a:r>
              <a:rPr lang="en-GB" sz="2000" dirty="0" err="1"/>
              <a:t>што</a:t>
            </a:r>
            <a:r>
              <a:rPr lang="en-GB" sz="2000" dirty="0"/>
              <a:t> </a:t>
            </a:r>
            <a:r>
              <a:rPr lang="en-GB" sz="2000" dirty="0" err="1"/>
              <a:t>е</a:t>
            </a:r>
            <a:r>
              <a:rPr lang="en-GB" sz="2000" dirty="0"/>
              <a:t> </a:t>
            </a:r>
            <a:r>
              <a:rPr lang="en-GB" sz="2000" dirty="0" err="1"/>
              <a:t>најрелевантен</a:t>
            </a:r>
            <a:r>
              <a:rPr lang="en-GB" sz="2000" dirty="0"/>
              <a:t> </a:t>
            </a:r>
            <a:r>
              <a:rPr lang="en-GB" sz="2000" dirty="0" err="1"/>
              <a:t>за</a:t>
            </a:r>
            <a:r>
              <a:rPr lang="en-GB" sz="2000" dirty="0"/>
              <a:t> ЕЕГ </a:t>
            </a:r>
            <a:r>
              <a:rPr lang="en-GB" sz="2000" dirty="0" err="1"/>
              <a:t>анализата</a:t>
            </a:r>
            <a:r>
              <a:rPr lang="en-GB" sz="2000" dirty="0"/>
              <a:t>.</a:t>
            </a:r>
            <a:endParaRPr lang="en-MK" sz="2000" dirty="0"/>
          </a:p>
          <a:p>
            <a:pPr marL="0" indent="0">
              <a:buNone/>
            </a:pPr>
            <a:endParaRPr lang="en-MK" sz="2000" dirty="0"/>
          </a:p>
          <a:p>
            <a:pPr>
              <a:buFontTx/>
              <a:buChar char="-"/>
            </a:pPr>
            <a:endParaRPr lang="en-MK" sz="2000" dirty="0"/>
          </a:p>
          <a:p>
            <a:endParaRPr lang="en-MK" sz="2000" dirty="0"/>
          </a:p>
        </p:txBody>
      </p:sp>
    </p:spTree>
    <p:extLst>
      <p:ext uri="{BB962C8B-B14F-4D97-AF65-F5344CB8AC3E}">
        <p14:creationId xmlns:p14="http://schemas.microsoft.com/office/powerpoint/2010/main" val="1828213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3D4D9-485C-3DAB-4468-2D264F438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80" y="818433"/>
            <a:ext cx="10424532" cy="32517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mk-MK" sz="2000" b="1" dirty="0"/>
              <a:t>3.</a:t>
            </a:r>
            <a:r>
              <a:rPr lang="mk-MK" sz="2000" b="1" i="1" dirty="0"/>
              <a:t>Процесирање на снимката</a:t>
            </a:r>
            <a:r>
              <a:rPr lang="mk-MK" sz="2000" dirty="0"/>
              <a:t>  </a:t>
            </a:r>
            <a:endParaRPr lang="en-MK" sz="1800" dirty="0"/>
          </a:p>
          <a:p>
            <a:endParaRPr lang="en-MK" sz="1800" dirty="0"/>
          </a:p>
          <a:p>
            <a:pPr marL="0" indent="0">
              <a:buNone/>
            </a:pPr>
            <a:r>
              <a:rPr lang="mk-MK" sz="2000" dirty="0"/>
              <a:t>-  Ја земаме целата снимка и ја делиме на помали временски сегменти (</a:t>
            </a:r>
            <a:r>
              <a:rPr lang="mk-MK" sz="2000" dirty="0" err="1"/>
              <a:t>epochs</a:t>
            </a:r>
            <a:r>
              <a:rPr lang="mk-MK" sz="2000" dirty="0"/>
              <a:t>) и извлекуваме карактеристики од секој сегмент</a:t>
            </a:r>
            <a:endParaRPr lang="en-MK" sz="1800" dirty="0"/>
          </a:p>
          <a:p>
            <a:endParaRPr lang="en-MK" sz="1800" dirty="0"/>
          </a:p>
          <a:p>
            <a:pPr marL="0" indent="0">
              <a:buNone/>
            </a:pPr>
            <a:r>
              <a:rPr lang="mk-MK" sz="2000" b="1" i="1" dirty="0"/>
              <a:t>4.Пресметување на епохи</a:t>
            </a:r>
            <a:endParaRPr lang="en-MK" sz="1800" dirty="0"/>
          </a:p>
          <a:p>
            <a:endParaRPr lang="en-MK" sz="1800" dirty="0"/>
          </a:p>
          <a:p>
            <a:pPr marL="0" indent="0">
              <a:buNone/>
            </a:pPr>
            <a:r>
              <a:rPr lang="mk-MK" sz="2000" dirty="0"/>
              <a:t>-Ја делиме целата снимка на </a:t>
            </a:r>
            <a:r>
              <a:rPr lang="mk-MK" sz="2000" b="1" dirty="0"/>
              <a:t>преклопувачки временски прозорци (</a:t>
            </a:r>
            <a:r>
              <a:rPr lang="en-GB" sz="2000" b="1" dirty="0"/>
              <a:t>sliding windows)</a:t>
            </a:r>
            <a:endParaRPr lang="en-MK" sz="1800" dirty="0"/>
          </a:p>
          <a:p>
            <a:endParaRPr lang="en-MK" sz="1800" dirty="0"/>
          </a:p>
          <a:p>
            <a:pPr lvl="1"/>
            <a:r>
              <a:rPr lang="mk-MK" sz="1800" b="1" dirty="0" err="1"/>
              <a:t>epoch_length</a:t>
            </a:r>
            <a:r>
              <a:rPr lang="mk-MK" sz="1800" dirty="0"/>
              <a:t>: должина на секој сегмент (</a:t>
            </a:r>
            <a:r>
              <a:rPr lang="mk-MK" sz="1800" dirty="0" err="1"/>
              <a:t>нпр</a:t>
            </a:r>
            <a:r>
              <a:rPr lang="mk-MK" sz="1800" dirty="0"/>
              <a:t>. 4 секунди)</a:t>
            </a:r>
            <a:endParaRPr lang="en-MK" sz="1600" dirty="0"/>
          </a:p>
          <a:p>
            <a:pPr lvl="1"/>
            <a:r>
              <a:rPr lang="mk-MK" sz="1800" b="1" dirty="0" err="1"/>
              <a:t>step_size</a:t>
            </a:r>
            <a:r>
              <a:rPr lang="mk-MK" sz="1800" dirty="0"/>
              <a:t>: чекор помеѓу сегменти (</a:t>
            </a:r>
            <a:r>
              <a:rPr lang="mk-MK" sz="1800" dirty="0" err="1"/>
              <a:t>нпр</a:t>
            </a:r>
            <a:r>
              <a:rPr lang="mk-MK" sz="1800" dirty="0"/>
              <a:t>. 2 секунди)</a:t>
            </a:r>
            <a:endParaRPr lang="en-MK" sz="1600" dirty="0"/>
          </a:p>
          <a:p>
            <a:endParaRPr lang="en-MK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E4BBC-F6B1-E847-9FDB-22EEB7F41A8A}"/>
              </a:ext>
            </a:extLst>
          </p:cNvPr>
          <p:cNvSpPr txBox="1"/>
          <p:nvPr/>
        </p:nvSpPr>
        <p:spPr>
          <a:xfrm>
            <a:off x="1136494" y="4280938"/>
            <a:ext cx="780027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EEG снимка: [0────────────────────────────60] секунди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 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epoch_length</a:t>
            </a:r>
            <a:r>
              <a:rPr lang="mk-MK" sz="120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= 4s, 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step_size</a:t>
            </a:r>
            <a:r>
              <a:rPr lang="mk-MK" sz="120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= 2s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 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Epochs</a:t>
            </a: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: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[0──4s]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[2──6s]  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  [4──8s]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    [6──10s]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37490">
              <a:buNone/>
            </a:pPr>
            <a:r>
              <a:rPr lang="mk-MK" sz="12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      ... до крај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065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4921-83ED-2D59-3B8C-AECA282A7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08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i="1" dirty="0"/>
              <a:t>5.Batch </a:t>
            </a:r>
            <a:r>
              <a:rPr lang="en-GB" sz="2000" b="1" i="1" dirty="0" err="1"/>
              <a:t>о</a:t>
            </a:r>
            <a:r>
              <a:rPr lang="mk-MK" sz="2000" b="1" i="1" dirty="0" err="1"/>
              <a:t>бработка</a:t>
            </a:r>
            <a:r>
              <a:rPr lang="mk-MK" sz="2000" b="1" i="1" dirty="0"/>
              <a:t> за меморија </a:t>
            </a:r>
            <a:endParaRPr lang="en-MK" sz="2000" dirty="0"/>
          </a:p>
          <a:p>
            <a:pPr marL="0" indent="0">
              <a:buNone/>
            </a:pPr>
            <a:r>
              <a:rPr lang="mk-MK" sz="2000" i="1" dirty="0"/>
              <a:t>- </a:t>
            </a:r>
            <a:r>
              <a:rPr lang="mk-MK" sz="2000" dirty="0"/>
              <a:t>Ако имаме 10,000 </a:t>
            </a:r>
            <a:r>
              <a:rPr lang="mk-MK" sz="2000" dirty="0" err="1"/>
              <a:t>epochs</a:t>
            </a:r>
            <a:r>
              <a:rPr lang="mk-MK" sz="2000" dirty="0"/>
              <a:t>, не сакаме да ги држиме сите во меморијата</a:t>
            </a:r>
            <a:endParaRPr lang="en-MK" sz="2000" dirty="0"/>
          </a:p>
          <a:p>
            <a:pPr marL="0" indent="0">
              <a:buNone/>
            </a:pPr>
            <a:r>
              <a:rPr lang="mk-MK" sz="2000" dirty="0"/>
              <a:t>- Обработуваме 100 </a:t>
            </a:r>
            <a:r>
              <a:rPr lang="mk-MK" sz="2000" dirty="0" err="1"/>
              <a:t>epochs</a:t>
            </a:r>
            <a:r>
              <a:rPr lang="mk-MK" sz="2000" dirty="0"/>
              <a:t> одеднаш, потоа ги ослободуваме од меморија</a:t>
            </a:r>
            <a:endParaRPr lang="en-MK" sz="2000" dirty="0"/>
          </a:p>
          <a:p>
            <a:pPr marL="0" indent="0">
              <a:buNone/>
            </a:pPr>
            <a:endParaRPr lang="en-MK" sz="2000" dirty="0"/>
          </a:p>
          <a:p>
            <a:pPr marL="0" indent="0">
              <a:buNone/>
            </a:pPr>
            <a:r>
              <a:rPr lang="mk-MK" sz="2000" b="1" i="1" dirty="0"/>
              <a:t>6.Извлекување на карактеристики за секоја епоха</a:t>
            </a:r>
            <a:endParaRPr lang="en-MK" sz="2000" dirty="0"/>
          </a:p>
          <a:p>
            <a:pPr marL="0" indent="0">
              <a:buNone/>
            </a:pPr>
            <a:r>
              <a:rPr lang="mk-MK" sz="2000" dirty="0"/>
              <a:t>- За секоја епоха добиваме </a:t>
            </a:r>
            <a:endParaRPr lang="en-MK" sz="2000" dirty="0"/>
          </a:p>
          <a:p>
            <a:pPr marL="0" indent="0">
              <a:buNone/>
            </a:pPr>
            <a:r>
              <a:rPr lang="mk-MK" sz="2000" b="1" dirty="0" err="1"/>
              <a:t>data.shape</a:t>
            </a:r>
            <a:r>
              <a:rPr lang="mk-MK" sz="2000" b="1" dirty="0"/>
              <a:t> = (19, 1000) </a:t>
            </a:r>
            <a:r>
              <a:rPr lang="en-GB" sz="2000" dirty="0">
                <a:sym typeface="Wingdings" pitchFamily="2" charset="2"/>
              </a:rPr>
              <a:t></a:t>
            </a:r>
            <a:r>
              <a:rPr lang="en-GB" sz="2000" dirty="0"/>
              <a:t> </a:t>
            </a:r>
            <a:r>
              <a:rPr lang="mk-MK" sz="2000" dirty="0"/>
              <a:t>19 канали × 1000 </a:t>
            </a:r>
            <a:r>
              <a:rPr lang="en-GB" sz="2000" dirty="0"/>
              <a:t>samples</a:t>
            </a:r>
            <a:r>
              <a:rPr lang="mk-MK" sz="2000" dirty="0"/>
              <a:t> (4s × 250Hz)</a:t>
            </a:r>
            <a:r>
              <a:rPr lang="mk-MK" sz="2000" b="1" dirty="0"/>
              <a:t> 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GB" sz="1800" b="1" i="1" dirty="0"/>
              <a:t>7.Feature extraction  (</a:t>
            </a:r>
            <a:r>
              <a:rPr lang="mk-MK" sz="1800" b="1" i="1" dirty="0"/>
              <a:t>клучен дел)</a:t>
            </a:r>
            <a:endParaRPr lang="en-MK" sz="1800" i="1" dirty="0"/>
          </a:p>
          <a:p>
            <a:pPr marL="0" indent="0">
              <a:buNone/>
            </a:pPr>
            <a:endParaRPr lang="en-MK" sz="2000" dirty="0"/>
          </a:p>
          <a:p>
            <a:pPr marL="0" indent="0">
              <a:buNone/>
            </a:pPr>
            <a:endParaRPr lang="en-MK" sz="2000" dirty="0"/>
          </a:p>
          <a:p>
            <a:endParaRPr lang="en-MK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1D16F-3E37-A2EF-58D3-1D1DF201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13542"/>
            <a:ext cx="5845629" cy="82159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2D82F1-E94C-E6E2-9207-7CC49DF44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251908"/>
              </p:ext>
            </p:extLst>
          </p:nvPr>
        </p:nvGraphicFramePr>
        <p:xfrm>
          <a:off x="7019778" y="3857931"/>
          <a:ext cx="4334022" cy="2340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4022">
                  <a:extLst>
                    <a:ext uri="{9D8B030D-6E8A-4147-A177-3AD203B41FA5}">
                      <a16:colId xmlns:a16="http://schemas.microsoft.com/office/drawing/2014/main" val="3276937809"/>
                    </a:ext>
                  </a:extLst>
                </a:gridCol>
              </a:tblGrid>
              <a:tr h="2340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mk-MK" sz="1300" dirty="0">
                          <a:effectLst/>
                        </a:rPr>
                        <a:t> 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features = {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    "</a:t>
                      </a:r>
                      <a:r>
                        <a:rPr lang="en-GB" sz="1300" dirty="0" err="1">
                          <a:effectLst/>
                        </a:rPr>
                        <a:t>start_time</a:t>
                      </a:r>
                      <a:r>
                        <a:rPr lang="en-GB" sz="1300" dirty="0">
                          <a:effectLst/>
                        </a:rPr>
                        <a:t>": 0.0,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    "Fp1_mean": 12.5,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    "Fp1_std": 8.2,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    "Fp1_total_power": 145.7,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    "Fp1_peak_freq": 10.2,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    "Fp1_hfd": 1.4,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    "Fp2_mean": -5.1,</a:t>
                      </a:r>
                      <a:endParaRPr lang="en-M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GB" sz="1300" dirty="0">
                          <a:effectLst/>
                        </a:rPr>
                        <a:t>}. </a:t>
                      </a:r>
                      <a:r>
                        <a:rPr lang="en-GB" sz="1300" dirty="0">
                          <a:effectLst/>
                          <a:sym typeface="Wingdings" pitchFamily="2" charset="2"/>
                        </a:rPr>
                        <a:t></a:t>
                      </a:r>
                      <a:r>
                        <a:rPr lang="en-GB" sz="1300" dirty="0">
                          <a:effectLst/>
                        </a:rPr>
                        <a:t> </a:t>
                      </a:r>
                      <a:r>
                        <a:rPr lang="en-GB" sz="1300" dirty="0" err="1">
                          <a:effectLst/>
                        </a:rPr>
                        <a:t>за</a:t>
                      </a:r>
                      <a:r>
                        <a:rPr lang="en-GB" sz="1300" dirty="0">
                          <a:effectLst/>
                        </a:rPr>
                        <a:t> </a:t>
                      </a:r>
                      <a:r>
                        <a:rPr lang="en-GB" sz="1300" dirty="0" err="1">
                          <a:effectLst/>
                        </a:rPr>
                        <a:t>сите</a:t>
                      </a:r>
                      <a:r>
                        <a:rPr lang="en-GB" sz="1300" dirty="0">
                          <a:effectLst/>
                        </a:rPr>
                        <a:t> 19 </a:t>
                      </a:r>
                      <a:r>
                        <a:rPr lang="en-GB" sz="1300" dirty="0" err="1">
                          <a:effectLst/>
                        </a:rPr>
                        <a:t>канали</a:t>
                      </a:r>
                      <a:r>
                        <a:rPr lang="en-GB" sz="1300" dirty="0">
                          <a:effectLst/>
                        </a:rPr>
                        <a:t> × ~15 </a:t>
                      </a:r>
                      <a:r>
                        <a:rPr lang="en-GB" sz="1300" dirty="0" err="1">
                          <a:effectLst/>
                        </a:rPr>
                        <a:t>карактеристики</a:t>
                      </a:r>
                      <a:r>
                        <a:rPr lang="en-GB" sz="1300" dirty="0">
                          <a:effectLst/>
                        </a:rPr>
                        <a:t> =  ~285 features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314494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E3B58BB-F3D4-9A1A-399C-5CE588233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397" y="3582188"/>
            <a:ext cx="831467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en-MK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 Hebrew" pitchFamily="2" charset="-79"/>
              </a:rPr>
              <a:t>Резултат:</a:t>
            </a:r>
            <a:endParaRPr lang="en-US" altLang="en-MK" sz="1300" b="1" dirty="0">
              <a:latin typeface="Cambria" panose="02040503050406030204" pitchFamily="18" charset="0"/>
              <a:ea typeface="Times New Roman" panose="02020603050405020304" pitchFamily="18" charset="0"/>
              <a:cs typeface="Arial Hebrew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MK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cs typeface="Arial Hebrew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en-MK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en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775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A429-9152-7AF5-CF44-13922CB6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84328-C4F6-6BC0-99A6-A22F6BFDB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8. </a:t>
            </a:r>
            <a:r>
              <a:rPr lang="mk-MK" sz="2000" b="1" dirty="0" err="1"/>
              <a:t>Лабелирање</a:t>
            </a:r>
            <a:r>
              <a:rPr lang="mk-MK" sz="2000" b="1" dirty="0"/>
              <a:t> на </a:t>
            </a:r>
            <a:r>
              <a:rPr lang="mk-MK" sz="2000" b="1" dirty="0" err="1"/>
              <a:t>s</a:t>
            </a:r>
            <a:r>
              <a:rPr lang="en-GB" sz="2000" b="1" dirty="0" err="1"/>
              <a:t>eizure</a:t>
            </a:r>
            <a:r>
              <a:rPr lang="en-GB" sz="2000" b="1" dirty="0"/>
              <a:t> </a:t>
            </a:r>
            <a:r>
              <a:rPr lang="en-GB" sz="2000" b="1" dirty="0" err="1"/>
              <a:t>ко</a:t>
            </a:r>
            <a:r>
              <a:rPr lang="mk-MK" sz="2000" b="1" dirty="0" err="1"/>
              <a:t>лоната</a:t>
            </a:r>
            <a:r>
              <a:rPr lang="mk-MK" sz="2000" b="1" dirty="0"/>
              <a:t> </a:t>
            </a:r>
            <a:r>
              <a:rPr lang="en-GB" sz="2000" b="1" dirty="0"/>
              <a:t>(target </a:t>
            </a:r>
            <a:r>
              <a:rPr lang="mk-MK" sz="2000" b="1" dirty="0"/>
              <a:t>колона)</a:t>
            </a:r>
            <a:endParaRPr lang="en-MK" sz="2000" dirty="0"/>
          </a:p>
          <a:p>
            <a:endParaRPr lang="en-M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AD8A1-EFAC-F69D-2415-53F18AE0E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33" y="2416149"/>
            <a:ext cx="5727700" cy="1440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8D1914-17BE-3DA4-ECEA-76536A891E97}"/>
              </a:ext>
            </a:extLst>
          </p:cNvPr>
          <p:cNvSpPr txBox="1"/>
          <p:nvPr/>
        </p:nvSpPr>
        <p:spPr>
          <a:xfrm>
            <a:off x="917676" y="3920959"/>
            <a:ext cx="584881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 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i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Напади од 120-180s и 300-350s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mk-MK" sz="105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seizure_intervals</a:t>
            </a:r>
            <a:r>
              <a:rPr lang="mk-MK" sz="105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= [(120.0, 180.0), (300.0, 350.0)]  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 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 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# За </a:t>
            </a:r>
            <a:r>
              <a:rPr lang="mk-MK" sz="105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epoch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од 115s до 119s: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seizure</a:t>
            </a:r>
            <a:r>
              <a:rPr lang="mk-MK" sz="105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= </a:t>
            </a:r>
            <a:r>
              <a:rPr lang="mk-MK" sz="105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False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  <a:sym typeface="Wingdings" pitchFamily="2" charset="2"/>
              </a:rPr>
              <a:t></a:t>
            </a:r>
            <a:r>
              <a:rPr lang="en-GB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не се преклопува 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 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# За </a:t>
            </a:r>
            <a:r>
              <a:rPr lang="mk-MK" sz="105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epoch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од 118s до 122s:  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seizure</a:t>
            </a:r>
            <a:r>
              <a:rPr lang="mk-MK" sz="105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= </a:t>
            </a:r>
            <a:r>
              <a:rPr lang="mk-MK" sz="105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True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  <a:sym typeface="Wingdings" pitchFamily="2" charset="2"/>
              </a:rPr>
              <a:t>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се преклопува со напад 120-180s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 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# За </a:t>
            </a:r>
            <a:r>
              <a:rPr lang="mk-MK" sz="105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epoch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од 175s до 179s: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k-MK" sz="105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seizure</a:t>
            </a:r>
            <a:r>
              <a:rPr lang="mk-MK" sz="105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= </a:t>
            </a:r>
            <a:r>
              <a:rPr lang="mk-MK" sz="105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True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</a:t>
            </a:r>
            <a:r>
              <a:rPr lang="en-GB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  <a:sym typeface="Wingdings" pitchFamily="2" charset="2"/>
              </a:rPr>
              <a:t></a:t>
            </a:r>
            <a:r>
              <a:rPr lang="en-GB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</a:t>
            </a:r>
            <a:r>
              <a:rPr lang="mk-MK" sz="105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се преклопува со напад 120-180s</a:t>
            </a:r>
            <a:endParaRPr lang="en-MK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2931C-5628-C4AF-5EF1-786B98940EC9}"/>
              </a:ext>
            </a:extLst>
          </p:cNvPr>
          <p:cNvSpPr txBox="1"/>
          <p:nvPr/>
        </p:nvSpPr>
        <p:spPr>
          <a:xfrm>
            <a:off x="7125630" y="5850235"/>
            <a:ext cx="461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mk-MK" sz="1200" i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Користиме и </a:t>
            </a:r>
            <a:r>
              <a:rPr lang="mk-MK" sz="1200" i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хардкодиран</a:t>
            </a:r>
            <a:r>
              <a:rPr lang="mk-MK" sz="1200" i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речник каде што има информации за секој напад за секој запис во даден временски интервал  </a:t>
            </a:r>
            <a:endParaRPr lang="en-MK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0D1F91-10AE-FE27-7A9C-5FEE72861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617" y="4281627"/>
            <a:ext cx="5727700" cy="150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98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691E-2920-67FA-33BE-B233926A8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sz="3600" b="1" dirty="0"/>
              <a:t>Спојување на сите c</a:t>
            </a:r>
            <a:r>
              <a:rPr lang="en-GB" sz="3600" b="1" dirty="0" err="1"/>
              <a:t>sv</a:t>
            </a:r>
            <a:r>
              <a:rPr lang="en-GB" sz="3600" b="1" dirty="0"/>
              <a:t> </a:t>
            </a:r>
            <a:r>
              <a:rPr lang="en-GB" sz="3600" b="1" dirty="0" err="1"/>
              <a:t>ф</a:t>
            </a:r>
            <a:r>
              <a:rPr lang="mk-MK" sz="3600" b="1" dirty="0" err="1"/>
              <a:t>ајлови</a:t>
            </a:r>
            <a:r>
              <a:rPr lang="en-MK" sz="3600" dirty="0">
                <a:effectLst/>
              </a:rPr>
              <a:t> 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D7A3-BD54-78E5-3894-CAF8EBDFE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mk-MK" sz="1800" dirty="0"/>
              <a:t>Направивме скрипта за спојување на сите </a:t>
            </a:r>
            <a:r>
              <a:rPr lang="mk-MK" sz="1800" dirty="0" err="1"/>
              <a:t>процесирани</a:t>
            </a:r>
            <a:r>
              <a:rPr lang="mk-MK" sz="1800" dirty="0"/>
              <a:t> c</a:t>
            </a:r>
            <a:r>
              <a:rPr lang="en-GB" sz="1800" dirty="0" err="1"/>
              <a:t>sv</a:t>
            </a:r>
            <a:r>
              <a:rPr lang="en-GB" sz="1800" dirty="0"/>
              <a:t> </a:t>
            </a:r>
            <a:r>
              <a:rPr lang="en-GB" sz="1800" dirty="0" err="1"/>
              <a:t>ф</a:t>
            </a:r>
            <a:r>
              <a:rPr lang="mk-MK" sz="1800" dirty="0" err="1"/>
              <a:t>ајлови</a:t>
            </a:r>
            <a:r>
              <a:rPr lang="mk-MK" sz="1800" dirty="0"/>
              <a:t> во еден </a:t>
            </a:r>
            <a:r>
              <a:rPr lang="mk-MK" sz="1800" dirty="0" err="1"/>
              <a:t>su</a:t>
            </a:r>
            <a:r>
              <a:rPr lang="en-GB" sz="1800" dirty="0" err="1"/>
              <a:t>bjects.csv</a:t>
            </a:r>
            <a:r>
              <a:rPr lang="en-GB" sz="1800" dirty="0"/>
              <a:t> </a:t>
            </a:r>
            <a:r>
              <a:rPr lang="en-GB" sz="1800" dirty="0" err="1"/>
              <a:t>ф</a:t>
            </a:r>
            <a:r>
              <a:rPr lang="mk-MK" sz="1800" dirty="0" err="1"/>
              <a:t>ајл</a:t>
            </a:r>
            <a:r>
              <a:rPr lang="mk-MK" sz="1800" dirty="0"/>
              <a:t> кој ќе ни е потребен за тренирање и евалуација на моделите </a:t>
            </a:r>
            <a:endParaRPr lang="en-MK" sz="1800" dirty="0"/>
          </a:p>
          <a:p>
            <a:pPr marL="0" indent="0">
              <a:buNone/>
            </a:pPr>
            <a:r>
              <a:rPr lang="mk-MK" sz="1800" dirty="0"/>
              <a:t>Овој фајл се состои од:</a:t>
            </a:r>
            <a:endParaRPr lang="en-MK" sz="1800" dirty="0"/>
          </a:p>
          <a:p>
            <a:pPr lvl="0"/>
            <a:r>
              <a:rPr lang="mk-MK" sz="1800" dirty="0"/>
              <a:t> сите </a:t>
            </a:r>
            <a:r>
              <a:rPr lang="mk-MK" sz="1800" dirty="0" err="1"/>
              <a:t>екстрактнати</a:t>
            </a:r>
            <a:r>
              <a:rPr lang="mk-MK" sz="1800" dirty="0"/>
              <a:t> карактеристики (темпорални, </a:t>
            </a:r>
            <a:r>
              <a:rPr lang="mk-MK" sz="1800" dirty="0" err="1"/>
              <a:t>спектрални</a:t>
            </a:r>
            <a:r>
              <a:rPr lang="mk-MK" sz="1800" dirty="0"/>
              <a:t> и нелинеарни) </a:t>
            </a:r>
            <a:endParaRPr lang="en-MK" sz="1800" dirty="0"/>
          </a:p>
          <a:p>
            <a:pPr lvl="0"/>
            <a:r>
              <a:rPr lang="mk-MK" sz="1800" dirty="0"/>
              <a:t>“</a:t>
            </a:r>
            <a:r>
              <a:rPr lang="en-GB" sz="1800" dirty="0"/>
              <a:t>seizure” </a:t>
            </a:r>
            <a:r>
              <a:rPr lang="mk-MK" sz="1800" dirty="0"/>
              <a:t>колона (1 или 0) која кажува дали епохата има активност за напад </a:t>
            </a:r>
            <a:endParaRPr lang="en-MK" sz="1800" dirty="0"/>
          </a:p>
          <a:p>
            <a:pPr lvl="0"/>
            <a:r>
              <a:rPr lang="mk-MK" sz="1800" dirty="0"/>
              <a:t>“</a:t>
            </a:r>
            <a:r>
              <a:rPr lang="en-GB" sz="1800" dirty="0"/>
              <a:t>subject” </a:t>
            </a:r>
            <a:r>
              <a:rPr lang="mk-MK" sz="1800" dirty="0"/>
              <a:t>колона која идентификува од која снимка , дадена редица дошла</a:t>
            </a:r>
            <a:endParaRPr lang="en-MK" sz="1800" dirty="0"/>
          </a:p>
          <a:p>
            <a:pPr lvl="0"/>
            <a:r>
              <a:rPr lang="mk-MK" sz="1800" dirty="0"/>
              <a:t>“</a:t>
            </a:r>
            <a:r>
              <a:rPr lang="en-GB" sz="1800" dirty="0" err="1"/>
              <a:t>start_time</a:t>
            </a:r>
            <a:r>
              <a:rPr lang="en-GB" sz="1800" dirty="0"/>
              <a:t>” </a:t>
            </a:r>
            <a:r>
              <a:rPr lang="en-GB" sz="1800" dirty="0" err="1"/>
              <a:t>к</a:t>
            </a:r>
            <a:r>
              <a:rPr lang="mk-MK" sz="1800" dirty="0" err="1"/>
              <a:t>олона</a:t>
            </a:r>
            <a:r>
              <a:rPr lang="mk-MK" sz="1800" dirty="0"/>
              <a:t> која кажува кога дадена епоха започнала (временски интервал)</a:t>
            </a:r>
            <a:endParaRPr lang="en-MK" sz="1800" dirty="0"/>
          </a:p>
          <a:p>
            <a:endParaRPr lang="en-MK" sz="1800" dirty="0"/>
          </a:p>
          <a:p>
            <a:pPr marL="0" indent="0">
              <a:buNone/>
            </a:pPr>
            <a:r>
              <a:rPr lang="mk-MK" sz="1800" dirty="0"/>
              <a:t>Скриптата има и </a:t>
            </a:r>
            <a:r>
              <a:rPr lang="mk-MK" sz="1800" dirty="0" err="1"/>
              <a:t>перфомациски</a:t>
            </a:r>
            <a:r>
              <a:rPr lang="mk-MK" sz="1800" dirty="0"/>
              <a:t> </a:t>
            </a:r>
            <a:r>
              <a:rPr lang="mk-MK" sz="1800" dirty="0" err="1"/>
              <a:t>оптимизации</a:t>
            </a:r>
            <a:r>
              <a:rPr lang="mk-MK" sz="1800" dirty="0"/>
              <a:t> како</a:t>
            </a:r>
            <a:r>
              <a:rPr lang="en-GB" sz="1800" dirty="0"/>
              <a:t>: </a:t>
            </a:r>
            <a:endParaRPr lang="en-MK" sz="1800" dirty="0"/>
          </a:p>
          <a:p>
            <a:pPr lvl="0"/>
            <a:r>
              <a:rPr lang="en-GB" sz="1800" dirty="0"/>
              <a:t>Multithreading </a:t>
            </a:r>
            <a:r>
              <a:rPr lang="en-GB" sz="1800" dirty="0" err="1"/>
              <a:t>з</a:t>
            </a:r>
            <a:r>
              <a:rPr lang="mk-MK" sz="1800" dirty="0"/>
              <a:t>а </a:t>
            </a:r>
            <a:r>
              <a:rPr lang="en-GB" sz="1800" dirty="0"/>
              <a:t>I/O </a:t>
            </a:r>
            <a:r>
              <a:rPr lang="mk-MK" sz="1800" dirty="0"/>
              <a:t>операции</a:t>
            </a:r>
            <a:endParaRPr lang="en-MK" sz="1800" dirty="0"/>
          </a:p>
          <a:p>
            <a:pPr lvl="0"/>
            <a:r>
              <a:rPr lang="en-GB" sz="1800" dirty="0"/>
              <a:t>Memory usage </a:t>
            </a:r>
            <a:r>
              <a:rPr lang="mk-MK" sz="1800" dirty="0"/>
              <a:t>следење </a:t>
            </a:r>
            <a:endParaRPr lang="en-MK" sz="1800" dirty="0"/>
          </a:p>
          <a:p>
            <a:pPr lvl="0"/>
            <a:r>
              <a:rPr lang="en-GB" sz="1800" dirty="0"/>
              <a:t>E</a:t>
            </a:r>
            <a:r>
              <a:rPr lang="mk-MK" sz="1800" dirty="0" err="1"/>
              <a:t>фикасно</a:t>
            </a:r>
            <a:r>
              <a:rPr lang="mk-MK" sz="1800" dirty="0"/>
              <a:t> читање / пишување параметри </a:t>
            </a:r>
            <a:r>
              <a:rPr lang="en-GB" sz="1800" dirty="0"/>
              <a:t>o</a:t>
            </a:r>
            <a:r>
              <a:rPr lang="mk-MK" sz="1800" dirty="0"/>
              <a:t>д/во </a:t>
            </a:r>
            <a:r>
              <a:rPr lang="en-GB" sz="1800" dirty="0"/>
              <a:t>CSV </a:t>
            </a:r>
            <a:endParaRPr lang="en-MK" sz="1800" dirty="0"/>
          </a:p>
          <a:p>
            <a:pPr lvl="0"/>
            <a:r>
              <a:rPr lang="en-GB" sz="1800" dirty="0"/>
              <a:t>Progress monitoring </a:t>
            </a:r>
            <a:endParaRPr lang="en-MK" sz="1800" dirty="0"/>
          </a:p>
          <a:p>
            <a:endParaRPr lang="en-MK" sz="1800" dirty="0"/>
          </a:p>
        </p:txBody>
      </p:sp>
    </p:spTree>
    <p:extLst>
      <p:ext uri="{BB962C8B-B14F-4D97-AF65-F5344CB8AC3E}">
        <p14:creationId xmlns:p14="http://schemas.microsoft.com/office/powerpoint/2010/main" val="219901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F4C8-D492-BE26-AF17-32E78376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sz="3600" b="1" dirty="0"/>
              <a:t>Тренирање на моделите 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1ACE-5032-FD74-93AE-8FB3D3D27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mk-MK" sz="2400" dirty="0"/>
              <a:t>Скриптата </a:t>
            </a:r>
            <a:r>
              <a:rPr lang="en-GB" sz="2400" dirty="0" err="1"/>
              <a:t>classifier.py</a:t>
            </a:r>
            <a:r>
              <a:rPr lang="en-GB" sz="2400" dirty="0"/>
              <a:t> </a:t>
            </a:r>
            <a:r>
              <a:rPr lang="mk-MK" sz="2400" dirty="0"/>
              <a:t>е организирана околу главната класа </a:t>
            </a:r>
            <a:r>
              <a:rPr lang="mk-MK" sz="2400" dirty="0" err="1"/>
              <a:t>SeizureClassifier</a:t>
            </a:r>
            <a:r>
              <a:rPr lang="mk-MK" sz="2400" dirty="0"/>
              <a:t> која имплементира комплетен </a:t>
            </a:r>
            <a:r>
              <a:rPr lang="mk-MK" sz="2400" dirty="0" err="1"/>
              <a:t>pipeline</a:t>
            </a:r>
            <a:r>
              <a:rPr lang="mk-MK" sz="2400" dirty="0"/>
              <a:t> за класификација со неколку различни алгоритми.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1. </a:t>
            </a:r>
            <a:r>
              <a:rPr lang="en-US" sz="2400" b="1" dirty="0" err="1"/>
              <a:t>Дефиниција</a:t>
            </a:r>
            <a:r>
              <a:rPr lang="en-US" sz="2400" b="1" dirty="0"/>
              <a:t> </a:t>
            </a:r>
            <a:r>
              <a:rPr lang="en-US" sz="2400" b="1" dirty="0" err="1"/>
              <a:t>на</a:t>
            </a:r>
            <a:r>
              <a:rPr lang="en-US" sz="2400" b="1" dirty="0"/>
              <a:t> </a:t>
            </a:r>
            <a:r>
              <a:rPr lang="en-US" sz="2400" b="1" dirty="0" err="1"/>
              <a:t>модели</a:t>
            </a:r>
            <a:endParaRPr lang="en-MK" sz="2400" b="1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mk-MK" sz="2400" dirty="0"/>
              <a:t>Во </a:t>
            </a:r>
            <a:r>
              <a:rPr lang="mk-MK" sz="2400" dirty="0" err="1"/>
              <a:t>с</a:t>
            </a:r>
            <a:r>
              <a:rPr lang="en-US" sz="2400" dirty="0" err="1"/>
              <a:t>криптата</a:t>
            </a:r>
            <a:r>
              <a:rPr lang="en-US" sz="2400" dirty="0"/>
              <a:t> </a:t>
            </a:r>
            <a:r>
              <a:rPr lang="en-US" sz="2400" dirty="0" err="1"/>
              <a:t>дефинира</a:t>
            </a:r>
            <a:r>
              <a:rPr lang="mk-MK" sz="2400" dirty="0"/>
              <a:t>ме</a:t>
            </a:r>
            <a:r>
              <a:rPr lang="en-US" sz="2400" dirty="0"/>
              <a:t> 5 </a:t>
            </a:r>
            <a:r>
              <a:rPr lang="en-US" sz="2400" dirty="0" err="1"/>
              <a:t>различни</a:t>
            </a:r>
            <a:r>
              <a:rPr lang="en-US" sz="2400" dirty="0"/>
              <a:t> </a:t>
            </a:r>
            <a:r>
              <a:rPr lang="en-US" sz="2400" dirty="0" err="1"/>
              <a:t>машински</a:t>
            </a:r>
            <a:r>
              <a:rPr lang="en-US" sz="2400" dirty="0"/>
              <a:t> </a:t>
            </a:r>
            <a:r>
              <a:rPr lang="en-US" sz="2400" dirty="0" err="1"/>
              <a:t>алгоритми</a:t>
            </a:r>
            <a:r>
              <a:rPr lang="en-US" sz="2400" dirty="0"/>
              <a:t>:</a:t>
            </a:r>
            <a:endParaRPr lang="en-MK" sz="2400" dirty="0"/>
          </a:p>
          <a:p>
            <a:pPr lvl="0"/>
            <a:r>
              <a:rPr lang="en-US" sz="2400" dirty="0"/>
              <a:t>MLP (Multi-Layer Perceptron) - </a:t>
            </a:r>
            <a:r>
              <a:rPr lang="en-US" sz="2400" dirty="0" err="1"/>
              <a:t>не</a:t>
            </a:r>
            <a:r>
              <a:rPr lang="mk-MK" sz="2400" dirty="0"/>
              <a:t>в</a:t>
            </a:r>
            <a:r>
              <a:rPr lang="en-US" sz="2400" dirty="0" err="1"/>
              <a:t>ронска</a:t>
            </a:r>
            <a:r>
              <a:rPr lang="en-US" sz="2400" dirty="0"/>
              <a:t> </a:t>
            </a:r>
            <a:r>
              <a:rPr lang="en-US" sz="2400" dirty="0" err="1"/>
              <a:t>мрежа</a:t>
            </a:r>
            <a:endParaRPr lang="en-MK" sz="2400" dirty="0"/>
          </a:p>
          <a:p>
            <a:pPr lvl="0"/>
            <a:r>
              <a:rPr lang="en-US" sz="2400" dirty="0"/>
              <a:t>Random Forest – </a:t>
            </a:r>
            <a:r>
              <a:rPr lang="mk-MK" sz="2400" dirty="0"/>
              <a:t>“</a:t>
            </a:r>
            <a:r>
              <a:rPr lang="en-GB" sz="2400" dirty="0"/>
              <a:t>ensemble”</a:t>
            </a:r>
            <a:r>
              <a:rPr lang="en-US" sz="2400" dirty="0"/>
              <a:t> </a:t>
            </a:r>
            <a:r>
              <a:rPr lang="en-US" sz="2400" dirty="0" err="1"/>
              <a:t>од</a:t>
            </a:r>
            <a:r>
              <a:rPr lang="en-US" sz="2400" dirty="0"/>
              <a:t> </a:t>
            </a:r>
            <a:r>
              <a:rPr lang="en-US" sz="2400" dirty="0" err="1"/>
              <a:t>дрва</a:t>
            </a:r>
            <a:r>
              <a:rPr lang="en-US" sz="2400" dirty="0"/>
              <a:t>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dirty="0" err="1"/>
              <a:t>одлучување</a:t>
            </a:r>
            <a:endParaRPr lang="en-MK" sz="2400" dirty="0"/>
          </a:p>
          <a:p>
            <a:pPr lvl="0"/>
            <a:r>
              <a:rPr lang="en-US" sz="2400" dirty="0"/>
              <a:t>AdaBoost - </a:t>
            </a:r>
            <a:r>
              <a:rPr lang="en-US" sz="2400" dirty="0" err="1"/>
              <a:t>адаптивен</a:t>
            </a:r>
            <a:r>
              <a:rPr lang="en-US" sz="2400" dirty="0"/>
              <a:t> boosting </a:t>
            </a:r>
            <a:r>
              <a:rPr lang="en-US" sz="2400" dirty="0" err="1"/>
              <a:t>алгоритам</a:t>
            </a:r>
            <a:endParaRPr lang="en-MK" sz="2400" dirty="0"/>
          </a:p>
          <a:p>
            <a:pPr lvl="0"/>
            <a:r>
              <a:rPr lang="en-US" sz="2400" dirty="0"/>
              <a:t>KNN (K-Nearest Neighbors) - </a:t>
            </a:r>
            <a:r>
              <a:rPr lang="en-US" sz="2400" dirty="0" err="1"/>
              <a:t>класификација</a:t>
            </a:r>
            <a:r>
              <a:rPr lang="en-US" sz="2400" dirty="0"/>
              <a:t> </a:t>
            </a:r>
            <a:r>
              <a:rPr lang="en-US" sz="2400" dirty="0" err="1"/>
              <a:t>врз</a:t>
            </a:r>
            <a:r>
              <a:rPr lang="en-US" sz="2400" dirty="0"/>
              <a:t> </a:t>
            </a:r>
            <a:r>
              <a:rPr lang="en-US" sz="2400" dirty="0" err="1"/>
              <a:t>база</a:t>
            </a:r>
            <a:r>
              <a:rPr lang="en-US" sz="2400" dirty="0"/>
              <a:t> </a:t>
            </a:r>
            <a:r>
              <a:rPr lang="en-US" sz="2400" dirty="0" err="1"/>
              <a:t>на</a:t>
            </a:r>
            <a:r>
              <a:rPr lang="en-US" sz="2400" dirty="0"/>
              <a:t> </a:t>
            </a:r>
            <a:r>
              <a:rPr lang="en-US" sz="2400" dirty="0" err="1"/>
              <a:t>најблиски</a:t>
            </a:r>
            <a:r>
              <a:rPr lang="en-US" sz="2400" dirty="0"/>
              <a:t> </a:t>
            </a:r>
            <a:r>
              <a:rPr lang="en-US" sz="2400" dirty="0" err="1"/>
              <a:t>соседи</a:t>
            </a:r>
            <a:endParaRPr lang="en-MK" sz="2400" dirty="0"/>
          </a:p>
          <a:p>
            <a:pPr marL="0" indent="0">
              <a:buNone/>
            </a:pPr>
            <a:endParaRPr lang="en-MK" sz="2400" dirty="0"/>
          </a:p>
          <a:p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23574632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4A49F-EA7F-54F5-304E-DC55D84C0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4678"/>
            <a:ext cx="10692161" cy="52219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mk-MK" sz="2400" b="1" dirty="0"/>
              <a:t>2.Подготовка на податоци </a:t>
            </a:r>
            <a:endParaRPr lang="en-MK" sz="2400" b="1" dirty="0"/>
          </a:p>
          <a:p>
            <a:pPr lvl="0">
              <a:buFontTx/>
              <a:buChar char="-"/>
            </a:pPr>
            <a:r>
              <a:rPr lang="mk-MK" sz="2000" dirty="0"/>
              <a:t>Првично ги читаме CSV датотека со EEG податоци </a:t>
            </a:r>
            <a:endParaRPr lang="en-US" sz="2000" dirty="0"/>
          </a:p>
          <a:p>
            <a:pPr lvl="0">
              <a:buFontTx/>
              <a:buChar char="-"/>
            </a:pPr>
            <a:endParaRPr lang="en-MK" sz="2000" dirty="0"/>
          </a:p>
          <a:p>
            <a:pPr lvl="0">
              <a:buFontTx/>
              <a:buChar char="-"/>
            </a:pPr>
            <a:r>
              <a:rPr lang="mk-MK" sz="2000" dirty="0"/>
              <a:t>Ги одделуваме </a:t>
            </a:r>
            <a:r>
              <a:rPr lang="mk-MK" sz="2000" dirty="0" err="1"/>
              <a:t>features</a:t>
            </a:r>
            <a:r>
              <a:rPr lang="mk-MK" sz="2000" dirty="0"/>
              <a:t> од </a:t>
            </a:r>
            <a:r>
              <a:rPr lang="mk-MK" sz="2000" dirty="0" err="1"/>
              <a:t>target</a:t>
            </a:r>
            <a:r>
              <a:rPr lang="mk-MK" sz="2000" dirty="0"/>
              <a:t> променливата ('</a:t>
            </a:r>
            <a:r>
              <a:rPr lang="mk-MK" sz="2000" dirty="0" err="1"/>
              <a:t>seizure</a:t>
            </a:r>
            <a:r>
              <a:rPr lang="mk-MK" sz="2000" dirty="0"/>
              <a:t>') и делиме на </a:t>
            </a:r>
            <a:r>
              <a:rPr lang="mk-MK" sz="2000" dirty="0" err="1"/>
              <a:t>t</a:t>
            </a:r>
            <a:r>
              <a:rPr lang="en-GB" sz="2000" dirty="0"/>
              <a:t>raining </a:t>
            </a:r>
            <a:r>
              <a:rPr lang="mk-MK" sz="2000" dirty="0"/>
              <a:t>и тест множество</a:t>
            </a:r>
            <a:endParaRPr lang="en-US" sz="2000" dirty="0"/>
          </a:p>
          <a:p>
            <a:pPr lvl="0">
              <a:buFontTx/>
              <a:buChar char="-"/>
            </a:pPr>
            <a:endParaRPr lang="en-MK" sz="2000" dirty="0"/>
          </a:p>
          <a:p>
            <a:pPr marL="0" lvl="0" indent="0">
              <a:buNone/>
            </a:pPr>
            <a:r>
              <a:rPr lang="en-US" sz="2000" dirty="0"/>
              <a:t>- </a:t>
            </a:r>
            <a:r>
              <a:rPr lang="mk-MK" sz="2000" dirty="0"/>
              <a:t>Отстрануваме колоните со мала варијанса (речиси константни) бидејќи вредностите се </a:t>
            </a:r>
            <a:r>
              <a:rPr lang="en-US" sz="2000" dirty="0"/>
              <a:t>    </a:t>
            </a:r>
            <a:r>
              <a:rPr lang="mk-MK" sz="2000" dirty="0"/>
              <a:t>речиси исти, не можат да се разликуваат меѓу класите или дека постои артефакт во обработката</a:t>
            </a:r>
            <a:endParaRPr lang="en-MK" sz="2000" dirty="0"/>
          </a:p>
          <a:p>
            <a:pPr lvl="1"/>
            <a:r>
              <a:rPr lang="en-US" sz="2000" dirty="0" err="1"/>
              <a:t>Повеќе</a:t>
            </a:r>
            <a:r>
              <a:rPr lang="en-US" sz="2000" dirty="0"/>
              <a:t> features = </a:t>
            </a:r>
            <a:r>
              <a:rPr lang="en-US" sz="2000" dirty="0" err="1"/>
              <a:t>поголема</a:t>
            </a:r>
            <a:r>
              <a:rPr lang="en-US" sz="2000" dirty="0"/>
              <a:t> </a:t>
            </a:r>
            <a:r>
              <a:rPr lang="en-US" sz="2000" dirty="0" err="1"/>
              <a:t>сложеност</a:t>
            </a:r>
            <a:endParaRPr lang="en-MK" sz="1400" dirty="0"/>
          </a:p>
          <a:p>
            <a:pPr lvl="1"/>
            <a:r>
              <a:rPr lang="en-US" sz="2000" dirty="0" err="1"/>
              <a:t>Бескорисни</a:t>
            </a:r>
            <a:r>
              <a:rPr lang="en-US" sz="2000" dirty="0"/>
              <a:t> features </a:t>
            </a:r>
            <a:r>
              <a:rPr lang="en-US" sz="2000" dirty="0" err="1"/>
              <a:t>го</a:t>
            </a:r>
            <a:r>
              <a:rPr lang="en-US" sz="2000" dirty="0"/>
              <a:t> </a:t>
            </a:r>
            <a:r>
              <a:rPr lang="en-US" sz="2000" dirty="0" err="1"/>
              <a:t>влошуваат</a:t>
            </a:r>
            <a:r>
              <a:rPr lang="en-US" sz="2000" dirty="0"/>
              <a:t> </a:t>
            </a:r>
            <a:r>
              <a:rPr lang="en-US" sz="2000" dirty="0" err="1"/>
              <a:t>учењето</a:t>
            </a:r>
            <a:endParaRPr lang="en-MK" sz="1400" dirty="0"/>
          </a:p>
          <a:p>
            <a:pPr lvl="1"/>
            <a:r>
              <a:rPr lang="mk-MK" sz="2000" dirty="0"/>
              <a:t>Не помагаат во класификацијата</a:t>
            </a:r>
            <a:endParaRPr lang="en-MK" sz="1400" dirty="0"/>
          </a:p>
          <a:p>
            <a:pPr lvl="2"/>
            <a:r>
              <a:rPr lang="mk-MK" sz="1400" dirty="0"/>
              <a:t>feature_1 = [1.001, 1.002, 1.001, 1.000, 1.001]  </a:t>
            </a:r>
            <a:r>
              <a:rPr lang="en-GB" sz="1400" dirty="0">
                <a:sym typeface="Wingdings" pitchFamily="2" charset="2"/>
              </a:rPr>
              <a:t></a:t>
            </a:r>
            <a:r>
              <a:rPr lang="mk-MK" sz="1400" dirty="0"/>
              <a:t> Речиси константна</a:t>
            </a:r>
            <a:endParaRPr lang="en-MK" sz="1400" dirty="0"/>
          </a:p>
          <a:p>
            <a:pPr lvl="2"/>
            <a:r>
              <a:rPr lang="mk-MK" sz="1400" dirty="0"/>
              <a:t>feature_2 = [10, 50, 80, 30, 90]          </a:t>
            </a:r>
            <a:r>
              <a:rPr lang="en-US" sz="1400" dirty="0"/>
              <a:t>	</a:t>
            </a:r>
            <a:r>
              <a:rPr lang="mk-MK" sz="1400" dirty="0"/>
              <a:t> </a:t>
            </a:r>
            <a:r>
              <a:rPr lang="en-GB" sz="1400" dirty="0">
                <a:sym typeface="Wingdings" pitchFamily="2" charset="2"/>
              </a:rPr>
              <a:t></a:t>
            </a:r>
            <a:r>
              <a:rPr lang="mk-MK" sz="1400" dirty="0"/>
              <a:t> Добра варијанса</a:t>
            </a:r>
            <a:endParaRPr lang="en-US" sz="1400" dirty="0"/>
          </a:p>
          <a:p>
            <a:pPr lvl="2"/>
            <a:endParaRPr lang="en-MK" sz="1400" dirty="0"/>
          </a:p>
          <a:p>
            <a:pPr marL="0" lvl="0" indent="0">
              <a:buNone/>
            </a:pPr>
            <a:r>
              <a:rPr lang="en-US" sz="2000" dirty="0"/>
              <a:t>- </a:t>
            </a:r>
            <a:r>
              <a:rPr lang="mk-MK" sz="2000" dirty="0" err="1"/>
              <a:t>Стандардизираме</a:t>
            </a:r>
            <a:r>
              <a:rPr lang="mk-MK" sz="2000" dirty="0"/>
              <a:t> податоците со </a:t>
            </a:r>
            <a:r>
              <a:rPr lang="mk-MK" sz="2000" dirty="0" err="1"/>
              <a:t>StandardScaler</a:t>
            </a:r>
            <a:r>
              <a:rPr lang="mk-MK" sz="2000" dirty="0"/>
              <a:t> </a:t>
            </a:r>
            <a:endParaRPr lang="en-MK" sz="2000" dirty="0"/>
          </a:p>
          <a:p>
            <a:pPr lvl="1"/>
            <a:r>
              <a:rPr lang="mk-MK" sz="2000" dirty="0" err="1"/>
              <a:t>Градиентот</a:t>
            </a:r>
            <a:r>
              <a:rPr lang="mk-MK" sz="2000" dirty="0"/>
              <a:t> се пропагира подобро со стандардизирани податоци</a:t>
            </a:r>
            <a:endParaRPr lang="en-MK" sz="1400" dirty="0"/>
          </a:p>
          <a:p>
            <a:pPr lvl="1"/>
            <a:r>
              <a:rPr lang="mk-MK" sz="2000" dirty="0"/>
              <a:t>Избегнува проблеми со </a:t>
            </a:r>
            <a:r>
              <a:rPr lang="mk-MK" sz="2000" dirty="0" err="1"/>
              <a:t>vanishing</a:t>
            </a:r>
            <a:r>
              <a:rPr lang="mk-MK" sz="2000" dirty="0"/>
              <a:t>/</a:t>
            </a:r>
            <a:r>
              <a:rPr lang="mk-MK" sz="2000" dirty="0" err="1"/>
              <a:t>exploding</a:t>
            </a:r>
            <a:r>
              <a:rPr lang="mk-MK" sz="2000" dirty="0"/>
              <a:t> </a:t>
            </a:r>
            <a:r>
              <a:rPr lang="mk-MK" sz="2000" dirty="0" err="1"/>
              <a:t>gradients</a:t>
            </a:r>
            <a:endParaRPr lang="en-MK" sz="1400" dirty="0"/>
          </a:p>
          <a:p>
            <a:pPr lvl="1"/>
            <a:r>
              <a:rPr lang="mk-MK" sz="2000" dirty="0" err="1"/>
              <a:t>Активациските</a:t>
            </a:r>
            <a:r>
              <a:rPr lang="mk-MK" sz="2000" dirty="0"/>
              <a:t> функции (</a:t>
            </a:r>
            <a:r>
              <a:rPr lang="mk-MK" sz="2000" dirty="0" err="1"/>
              <a:t>ReLU</a:t>
            </a:r>
            <a:r>
              <a:rPr lang="mk-MK" sz="2000" dirty="0"/>
              <a:t>) работат подобро</a:t>
            </a:r>
            <a:endParaRPr lang="en-MK" sz="1400" dirty="0"/>
          </a:p>
          <a:p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1951219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52E1-4E33-964A-DBD3-099A6EFD6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mk-MK" sz="2200" b="1" dirty="0"/>
              <a:t>3.Евалуација на модели</a:t>
            </a:r>
            <a:endParaRPr lang="en-US" sz="2200" b="1" dirty="0"/>
          </a:p>
          <a:p>
            <a:pPr marL="0" indent="0">
              <a:buNone/>
            </a:pPr>
            <a:r>
              <a:rPr lang="mk-MK" sz="2200" b="1" dirty="0"/>
              <a:t> </a:t>
            </a:r>
            <a:endParaRPr lang="en-MK" sz="2200" dirty="0"/>
          </a:p>
          <a:p>
            <a:r>
              <a:rPr lang="mk-MK" sz="2000" dirty="0"/>
              <a:t>Скриптата користи напредна евалуација:</a:t>
            </a:r>
            <a:endParaRPr lang="en-MK" sz="2000" dirty="0"/>
          </a:p>
          <a:p>
            <a:pPr lvl="0"/>
            <a:r>
              <a:rPr lang="mk-MK" sz="2000" dirty="0"/>
              <a:t>5-fold </a:t>
            </a:r>
            <a:r>
              <a:rPr lang="mk-MK" sz="2000" dirty="0" err="1"/>
              <a:t>Cross</a:t>
            </a:r>
            <a:r>
              <a:rPr lang="mk-MK" sz="2000" dirty="0"/>
              <a:t> </a:t>
            </a:r>
            <a:r>
              <a:rPr lang="mk-MK" sz="2000" dirty="0" err="1"/>
              <a:t>Validation</a:t>
            </a:r>
            <a:r>
              <a:rPr lang="mk-MK" sz="2000" dirty="0"/>
              <a:t> со </a:t>
            </a:r>
            <a:r>
              <a:rPr lang="mk-MK" sz="2000" b="1" dirty="0" err="1"/>
              <a:t>StratifiedKFold</a:t>
            </a:r>
            <a:r>
              <a:rPr lang="mk-MK" sz="2000" b="1" dirty="0"/>
              <a:t> </a:t>
            </a:r>
            <a:r>
              <a:rPr lang="mk-MK" sz="2000" dirty="0"/>
              <a:t>за балансирани подели</a:t>
            </a:r>
            <a:endParaRPr lang="en-MK" sz="2000" dirty="0"/>
          </a:p>
          <a:p>
            <a:pPr lvl="0"/>
            <a:r>
              <a:rPr lang="mk-MK" sz="2000" dirty="0"/>
              <a:t>Пресметува комплетни </a:t>
            </a:r>
            <a:r>
              <a:rPr lang="mk-MK" sz="2000" dirty="0" err="1"/>
              <a:t>метрики</a:t>
            </a:r>
            <a:r>
              <a:rPr lang="mk-MK" sz="2000" dirty="0"/>
              <a:t>: </a:t>
            </a:r>
            <a:r>
              <a:rPr lang="mk-MK" sz="2000" dirty="0" err="1"/>
              <a:t>accuracy</a:t>
            </a:r>
            <a:r>
              <a:rPr lang="mk-MK" sz="2000" dirty="0"/>
              <a:t>, </a:t>
            </a:r>
            <a:r>
              <a:rPr lang="mk-MK" sz="2000" dirty="0" err="1"/>
              <a:t>sensitivity</a:t>
            </a:r>
            <a:r>
              <a:rPr lang="mk-MK" sz="2000" dirty="0"/>
              <a:t> (TPR), </a:t>
            </a:r>
            <a:r>
              <a:rPr lang="mk-MK" sz="2000" dirty="0" err="1"/>
              <a:t>specificity</a:t>
            </a:r>
            <a:r>
              <a:rPr lang="mk-MK" sz="2000" dirty="0"/>
              <a:t> (TNR), </a:t>
            </a:r>
            <a:r>
              <a:rPr lang="mk-MK" sz="2000" dirty="0" err="1"/>
              <a:t>precision</a:t>
            </a:r>
            <a:r>
              <a:rPr lang="mk-MK" sz="2000" dirty="0"/>
              <a:t>, F1-score</a:t>
            </a:r>
            <a:endParaRPr lang="en-US" sz="2000" dirty="0"/>
          </a:p>
          <a:p>
            <a:r>
              <a:rPr lang="mk-MK" sz="2000" dirty="0"/>
              <a:t>Мери време на тренирање</a:t>
            </a:r>
            <a:endParaRPr lang="en-MK" sz="2000" dirty="0"/>
          </a:p>
          <a:p>
            <a:pPr lvl="0"/>
            <a:endParaRPr lang="en-MK" dirty="0"/>
          </a:p>
          <a:p>
            <a:endParaRPr lang="en-MK" sz="2200" dirty="0"/>
          </a:p>
        </p:txBody>
      </p:sp>
    </p:spTree>
    <p:extLst>
      <p:ext uri="{BB962C8B-B14F-4D97-AF65-F5344CB8AC3E}">
        <p14:creationId xmlns:p14="http://schemas.microsoft.com/office/powerpoint/2010/main" val="770610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D22AA-3E6E-1551-9B7D-B79B03FD8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4. </a:t>
            </a:r>
            <a:r>
              <a:rPr lang="en-US" sz="2200" b="1" dirty="0" err="1"/>
              <a:t>Метрики</a:t>
            </a:r>
            <a:r>
              <a:rPr lang="en-US" sz="2200" b="1" dirty="0"/>
              <a:t> </a:t>
            </a:r>
            <a:r>
              <a:rPr lang="en-US" sz="2200" b="1" dirty="0" err="1"/>
              <a:t>за</a:t>
            </a:r>
            <a:r>
              <a:rPr lang="en-US" sz="2200" b="1" dirty="0"/>
              <a:t> </a:t>
            </a:r>
            <a:r>
              <a:rPr lang="en-US" sz="2200" b="1" dirty="0" err="1"/>
              <a:t>евалуација</a:t>
            </a:r>
            <a:endParaRPr lang="en-MK" sz="2200" dirty="0"/>
          </a:p>
          <a:p>
            <a:pPr marL="0" indent="0">
              <a:buNone/>
            </a:pPr>
            <a:r>
              <a:rPr lang="en-US" sz="2000" dirty="0" err="1"/>
              <a:t>За</a:t>
            </a:r>
            <a:r>
              <a:rPr lang="en-US" sz="2000" dirty="0"/>
              <a:t> </a:t>
            </a:r>
            <a:r>
              <a:rPr lang="en-US" sz="2000" dirty="0" err="1"/>
              <a:t>секој</a:t>
            </a:r>
            <a:r>
              <a:rPr lang="en-US" sz="2000" dirty="0"/>
              <a:t> </a:t>
            </a:r>
            <a:r>
              <a:rPr lang="en-US" sz="2000" dirty="0" err="1"/>
              <a:t>модел</a:t>
            </a:r>
            <a:r>
              <a:rPr lang="en-US" sz="2000" dirty="0"/>
              <a:t> </a:t>
            </a:r>
            <a:r>
              <a:rPr lang="en-US" sz="2000" dirty="0" err="1"/>
              <a:t>се</a:t>
            </a:r>
            <a:r>
              <a:rPr lang="en-US" sz="2000" dirty="0"/>
              <a:t> </a:t>
            </a:r>
            <a:r>
              <a:rPr lang="en-US" sz="2000" dirty="0" err="1"/>
              <a:t>пресметуваат</a:t>
            </a:r>
            <a:r>
              <a:rPr lang="en-US" sz="2000" dirty="0"/>
              <a:t>:</a:t>
            </a:r>
            <a:endParaRPr lang="en-MK" sz="2000" dirty="0"/>
          </a:p>
          <a:p>
            <a:pPr lvl="0"/>
            <a:r>
              <a:rPr lang="en-US" sz="2000" b="1" dirty="0"/>
              <a:t>Accuracy</a:t>
            </a:r>
            <a:r>
              <a:rPr lang="en-US" sz="2000" dirty="0"/>
              <a:t> - </a:t>
            </a:r>
            <a:r>
              <a:rPr lang="en-US" sz="2000" dirty="0" err="1"/>
              <a:t>вкупна</a:t>
            </a:r>
            <a:r>
              <a:rPr lang="en-US" sz="2000" dirty="0"/>
              <a:t> </a:t>
            </a:r>
            <a:r>
              <a:rPr lang="en-US" sz="2000" dirty="0" err="1"/>
              <a:t>точност</a:t>
            </a:r>
            <a:endParaRPr lang="en-MK" sz="2000" dirty="0"/>
          </a:p>
          <a:p>
            <a:pPr lvl="0"/>
            <a:r>
              <a:rPr lang="en-US" sz="2000" b="1" dirty="0"/>
              <a:t>TPR (True Positive Rate)</a:t>
            </a:r>
            <a:r>
              <a:rPr lang="en-US" sz="2000" dirty="0"/>
              <a:t> - </a:t>
            </a:r>
            <a:r>
              <a:rPr lang="en-US" sz="2000" dirty="0" err="1"/>
              <a:t>чувствителност</a:t>
            </a:r>
            <a:r>
              <a:rPr lang="en-US" sz="2000" dirty="0"/>
              <a:t>, </a:t>
            </a:r>
            <a:r>
              <a:rPr lang="en-US" sz="2000" dirty="0" err="1"/>
              <a:t>колку</a:t>
            </a:r>
            <a:r>
              <a:rPr lang="en-US" sz="2000" dirty="0"/>
              <a:t> </a:t>
            </a:r>
            <a:r>
              <a:rPr lang="en-US" sz="2000" dirty="0" err="1"/>
              <a:t>добро</a:t>
            </a:r>
            <a:r>
              <a:rPr lang="en-US" sz="2000" dirty="0"/>
              <a:t> </a:t>
            </a:r>
            <a:r>
              <a:rPr lang="en-US" sz="2000" dirty="0" err="1"/>
              <a:t>детектира</a:t>
            </a:r>
            <a:r>
              <a:rPr lang="en-US" sz="2000" dirty="0"/>
              <a:t> </a:t>
            </a:r>
            <a:r>
              <a:rPr lang="en-US" sz="2000" dirty="0" err="1"/>
              <a:t>напади</a:t>
            </a:r>
            <a:endParaRPr lang="en-MK" sz="2000" dirty="0"/>
          </a:p>
          <a:p>
            <a:pPr lvl="0"/>
            <a:r>
              <a:rPr lang="en-US" sz="2000" b="1" dirty="0"/>
              <a:t>TNR (True Negative Rate)</a:t>
            </a:r>
            <a:r>
              <a:rPr lang="en-US" sz="2000" dirty="0"/>
              <a:t> - </a:t>
            </a:r>
            <a:r>
              <a:rPr lang="en-US" sz="2000" dirty="0" err="1"/>
              <a:t>специфичност</a:t>
            </a:r>
            <a:r>
              <a:rPr lang="en-US" sz="2000" dirty="0"/>
              <a:t>, </a:t>
            </a:r>
            <a:r>
              <a:rPr lang="en-US" sz="2000" dirty="0" err="1"/>
              <a:t>колку</a:t>
            </a:r>
            <a:r>
              <a:rPr lang="en-US" sz="2000" dirty="0"/>
              <a:t> </a:t>
            </a:r>
            <a:r>
              <a:rPr lang="en-US" sz="2000" dirty="0" err="1"/>
              <a:t>добро</a:t>
            </a:r>
            <a:r>
              <a:rPr lang="en-US" sz="2000" dirty="0"/>
              <a:t> </a:t>
            </a:r>
            <a:r>
              <a:rPr lang="en-US" sz="2000" dirty="0" err="1"/>
              <a:t>избегнува</a:t>
            </a:r>
            <a:r>
              <a:rPr lang="en-US" sz="2000" dirty="0"/>
              <a:t> </a:t>
            </a:r>
            <a:r>
              <a:rPr lang="en-US" sz="2000" dirty="0" err="1"/>
              <a:t>лажни</a:t>
            </a:r>
            <a:r>
              <a:rPr lang="en-US" sz="2000" dirty="0"/>
              <a:t> </a:t>
            </a:r>
            <a:r>
              <a:rPr lang="en-US" sz="2000" dirty="0" err="1"/>
              <a:t>аларми</a:t>
            </a:r>
            <a:endParaRPr lang="en-MK" sz="2000" dirty="0"/>
          </a:p>
          <a:p>
            <a:pPr lvl="0"/>
            <a:r>
              <a:rPr lang="en-US" sz="2000" b="1" dirty="0"/>
              <a:t>Precision</a:t>
            </a:r>
            <a:r>
              <a:rPr lang="en-US" sz="2000" dirty="0"/>
              <a:t> - </a:t>
            </a:r>
            <a:r>
              <a:rPr lang="en-US" sz="2000" dirty="0" err="1"/>
              <a:t>точност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позитивни</a:t>
            </a:r>
            <a:r>
              <a:rPr lang="en-US" sz="2000" dirty="0"/>
              <a:t> </a:t>
            </a:r>
            <a:r>
              <a:rPr lang="en-US" sz="2000" dirty="0" err="1"/>
              <a:t>предвидувања</a:t>
            </a:r>
            <a:endParaRPr lang="en-MK" sz="2000" dirty="0"/>
          </a:p>
          <a:p>
            <a:pPr lvl="0"/>
            <a:r>
              <a:rPr lang="en-US" sz="2000" b="1" dirty="0"/>
              <a:t>F1-score</a:t>
            </a:r>
            <a:r>
              <a:rPr lang="en-US" sz="2000" dirty="0"/>
              <a:t> - </a:t>
            </a:r>
            <a:r>
              <a:rPr lang="en-US" sz="2000" dirty="0" err="1"/>
              <a:t>хармониска</a:t>
            </a:r>
            <a:r>
              <a:rPr lang="en-US" sz="2000" dirty="0"/>
              <a:t> </a:t>
            </a:r>
            <a:r>
              <a:rPr lang="en-US" sz="2000" dirty="0" err="1"/>
              <a:t>средина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precision </a:t>
            </a:r>
            <a:r>
              <a:rPr lang="en-US" sz="2000" dirty="0" err="1"/>
              <a:t>и</a:t>
            </a:r>
            <a:r>
              <a:rPr lang="en-US" sz="2000" dirty="0"/>
              <a:t> recall</a:t>
            </a:r>
            <a:endParaRPr lang="en-MK" sz="2000" dirty="0"/>
          </a:p>
          <a:p>
            <a:endParaRPr lang="en-MK" sz="2000" dirty="0"/>
          </a:p>
        </p:txBody>
      </p:sp>
    </p:spTree>
    <p:extLst>
      <p:ext uri="{BB962C8B-B14F-4D97-AF65-F5344CB8AC3E}">
        <p14:creationId xmlns:p14="http://schemas.microsoft.com/office/powerpoint/2010/main" val="3272734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7C1A-C9EC-7B95-A6B6-CA813AC14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366" y="213785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5. </a:t>
            </a:r>
            <a:r>
              <a:rPr lang="en-US" sz="2400" b="1" dirty="0" err="1"/>
              <a:t>Зачувување</a:t>
            </a:r>
            <a:r>
              <a:rPr lang="en-US" sz="2400" b="1" dirty="0"/>
              <a:t> </a:t>
            </a:r>
            <a:r>
              <a:rPr lang="en-US" sz="2400" b="1" dirty="0" err="1"/>
              <a:t>резултати</a:t>
            </a:r>
            <a:endParaRPr lang="en-MK" sz="2400" dirty="0"/>
          </a:p>
          <a:p>
            <a:pPr marL="0" indent="0">
              <a:buNone/>
            </a:pPr>
            <a:r>
              <a:rPr lang="en-US" sz="2400" dirty="0" err="1"/>
              <a:t>Резултатите</a:t>
            </a:r>
            <a:r>
              <a:rPr lang="en-US" sz="2400" dirty="0"/>
              <a:t> </a:t>
            </a:r>
            <a:r>
              <a:rPr lang="en-US" sz="2400" dirty="0" err="1"/>
              <a:t>се</a:t>
            </a:r>
            <a:r>
              <a:rPr lang="en-US" sz="2400" dirty="0"/>
              <a:t> </a:t>
            </a:r>
            <a:r>
              <a:rPr lang="en-US" sz="2400" dirty="0" err="1"/>
              <a:t>зачувуваат</a:t>
            </a:r>
            <a:r>
              <a:rPr lang="en-US" sz="2400" dirty="0"/>
              <a:t> </a:t>
            </a:r>
            <a:r>
              <a:rPr lang="en-US" sz="2400" dirty="0" err="1"/>
              <a:t>во</a:t>
            </a:r>
            <a:r>
              <a:rPr lang="en-US" sz="2400" dirty="0"/>
              <a:t>:</a:t>
            </a:r>
            <a:endParaRPr lang="en-MK" sz="2400" dirty="0"/>
          </a:p>
          <a:p>
            <a:pPr lvl="0"/>
            <a:r>
              <a:rPr lang="en-US" sz="2400" dirty="0" err="1"/>
              <a:t>Посебни</a:t>
            </a:r>
            <a:r>
              <a:rPr lang="en-US" sz="2400" dirty="0"/>
              <a:t> CSV </a:t>
            </a:r>
            <a:r>
              <a:rPr lang="en-US" sz="2400" dirty="0" err="1"/>
              <a:t>датотеки</a:t>
            </a:r>
            <a:r>
              <a:rPr lang="en-US" sz="2400" dirty="0"/>
              <a:t>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dirty="0" err="1"/>
              <a:t>секој</a:t>
            </a:r>
            <a:r>
              <a:rPr lang="en-US" sz="2400" dirty="0"/>
              <a:t> </a:t>
            </a:r>
            <a:r>
              <a:rPr lang="en-US" sz="2400" dirty="0" err="1"/>
              <a:t>модел</a:t>
            </a:r>
            <a:endParaRPr lang="en-MK" sz="2400" dirty="0"/>
          </a:p>
          <a:p>
            <a:pPr lvl="0"/>
            <a:r>
              <a:rPr lang="en-US" sz="2400" dirty="0"/>
              <a:t>Confusion matrices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dirty="0" err="1"/>
              <a:t>детална</a:t>
            </a:r>
            <a:r>
              <a:rPr lang="en-US" sz="2400" dirty="0"/>
              <a:t> </a:t>
            </a:r>
            <a:r>
              <a:rPr lang="en-US" sz="2400" dirty="0" err="1"/>
              <a:t>анализа</a:t>
            </a:r>
            <a:endParaRPr lang="en-MK" sz="2400" dirty="0"/>
          </a:p>
          <a:p>
            <a:pPr lvl="0"/>
            <a:r>
              <a:rPr lang="en-US" sz="2400" dirty="0" err="1"/>
              <a:t>Комбинирана</a:t>
            </a:r>
            <a:r>
              <a:rPr lang="en-US" sz="2400" dirty="0"/>
              <a:t> </a:t>
            </a:r>
            <a:r>
              <a:rPr lang="en-US" sz="2400" dirty="0" err="1"/>
              <a:t>датотека</a:t>
            </a:r>
            <a:r>
              <a:rPr lang="en-US" sz="2400" dirty="0"/>
              <a:t> </a:t>
            </a:r>
            <a:r>
              <a:rPr lang="en-US" sz="2400" dirty="0" err="1"/>
              <a:t>со</a:t>
            </a:r>
            <a:r>
              <a:rPr lang="en-US" sz="2400" dirty="0"/>
              <a:t> </a:t>
            </a:r>
            <a:r>
              <a:rPr lang="en-US" sz="2400" dirty="0" err="1"/>
              <a:t>сите</a:t>
            </a:r>
            <a:r>
              <a:rPr lang="en-US" sz="2400" dirty="0"/>
              <a:t> </a:t>
            </a:r>
            <a:r>
              <a:rPr lang="en-US" sz="2400" dirty="0" err="1"/>
              <a:t>резултати</a:t>
            </a:r>
            <a:endParaRPr lang="en-MK" sz="2400" dirty="0"/>
          </a:p>
          <a:p>
            <a:endParaRPr lang="en-MK" sz="2400" dirty="0"/>
          </a:p>
        </p:txBody>
      </p:sp>
    </p:spTree>
    <p:extLst>
      <p:ext uri="{BB962C8B-B14F-4D97-AF65-F5344CB8AC3E}">
        <p14:creationId xmlns:p14="http://schemas.microsoft.com/office/powerpoint/2010/main" val="2009443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91E2-B873-0A41-12CA-BDC9B0E7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</a:t>
            </a:r>
            <a:r>
              <a:rPr lang="mk-MK" b="1" dirty="0" err="1"/>
              <a:t>птимизација</a:t>
            </a:r>
            <a:r>
              <a:rPr lang="mk-MK" b="1" dirty="0"/>
              <a:t> 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3351A-52FF-D7DA-43E2-5C62EC527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723" y="1416582"/>
            <a:ext cx="10246112" cy="3772287"/>
          </a:xfrm>
        </p:spPr>
        <p:txBody>
          <a:bodyPr>
            <a:noAutofit/>
          </a:bodyPr>
          <a:lstStyle/>
          <a:p>
            <a:r>
              <a:rPr lang="en-GB" sz="1400" b="1" dirty="0"/>
              <a:t>Batch </a:t>
            </a:r>
            <a:r>
              <a:rPr lang="en-GB" sz="1400" b="1" dirty="0" err="1"/>
              <a:t>о</a:t>
            </a:r>
            <a:r>
              <a:rPr lang="mk-MK" sz="1400" b="1" dirty="0" err="1"/>
              <a:t>бработка</a:t>
            </a:r>
            <a:r>
              <a:rPr lang="mk-MK" sz="1400" b="1" dirty="0"/>
              <a:t> </a:t>
            </a:r>
            <a:endParaRPr lang="en-MK" sz="1400" dirty="0"/>
          </a:p>
          <a:p>
            <a:pPr marL="0" indent="0">
              <a:buNone/>
            </a:pPr>
            <a:r>
              <a:rPr lang="en-US" sz="1400" dirty="0"/>
              <a:t>- </a:t>
            </a:r>
            <a:r>
              <a:rPr lang="mk-MK" sz="1400" dirty="0" err="1"/>
              <a:t>Batch</a:t>
            </a:r>
            <a:r>
              <a:rPr lang="mk-MK" sz="1400" dirty="0"/>
              <a:t> значи </a:t>
            </a:r>
            <a:r>
              <a:rPr lang="mk-MK" sz="1400" b="1" dirty="0"/>
              <a:t>групно процесирање на повеќе канали одеднаш</a:t>
            </a:r>
            <a:r>
              <a:rPr lang="mk-MK" sz="1400" dirty="0"/>
              <a:t>, наместо еден по еден.</a:t>
            </a:r>
            <a:endParaRPr lang="en-MK" sz="1400" dirty="0"/>
          </a:p>
          <a:p>
            <a:pPr marL="0" indent="0">
              <a:buNone/>
            </a:pPr>
            <a:r>
              <a:rPr lang="en-US" sz="1400" dirty="0"/>
              <a:t>- </a:t>
            </a:r>
            <a:r>
              <a:rPr lang="mk-MK" sz="1400" dirty="0"/>
              <a:t>Во нашиот случај моравме да ги ставаме податоците во </a:t>
            </a:r>
            <a:r>
              <a:rPr lang="mk-MK" sz="1400" b="1" dirty="0" err="1"/>
              <a:t>b</a:t>
            </a:r>
            <a:r>
              <a:rPr lang="en-GB" sz="1400" b="1" dirty="0" err="1"/>
              <a:t>atch</a:t>
            </a:r>
            <a:r>
              <a:rPr lang="en-GB" sz="1400" b="1" dirty="0"/>
              <a:t> </a:t>
            </a:r>
            <a:r>
              <a:rPr lang="mk-MK" sz="1400" dirty="0"/>
              <a:t>бидејќи </a:t>
            </a:r>
            <a:r>
              <a:rPr lang="mk-MK" sz="1400" b="1" dirty="0" err="1"/>
              <a:t>p</a:t>
            </a:r>
            <a:r>
              <a:rPr lang="en-GB" sz="1400" b="1" dirty="0" err="1"/>
              <a:t>ython</a:t>
            </a:r>
            <a:r>
              <a:rPr lang="en-GB" sz="1400" b="1" dirty="0"/>
              <a:t> overhead-</a:t>
            </a:r>
            <a:r>
              <a:rPr lang="en-GB" sz="1400" b="1" dirty="0" err="1"/>
              <a:t>о</a:t>
            </a:r>
            <a:r>
              <a:rPr lang="mk-MK" sz="1400" b="1" dirty="0"/>
              <a:t>т</a:t>
            </a:r>
            <a:r>
              <a:rPr lang="en-GB" sz="1400" b="1" dirty="0"/>
              <a:t> (</a:t>
            </a:r>
            <a:r>
              <a:rPr lang="mk-MK" sz="1400" b="1" dirty="0"/>
              <a:t>преоптоварувањето</a:t>
            </a:r>
            <a:r>
              <a:rPr lang="mk-MK" sz="1400" dirty="0"/>
              <a:t>) нѐ “уби</a:t>
            </a:r>
            <a:r>
              <a:rPr lang="en-GB" sz="1400" dirty="0"/>
              <a:t>”</a:t>
            </a:r>
            <a:endParaRPr lang="en-MK" sz="1400" dirty="0"/>
          </a:p>
          <a:p>
            <a:pPr marL="0" indent="0">
              <a:buNone/>
            </a:pPr>
            <a:r>
              <a:rPr lang="en-US" sz="1400" dirty="0"/>
              <a:t>- </a:t>
            </a:r>
            <a:r>
              <a:rPr lang="mk-MK" sz="1400" dirty="0"/>
              <a:t>Првично ги </a:t>
            </a:r>
            <a:r>
              <a:rPr lang="mk-MK" sz="1400" dirty="0" err="1"/>
              <a:t>процесиравме</a:t>
            </a:r>
            <a:r>
              <a:rPr lang="mk-MK" sz="1400" dirty="0"/>
              <a:t> каналите еден по еден, наместо сите заедно </a:t>
            </a:r>
            <a:endParaRPr lang="en-MK" sz="1400" dirty="0"/>
          </a:p>
          <a:p>
            <a:pPr marL="0" lvl="0" indent="0">
              <a:buNone/>
            </a:pPr>
            <a:r>
              <a:rPr lang="en-GB" sz="1400" b="1" dirty="0"/>
              <a:t>Python function calls </a:t>
            </a:r>
            <a:endParaRPr lang="en-MK" sz="1400" dirty="0"/>
          </a:p>
          <a:p>
            <a:pPr marL="457200" lvl="1" indent="0">
              <a:buNone/>
            </a:pPr>
            <a:r>
              <a:rPr lang="en-GB" sz="1400" dirty="0" err="1"/>
              <a:t>Секоја</a:t>
            </a:r>
            <a:r>
              <a:rPr lang="en-GB" sz="1400" dirty="0"/>
              <a:t> </a:t>
            </a:r>
            <a:r>
              <a:rPr lang="en-GB" sz="1400" dirty="0" err="1"/>
              <a:t>епоха</a:t>
            </a:r>
            <a:r>
              <a:rPr lang="en-GB" sz="1400" dirty="0"/>
              <a:t> </a:t>
            </a:r>
            <a:r>
              <a:rPr lang="en-GB" sz="1400" dirty="0" err="1"/>
              <a:t>бара</a:t>
            </a:r>
            <a:r>
              <a:rPr lang="en-GB" sz="1400" dirty="0"/>
              <a:t> </a:t>
            </a:r>
            <a:r>
              <a:rPr lang="en-GB" sz="1400" dirty="0" err="1"/>
              <a:t>повеќекратни</a:t>
            </a:r>
            <a:r>
              <a:rPr lang="en-GB" sz="1400" dirty="0"/>
              <a:t> </a:t>
            </a:r>
            <a:r>
              <a:rPr lang="en-GB" sz="1400" dirty="0" err="1"/>
              <a:t>повици</a:t>
            </a:r>
            <a:r>
              <a:rPr lang="en-GB" sz="1400" dirty="0"/>
              <a:t> </a:t>
            </a:r>
            <a:r>
              <a:rPr lang="en-GB" sz="1400" dirty="0" err="1"/>
              <a:t>на</a:t>
            </a:r>
            <a:r>
              <a:rPr lang="en-GB" sz="1400" dirty="0"/>
              <a:t> </a:t>
            </a:r>
            <a:r>
              <a:rPr lang="en-GB" sz="1400" dirty="0" err="1"/>
              <a:t>функции</a:t>
            </a:r>
            <a:r>
              <a:rPr lang="en-GB" sz="1400" dirty="0"/>
              <a:t>, </a:t>
            </a:r>
            <a:r>
              <a:rPr lang="en-GB" sz="1400" dirty="0" err="1"/>
              <a:t>креирање</a:t>
            </a:r>
            <a:r>
              <a:rPr lang="en-GB" sz="1400" dirty="0"/>
              <a:t> </a:t>
            </a:r>
            <a:r>
              <a:rPr lang="en-GB" sz="1400" dirty="0" err="1"/>
              <a:t>на</a:t>
            </a:r>
            <a:r>
              <a:rPr lang="en-GB" sz="1400" dirty="0"/>
              <a:t> </a:t>
            </a:r>
            <a:r>
              <a:rPr lang="en-GB" sz="1400" dirty="0" err="1"/>
              <a:t>променливи</a:t>
            </a:r>
            <a:r>
              <a:rPr lang="en-GB" sz="1400" dirty="0"/>
              <a:t>, </a:t>
            </a:r>
            <a:r>
              <a:rPr lang="en-GB" sz="1400" dirty="0" err="1"/>
              <a:t>алокација</a:t>
            </a:r>
            <a:r>
              <a:rPr lang="en-GB" sz="1400" dirty="0"/>
              <a:t> </a:t>
            </a:r>
            <a:r>
              <a:rPr lang="en-GB" sz="1400" dirty="0" err="1"/>
              <a:t>на</a:t>
            </a:r>
            <a:r>
              <a:rPr lang="en-GB" sz="1400" dirty="0"/>
              <a:t> </a:t>
            </a:r>
            <a:r>
              <a:rPr lang="en-GB" sz="1400" dirty="0" err="1"/>
              <a:t>меморија</a:t>
            </a:r>
            <a:endParaRPr lang="en-MK" sz="1400" dirty="0"/>
          </a:p>
          <a:p>
            <a:pPr marL="0" lvl="0" indent="0">
              <a:buNone/>
            </a:pPr>
            <a:r>
              <a:rPr lang="mk-MK" sz="1400" b="1" dirty="0" err="1"/>
              <a:t>Мемо</a:t>
            </a:r>
            <a:r>
              <a:rPr lang="en-GB" sz="1400" b="1" dirty="0" err="1"/>
              <a:t>ry</a:t>
            </a:r>
            <a:r>
              <a:rPr lang="en-GB" sz="1400" b="1" dirty="0"/>
              <a:t> fragmentation </a:t>
            </a:r>
            <a:endParaRPr lang="en-MK" sz="1400" dirty="0"/>
          </a:p>
          <a:p>
            <a:pPr marL="457200" lvl="1" indent="0">
              <a:buNone/>
            </a:pPr>
            <a:r>
              <a:rPr lang="mk-MK" sz="1400" dirty="0"/>
              <a:t>Постојано креирање / уништување на мали објекти </a:t>
            </a:r>
            <a:endParaRPr lang="en-MK" sz="1400" dirty="0"/>
          </a:p>
          <a:p>
            <a:pPr marL="0" lvl="0" indent="0">
              <a:buNone/>
            </a:pPr>
            <a:r>
              <a:rPr lang="en-GB" sz="1400" b="1" dirty="0"/>
              <a:t>Cache </a:t>
            </a:r>
            <a:endParaRPr lang="en-MK" sz="1400" dirty="0"/>
          </a:p>
          <a:p>
            <a:pPr marL="457200" lvl="1" indent="0">
              <a:buNone/>
            </a:pPr>
            <a:r>
              <a:rPr lang="mk-MK" sz="1400" dirty="0"/>
              <a:t>Кешот на </a:t>
            </a:r>
            <a:r>
              <a:rPr lang="en-GB" sz="1400" dirty="0"/>
              <a:t>CPU </a:t>
            </a:r>
            <a:r>
              <a:rPr lang="mk-MK" sz="1400" dirty="0"/>
              <a:t>се </a:t>
            </a:r>
            <a:r>
              <a:rPr lang="mk-MK" sz="1400" dirty="0" err="1"/>
              <a:t>инвалидираше</a:t>
            </a:r>
            <a:r>
              <a:rPr lang="mk-MK" sz="1400" dirty="0"/>
              <a:t> меѓу епохи</a:t>
            </a:r>
            <a:endParaRPr lang="en-MK" sz="1400" dirty="0"/>
          </a:p>
          <a:p>
            <a:pPr marL="0" indent="0">
              <a:buNone/>
            </a:pPr>
            <a:r>
              <a:rPr lang="mk-MK" sz="1400" dirty="0"/>
              <a:t>После користење </a:t>
            </a:r>
            <a:r>
              <a:rPr lang="mk-MK" sz="1400" b="1" dirty="0" err="1"/>
              <a:t>b</a:t>
            </a:r>
            <a:r>
              <a:rPr lang="en-GB" sz="1400" b="1" dirty="0" err="1"/>
              <a:t>atch</a:t>
            </a:r>
            <a:r>
              <a:rPr lang="en-GB" sz="1400" b="1" dirty="0"/>
              <a:t> </a:t>
            </a:r>
            <a:r>
              <a:rPr lang="en-GB" sz="1400" b="1" dirty="0" err="1"/>
              <a:t>procesing</a:t>
            </a:r>
            <a:r>
              <a:rPr lang="en-GB" sz="1400" dirty="0"/>
              <a:t> </a:t>
            </a:r>
            <a:endParaRPr lang="en-MK" sz="1400" dirty="0"/>
          </a:p>
          <a:p>
            <a:endParaRPr lang="en-MK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21C83-92C2-F993-FC35-0AAD6500708B}"/>
              </a:ext>
            </a:extLst>
          </p:cNvPr>
          <p:cNvSpPr txBox="1"/>
          <p:nvPr/>
        </p:nvSpPr>
        <p:spPr>
          <a:xfrm>
            <a:off x="581723" y="4916887"/>
            <a:ext cx="55142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buNone/>
            </a:pP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For each batch (36 times per file instead of 3,590):</a:t>
            </a:r>
            <a:endParaRPr lang="en-MK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">
              <a:buNone/>
            </a:pP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1. Load 100 epochs </a:t>
            </a:r>
            <a:r>
              <a: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0.1s</a:t>
            </a:r>
            <a:endParaRPr lang="en-MK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">
              <a:buNone/>
            </a:pP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2. Extract features (vectorized) </a:t>
            </a:r>
            <a:r>
              <a: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8s</a:t>
            </a:r>
            <a:endParaRPr lang="en-MK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">
              <a:buNone/>
            </a:pP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3. Store 100 results </a:t>
            </a:r>
            <a:r>
              <a: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0.1s  </a:t>
            </a:r>
            <a:endParaRPr lang="en-MK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">
              <a:buNone/>
            </a:pP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4. Python overhead </a:t>
            </a:r>
            <a:r>
              <a:rPr lang="en-GB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0.8s</a:t>
            </a:r>
            <a:endParaRPr lang="en-MK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">
              <a:buNone/>
            </a:pP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Total per batch: ~9s</a:t>
            </a:r>
            <a:endParaRPr lang="en-MK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GB" sz="11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Per epoch: 9s ÷ 100 = 0.09s per epoch</a:t>
            </a:r>
            <a:r>
              <a:rPr lang="en-MK" sz="1100" dirty="0">
                <a:effectLst/>
              </a:rPr>
              <a:t> </a:t>
            </a:r>
            <a:endParaRPr lang="en-MK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6EA94-8ACF-5413-1959-3EC26DEADE52}"/>
              </a:ext>
            </a:extLst>
          </p:cNvPr>
          <p:cNvSpPr txBox="1"/>
          <p:nvPr/>
        </p:nvSpPr>
        <p:spPr>
          <a:xfrm>
            <a:off x="5419493" y="5754211"/>
            <a:ext cx="66256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k-MK" sz="1400" dirty="0"/>
              <a:t>Користиме </a:t>
            </a:r>
            <a:r>
              <a:rPr lang="mk-MK" sz="1400" b="1" dirty="0" err="1"/>
              <a:t>b</a:t>
            </a:r>
            <a:r>
              <a:rPr lang="en-GB" sz="1400" b="1" dirty="0" err="1"/>
              <a:t>atch</a:t>
            </a:r>
            <a:r>
              <a:rPr lang="en-GB" sz="1400" b="1" dirty="0"/>
              <a:t> </a:t>
            </a:r>
            <a:r>
              <a:rPr lang="mk-MK" sz="1400" dirty="0"/>
              <a:t>обработка</a:t>
            </a:r>
            <a:r>
              <a:rPr lang="mk-MK" sz="1400" b="1" dirty="0"/>
              <a:t> </a:t>
            </a:r>
            <a:r>
              <a:rPr lang="mk-MK" sz="1400" dirty="0"/>
              <a:t>бидејќи драстично ја подобрува брзината </a:t>
            </a:r>
            <a:r>
              <a:rPr lang="en-GB" sz="1400" dirty="0"/>
              <a:t>(2.3x </a:t>
            </a:r>
            <a:r>
              <a:rPr lang="mk-MK" sz="1400" dirty="0"/>
              <a:t>побрзо),организиран е кодот (има сепарација на одговорности),  има </a:t>
            </a:r>
            <a:r>
              <a:rPr lang="mk-MK" sz="1400" dirty="0" err="1"/>
              <a:t>скалабилност</a:t>
            </a:r>
            <a:r>
              <a:rPr lang="mk-MK" sz="1400" dirty="0"/>
              <a:t> на повеќе канали и има можности за </a:t>
            </a:r>
            <a:r>
              <a:rPr lang="mk-MK" sz="1400" dirty="0" err="1"/>
              <a:t>паралелизација</a:t>
            </a:r>
            <a:r>
              <a:rPr lang="mk-MK" sz="1400" dirty="0"/>
              <a:t> </a:t>
            </a:r>
            <a:endParaRPr lang="en-MK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A7D523-1456-750C-9228-648E089097DB}"/>
              </a:ext>
            </a:extLst>
          </p:cNvPr>
          <p:cNvSpPr txBox="1"/>
          <p:nvPr/>
        </p:nvSpPr>
        <p:spPr>
          <a:xfrm>
            <a:off x="6096000" y="3719236"/>
            <a:ext cx="61610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0330">
              <a:buNone/>
            </a:pP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Влез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: signals [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n_channels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×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n_samples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]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0330">
              <a:buNone/>
            </a:pP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  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0330">
              <a:buNone/>
            </a:pP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temporal =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extract_temporal_features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()     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Dict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со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arrays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0330">
              <a:buNone/>
            </a:pP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spectral =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extract_spectral_features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()     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Dict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со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arrays  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0330">
              <a:buNone/>
            </a:pP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nonlinear =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extract_nonlinear_features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()   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Dict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со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arrays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0330">
              <a:buNone/>
            </a:pP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   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↓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Flattening (</a:t>
            </a:r>
            <a:r>
              <a:rPr lang="mk-MK" sz="140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рамнење)</a:t>
            </a:r>
            <a:r>
              <a:rPr lang="en-GB" sz="140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во</a:t>
            </a:r>
            <a:r>
              <a:rPr lang="en-GB" sz="140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индивидуални</a:t>
            </a:r>
            <a:r>
              <a:rPr lang="en-GB" sz="1400" b="1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GB" sz="1400" b="1" dirty="0" err="1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карактеристики</a:t>
            </a:r>
            <a:r>
              <a:rPr lang="en-GB" sz="1400" dirty="0"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endParaRPr lang="en-MK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645A7-1D25-1E28-10FB-2318AF4A03CC}"/>
              </a:ext>
            </a:extLst>
          </p:cNvPr>
          <p:cNvSpPr txBox="1"/>
          <p:nvPr/>
        </p:nvSpPr>
        <p:spPr>
          <a:xfrm>
            <a:off x="6152685" y="3429000"/>
            <a:ext cx="6127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Архитектура</a:t>
            </a:r>
            <a:r>
              <a:rPr lang="en-US" sz="1400" b="1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на</a:t>
            </a:r>
            <a:r>
              <a:rPr lang="en-US" sz="1400" b="1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 batch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обработката</a:t>
            </a:r>
            <a:r>
              <a:rPr lang="en-US" sz="1400" b="1" dirty="0">
                <a:solidFill>
                  <a:srgbClr val="000000"/>
                </a:solidFill>
                <a:latin typeface="Helvetica" pitchFamily="2" charset="0"/>
                <a:ea typeface="Times New Roman" panose="02020603050405020304" pitchFamily="18" charset="0"/>
                <a:cs typeface="Devanagari Sangam MN" panose="02000000000000000000" pitchFamily="2" charset="0"/>
              </a:rPr>
              <a:t>:</a:t>
            </a:r>
            <a:endParaRPr lang="en-M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5359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E958-B200-FAFD-676C-63E7CCBF8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sz="3600" b="1" dirty="0" err="1"/>
              <a:t>Векторизирани</a:t>
            </a:r>
            <a:r>
              <a:rPr lang="mk-MK" sz="3600" b="1" dirty="0"/>
              <a:t> операции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18664-98D8-D380-AADC-56F62F863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mk-MK" sz="1400" b="1" dirty="0" err="1"/>
              <a:t>Векторизацијата</a:t>
            </a:r>
            <a:r>
              <a:rPr lang="mk-MK" sz="1400" dirty="0"/>
              <a:t> е техника каде наместо да обработуваме елементи еден по еден, ги обработуваме сите одеднаш користејќи специјализирани процесорски инструкции. </a:t>
            </a:r>
            <a:endParaRPr lang="en-MK" sz="1400" dirty="0"/>
          </a:p>
          <a:p>
            <a:r>
              <a:rPr lang="en-GB" sz="1400" dirty="0" err="1"/>
              <a:t>Векторизацијата</a:t>
            </a:r>
            <a:r>
              <a:rPr lang="en-GB" sz="1400" dirty="0"/>
              <a:t> </a:t>
            </a:r>
            <a:r>
              <a:rPr lang="en-GB" sz="1400" dirty="0" err="1"/>
              <a:t>значи</a:t>
            </a:r>
            <a:r>
              <a:rPr lang="en-GB" sz="1400" dirty="0"/>
              <a:t> </a:t>
            </a:r>
            <a:r>
              <a:rPr lang="en-GB" sz="1400" dirty="0" err="1"/>
              <a:t>обработка</a:t>
            </a:r>
            <a:r>
              <a:rPr lang="en-GB" sz="1400" dirty="0"/>
              <a:t> </a:t>
            </a:r>
            <a:r>
              <a:rPr lang="en-GB" sz="1400" dirty="0" err="1"/>
              <a:t>на</a:t>
            </a:r>
            <a:r>
              <a:rPr lang="en-GB" sz="1400" dirty="0"/>
              <a:t> </a:t>
            </a:r>
            <a:r>
              <a:rPr lang="en-GB" sz="1400" dirty="0" err="1"/>
              <a:t>цели</a:t>
            </a:r>
            <a:r>
              <a:rPr lang="en-GB" sz="1400" dirty="0"/>
              <a:t> </a:t>
            </a:r>
            <a:r>
              <a:rPr lang="en-GB" sz="1400" dirty="0" err="1"/>
              <a:t>низи</a:t>
            </a:r>
            <a:r>
              <a:rPr lang="en-GB" sz="1400" dirty="0"/>
              <a:t> </a:t>
            </a:r>
            <a:r>
              <a:rPr lang="en-GB" sz="1400" dirty="0" err="1"/>
              <a:t>одеднаш</a:t>
            </a:r>
            <a:r>
              <a:rPr lang="en-GB" sz="1400" dirty="0"/>
              <a:t>, </a:t>
            </a:r>
            <a:r>
              <a:rPr lang="en-GB" sz="1400" dirty="0" err="1"/>
              <a:t>наместо</a:t>
            </a:r>
            <a:r>
              <a:rPr lang="en-GB" sz="1400" dirty="0"/>
              <a:t> </a:t>
            </a:r>
            <a:r>
              <a:rPr lang="en-GB" sz="1400" dirty="0" err="1"/>
              <a:t>циклус</a:t>
            </a:r>
            <a:r>
              <a:rPr lang="en-GB" sz="1400" dirty="0"/>
              <a:t> </a:t>
            </a:r>
            <a:r>
              <a:rPr lang="en-GB" sz="1400" dirty="0" err="1"/>
              <a:t>низ</a:t>
            </a:r>
            <a:r>
              <a:rPr lang="en-GB" sz="1400" dirty="0"/>
              <a:t> </a:t>
            </a:r>
            <a:r>
              <a:rPr lang="en-GB" sz="1400" dirty="0" err="1"/>
              <a:t>поединечни</a:t>
            </a:r>
            <a:r>
              <a:rPr lang="en-GB" sz="1400" dirty="0"/>
              <a:t> </a:t>
            </a:r>
            <a:r>
              <a:rPr lang="en-GB" sz="1400" dirty="0" err="1"/>
              <a:t>елементи</a:t>
            </a:r>
            <a:r>
              <a:rPr lang="en-GB" sz="1400" dirty="0"/>
              <a:t>. </a:t>
            </a:r>
            <a:r>
              <a:rPr lang="en-GB" sz="1400" dirty="0" err="1"/>
              <a:t>Таа</a:t>
            </a:r>
            <a:r>
              <a:rPr lang="en-GB" sz="1400" dirty="0"/>
              <a:t> </a:t>
            </a:r>
            <a:r>
              <a:rPr lang="en-GB" sz="1400" dirty="0" err="1"/>
              <a:t>користи</a:t>
            </a:r>
            <a:r>
              <a:rPr lang="en-GB" sz="1400" dirty="0"/>
              <a:t>:</a:t>
            </a:r>
            <a:endParaRPr lang="en-MK" sz="1400" dirty="0"/>
          </a:p>
          <a:p>
            <a:pPr marL="0" lvl="0" indent="0">
              <a:buNone/>
            </a:pPr>
            <a:r>
              <a:rPr lang="en-GB" sz="1400" b="1" dirty="0"/>
              <a:t>	- SIMD </a:t>
            </a:r>
            <a:r>
              <a:rPr lang="en-GB" sz="1400" b="1" dirty="0" err="1"/>
              <a:t>инструкции</a:t>
            </a:r>
            <a:r>
              <a:rPr lang="en-GB" sz="1400" dirty="0"/>
              <a:t> – Single Instruction Multiple Data (</a:t>
            </a:r>
            <a:r>
              <a:rPr lang="en-GB" sz="1400" dirty="0" err="1"/>
              <a:t>единечна</a:t>
            </a:r>
            <a:r>
              <a:rPr lang="en-GB" sz="1400" dirty="0"/>
              <a:t> </a:t>
            </a:r>
            <a:r>
              <a:rPr lang="en-GB" sz="1400" dirty="0" err="1"/>
              <a:t>инструкција</a:t>
            </a:r>
            <a:r>
              <a:rPr lang="en-GB" sz="1400" dirty="0"/>
              <a:t>, </a:t>
            </a:r>
            <a:r>
              <a:rPr lang="en-GB" sz="1400" dirty="0" err="1"/>
              <a:t>повеќе</a:t>
            </a:r>
            <a:r>
              <a:rPr lang="en-GB" sz="1400" dirty="0"/>
              <a:t> </a:t>
            </a:r>
            <a:r>
              <a:rPr lang="en-GB" sz="1400" dirty="0" err="1"/>
              <a:t>податоци</a:t>
            </a:r>
            <a:r>
              <a:rPr lang="en-GB" sz="1400" dirty="0"/>
              <a:t>) - </a:t>
            </a:r>
            <a:r>
              <a:rPr lang="en-GB" sz="1400" dirty="0" err="1"/>
              <a:t>процесорот</a:t>
            </a:r>
            <a:r>
              <a:rPr lang="en-GB" sz="1400" dirty="0"/>
              <a:t> 	   	   </a:t>
            </a:r>
            <a:r>
              <a:rPr lang="en-GB" sz="1400" dirty="0" err="1"/>
              <a:t>обработува</a:t>
            </a:r>
            <a:r>
              <a:rPr lang="en-GB" sz="1400" dirty="0"/>
              <a:t> </a:t>
            </a:r>
            <a:r>
              <a:rPr lang="en-GB" sz="1400" dirty="0" err="1"/>
              <a:t>повеќе</a:t>
            </a:r>
            <a:r>
              <a:rPr lang="en-GB" sz="1400" dirty="0"/>
              <a:t> </a:t>
            </a:r>
            <a:r>
              <a:rPr lang="en-GB" sz="1400" dirty="0" err="1"/>
              <a:t>вредности</a:t>
            </a:r>
            <a:r>
              <a:rPr lang="en-GB" sz="1400" dirty="0"/>
              <a:t> </a:t>
            </a:r>
            <a:r>
              <a:rPr lang="en-GB" sz="1400" dirty="0" err="1"/>
              <a:t>истовремено</a:t>
            </a:r>
            <a:endParaRPr lang="en-MK" sz="1400" dirty="0"/>
          </a:p>
          <a:p>
            <a:pPr marL="0" lvl="0" indent="0">
              <a:buNone/>
            </a:pPr>
            <a:r>
              <a:rPr lang="en-GB" sz="1400" b="1" dirty="0"/>
              <a:t>	- Оптимизирани </a:t>
            </a:r>
            <a:r>
              <a:rPr lang="en-GB" sz="1400" b="1" dirty="0" err="1"/>
              <a:t>библиотеки</a:t>
            </a:r>
            <a:r>
              <a:rPr lang="en-GB" sz="1400" b="1" dirty="0"/>
              <a:t> C/Fortran </a:t>
            </a:r>
            <a:r>
              <a:rPr lang="en-GB" sz="1400" b="1" dirty="0" err="1"/>
              <a:t>под</a:t>
            </a:r>
            <a:r>
              <a:rPr lang="en-GB" sz="1400" b="1" dirty="0"/>
              <a:t> NumPy</a:t>
            </a:r>
            <a:endParaRPr lang="en-MK" sz="1400" dirty="0"/>
          </a:p>
          <a:p>
            <a:pPr marL="0" lvl="0" indent="0">
              <a:buNone/>
            </a:pPr>
            <a:r>
              <a:rPr lang="en-GB" sz="1400" b="1" dirty="0"/>
              <a:t>	- </a:t>
            </a:r>
            <a:r>
              <a:rPr lang="en-GB" sz="1400" b="1" dirty="0" err="1"/>
              <a:t>Подобро</a:t>
            </a:r>
            <a:r>
              <a:rPr lang="en-GB" sz="1400" b="1" dirty="0"/>
              <a:t> </a:t>
            </a:r>
            <a:r>
              <a:rPr lang="en-GB" sz="1400" b="1" dirty="0" err="1"/>
              <a:t>користење</a:t>
            </a:r>
            <a:r>
              <a:rPr lang="en-GB" sz="1400" b="1" dirty="0"/>
              <a:t> </a:t>
            </a:r>
            <a:r>
              <a:rPr lang="en-GB" sz="1400" b="1" dirty="0" err="1"/>
              <a:t>на</a:t>
            </a:r>
            <a:r>
              <a:rPr lang="en-GB" sz="1400" b="1" dirty="0"/>
              <a:t> </a:t>
            </a:r>
            <a:r>
              <a:rPr lang="en-GB" sz="1400" b="1" dirty="0" err="1"/>
              <a:t>кешот</a:t>
            </a:r>
            <a:r>
              <a:rPr lang="en-GB" sz="1400" b="1" dirty="0"/>
              <a:t> </a:t>
            </a:r>
            <a:r>
              <a:rPr lang="en-GB" sz="1400" b="1" dirty="0" err="1"/>
              <a:t>на</a:t>
            </a:r>
            <a:r>
              <a:rPr lang="en-GB" sz="1400" b="1" dirty="0"/>
              <a:t> </a:t>
            </a:r>
            <a:r>
              <a:rPr lang="en-GB" sz="1400" b="1" dirty="0" err="1"/>
              <a:t>процесорот</a:t>
            </a:r>
            <a:r>
              <a:rPr lang="en-GB" sz="1400" dirty="0"/>
              <a:t> - </a:t>
            </a:r>
            <a:r>
              <a:rPr lang="en-GB" sz="1400" dirty="0" err="1"/>
              <a:t>пристап</a:t>
            </a:r>
            <a:r>
              <a:rPr lang="en-GB" sz="1400" dirty="0"/>
              <a:t> </a:t>
            </a:r>
            <a:r>
              <a:rPr lang="en-GB" sz="1400" dirty="0" err="1"/>
              <a:t>до</a:t>
            </a:r>
            <a:r>
              <a:rPr lang="en-GB" sz="1400" dirty="0"/>
              <a:t> </a:t>
            </a:r>
            <a:r>
              <a:rPr lang="en-GB" sz="1400" dirty="0" err="1"/>
              <a:t>континуирана</a:t>
            </a:r>
            <a:r>
              <a:rPr lang="en-GB" sz="1400" dirty="0"/>
              <a:t> </a:t>
            </a:r>
            <a:r>
              <a:rPr lang="en-GB" sz="1400" dirty="0" err="1"/>
              <a:t>меморија</a:t>
            </a:r>
            <a:endParaRPr lang="en-MK" sz="1400" dirty="0"/>
          </a:p>
          <a:p>
            <a:endParaRPr lang="en-MK" sz="1400" dirty="0"/>
          </a:p>
          <a:p>
            <a:r>
              <a:rPr lang="mk-MK" sz="1400" b="1" dirty="0"/>
              <a:t>Процесорот ги процесира сите 23 канали истовремено </a:t>
            </a:r>
            <a:endParaRPr lang="en-MK" sz="1400" dirty="0"/>
          </a:p>
          <a:p>
            <a:endParaRPr lang="en-MK" sz="1400" dirty="0"/>
          </a:p>
          <a:p>
            <a:r>
              <a:rPr lang="mk-MK" sz="1400" dirty="0"/>
              <a:t>Наместо да користиме циклуси , во голем дел заменивме со </a:t>
            </a:r>
            <a:r>
              <a:rPr lang="en-GB" sz="1400" b="1" dirty="0" err="1"/>
              <a:t>NumP</a:t>
            </a:r>
            <a:r>
              <a:rPr lang="mk-MK" sz="1400" b="1" dirty="0" err="1"/>
              <a:t>y</a:t>
            </a:r>
            <a:r>
              <a:rPr lang="mk-MK" sz="1400" b="1" dirty="0"/>
              <a:t> операции</a:t>
            </a:r>
            <a:r>
              <a:rPr lang="mk-MK" sz="1400" dirty="0"/>
              <a:t> бидејќи ги прави математичките пресметки побрзо </a:t>
            </a:r>
            <a:endParaRPr lang="en-MK" sz="1400" dirty="0"/>
          </a:p>
          <a:p>
            <a:endParaRPr lang="en-MK" sz="1400" dirty="0"/>
          </a:p>
          <a:p>
            <a:r>
              <a:rPr lang="mk-MK" sz="1400" dirty="0"/>
              <a:t>Го намаливме и </a:t>
            </a:r>
            <a:r>
              <a:rPr lang="mk-MK" sz="1400" b="1" dirty="0"/>
              <a:t>преклопувањето</a:t>
            </a:r>
            <a:r>
              <a:rPr lang="mk-MK" sz="1400" dirty="0"/>
              <a:t> , поточно сменивме </a:t>
            </a:r>
            <a:r>
              <a:rPr lang="mk-MK" sz="1400" b="1" dirty="0" err="1"/>
              <a:t>s</a:t>
            </a:r>
            <a:r>
              <a:rPr lang="en-GB" sz="1400" b="1" dirty="0" err="1"/>
              <a:t>tep_size</a:t>
            </a:r>
            <a:r>
              <a:rPr lang="en-GB" sz="1400" b="1" dirty="0"/>
              <a:t> </a:t>
            </a:r>
            <a:r>
              <a:rPr lang="mk-MK" sz="1400" dirty="0"/>
              <a:t>да биде од 1 секунда на 5 секунди  (помалку епохи за процесирање)</a:t>
            </a:r>
            <a:endParaRPr lang="en-MK" sz="1400" dirty="0"/>
          </a:p>
          <a:p>
            <a:endParaRPr lang="en-MK" sz="1400" dirty="0"/>
          </a:p>
        </p:txBody>
      </p:sp>
    </p:spTree>
    <p:extLst>
      <p:ext uri="{BB962C8B-B14F-4D97-AF65-F5344CB8AC3E}">
        <p14:creationId xmlns:p14="http://schemas.microsoft.com/office/powerpoint/2010/main" val="937319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B95D-0EC5-05E7-610A-EE8F420D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sz="3600" b="1" dirty="0"/>
              <a:t>Паралелна обработка</a:t>
            </a:r>
            <a:endParaRPr lang="en-M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3B86E-CBE7-0BF6-4F2C-7E3054B92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264" y="2686970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GB" sz="1400" dirty="0" err="1"/>
              <a:t>Одредува</a:t>
            </a:r>
            <a:r>
              <a:rPr lang="mk-MK" sz="1400" dirty="0"/>
              <a:t>ме </a:t>
            </a:r>
            <a:r>
              <a:rPr lang="en-GB" sz="1400" b="1" dirty="0" err="1"/>
              <a:t>број</a:t>
            </a:r>
            <a:r>
              <a:rPr lang="en-GB" sz="1400" b="1" dirty="0"/>
              <a:t> </a:t>
            </a:r>
            <a:r>
              <a:rPr lang="en-GB" sz="1400" b="1" dirty="0" err="1"/>
              <a:t>на</a:t>
            </a:r>
            <a:r>
              <a:rPr lang="en-GB" sz="1400" b="1" dirty="0"/>
              <a:t> workers</a:t>
            </a:r>
            <a:r>
              <a:rPr lang="en-GB" sz="1400" dirty="0"/>
              <a:t> </a:t>
            </a:r>
            <a:endParaRPr lang="en-MK" sz="1200" dirty="0"/>
          </a:p>
          <a:p>
            <a:pPr marL="457200" lvl="1" indent="0">
              <a:buNone/>
            </a:pPr>
            <a:r>
              <a:rPr lang="en-GB" sz="1200" dirty="0" err="1"/>
              <a:t>максимум</a:t>
            </a:r>
            <a:r>
              <a:rPr lang="en-GB" sz="1200" dirty="0"/>
              <a:t> 4, </a:t>
            </a:r>
            <a:r>
              <a:rPr lang="en-GB" sz="1200" dirty="0" err="1"/>
              <a:t>или</a:t>
            </a:r>
            <a:r>
              <a:rPr lang="en-GB" sz="1200" dirty="0"/>
              <a:t> </a:t>
            </a:r>
            <a:r>
              <a:rPr lang="en-GB" sz="1200" dirty="0" err="1"/>
              <a:t>колку</a:t>
            </a:r>
            <a:r>
              <a:rPr lang="en-GB" sz="1200" dirty="0"/>
              <a:t> CPU cores</a:t>
            </a:r>
            <a:r>
              <a:rPr lang="mk-MK" sz="1200" dirty="0"/>
              <a:t> имаме</a:t>
            </a:r>
            <a:endParaRPr lang="en-MK" sz="1100" dirty="0"/>
          </a:p>
          <a:p>
            <a:endParaRPr lang="en-MK" sz="1200" dirty="0"/>
          </a:p>
          <a:p>
            <a:pPr lvl="0"/>
            <a:r>
              <a:rPr lang="en-GB" sz="1400" dirty="0" err="1"/>
              <a:t>Подготвува</a:t>
            </a:r>
            <a:r>
              <a:rPr lang="mk-MK" sz="1400" dirty="0"/>
              <a:t>ме</a:t>
            </a:r>
            <a:r>
              <a:rPr lang="en-GB" sz="1400" dirty="0"/>
              <a:t> </a:t>
            </a:r>
            <a:r>
              <a:rPr lang="en-GB" sz="1400" dirty="0" err="1"/>
              <a:t>аргументи</a:t>
            </a:r>
            <a:r>
              <a:rPr lang="en-GB" sz="1400" dirty="0"/>
              <a:t> </a:t>
            </a:r>
            <a:r>
              <a:rPr lang="en-GB" sz="1400" dirty="0" err="1"/>
              <a:t>за</a:t>
            </a:r>
            <a:r>
              <a:rPr lang="en-GB" sz="1400" dirty="0"/>
              <a:t> </a:t>
            </a:r>
            <a:r>
              <a:rPr lang="en-GB" sz="1400" dirty="0" err="1"/>
              <a:t>секој</a:t>
            </a:r>
            <a:r>
              <a:rPr lang="en-GB" sz="1400" dirty="0"/>
              <a:t> </a:t>
            </a:r>
            <a:r>
              <a:rPr lang="mk-MK" sz="1400" dirty="0"/>
              <a:t>фајл</a:t>
            </a:r>
            <a:endParaRPr lang="en-MK" sz="1200" dirty="0"/>
          </a:p>
          <a:p>
            <a:endParaRPr lang="en-MK" sz="1200" dirty="0"/>
          </a:p>
          <a:p>
            <a:pPr lvl="0"/>
            <a:r>
              <a:rPr lang="en-GB" sz="1400" dirty="0" err="1"/>
              <a:t>Користи</a:t>
            </a:r>
            <a:r>
              <a:rPr lang="en-GB" sz="1400" dirty="0"/>
              <a:t> </a:t>
            </a:r>
            <a:r>
              <a:rPr lang="en-GB" sz="1400" b="1" dirty="0"/>
              <a:t>multiprocessing</a:t>
            </a:r>
            <a:r>
              <a:rPr lang="en-GB" sz="1400" dirty="0"/>
              <a:t> </a:t>
            </a:r>
            <a:r>
              <a:rPr lang="en-GB" sz="1400" dirty="0" err="1"/>
              <a:t>за</a:t>
            </a:r>
            <a:r>
              <a:rPr lang="en-GB" sz="1400" dirty="0"/>
              <a:t> </a:t>
            </a:r>
            <a:r>
              <a:rPr lang="en-GB" sz="1400" dirty="0" err="1"/>
              <a:t>паралелна</a:t>
            </a:r>
            <a:r>
              <a:rPr lang="en-GB" sz="1400" dirty="0"/>
              <a:t> </a:t>
            </a:r>
            <a:r>
              <a:rPr lang="en-GB" sz="1400" dirty="0" err="1"/>
              <a:t>обработка</a:t>
            </a:r>
            <a:endParaRPr lang="en-MK" sz="1200" dirty="0"/>
          </a:p>
          <a:p>
            <a:endParaRPr lang="en-MK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7031D-03C8-BAD7-58C6-9363243F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64" y="2514127"/>
            <a:ext cx="5727700" cy="218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363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2A66-922C-7ED2-9DC8-71311799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k-MK" sz="3600" b="1" dirty="0"/>
              <a:t>Резултати </a:t>
            </a:r>
            <a:endParaRPr lang="en-MK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6EB46C-4BCB-B8FA-6B62-D18882E3D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39215"/>
              </p:ext>
            </p:extLst>
          </p:nvPr>
        </p:nvGraphicFramePr>
        <p:xfrm>
          <a:off x="592873" y="3129269"/>
          <a:ext cx="10515600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50590575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0577094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709076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592518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8660238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2314631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5850416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06751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CV Acc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CV TPR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CV FPR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Test Acc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Test TPR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Test FPR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Time (s)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2429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MLP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0.998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0.721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0.0002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0.996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0.441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0.0004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350.5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797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Random Forest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0.999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0.839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0.00005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0.999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0.889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0.00005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589.3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342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AdaBoost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0.998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0.712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0.0005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0.998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0.730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0.0005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1397.3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3949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KNN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0.999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0.820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0.00002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0.999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0.867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0.000</a:t>
                      </a:r>
                      <a:endParaRPr lang="en-MK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175.4</a:t>
                      </a:r>
                      <a:endParaRPr lang="en-MK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1509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958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332D-737A-F78E-B07E-CB6FB9A2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 err="1"/>
              <a:t>Перфоманс</a:t>
            </a:r>
            <a:r>
              <a:rPr lang="mk-MK" b="1" dirty="0"/>
              <a:t> на моделите</a:t>
            </a:r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3606620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611E-CF26-1C75-03B3-5E84227EF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В</a:t>
            </a:r>
            <a:r>
              <a:rPr lang="mk-MK" b="1" dirty="0" err="1"/>
              <a:t>реме</a:t>
            </a:r>
            <a:r>
              <a:rPr lang="mk-MK" b="1" dirty="0"/>
              <a:t> на тренирање на моделите </a:t>
            </a:r>
            <a:endParaRPr lang="en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D58D1-D9AB-C0F3-A431-2D496765D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K" dirty="0"/>
          </a:p>
        </p:txBody>
      </p:sp>
    </p:spTree>
    <p:extLst>
      <p:ext uri="{BB962C8B-B14F-4D97-AF65-F5344CB8AC3E}">
        <p14:creationId xmlns:p14="http://schemas.microsoft.com/office/powerpoint/2010/main" val="14626441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C12A-00E6-ADE3-E00B-785D96C7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b="1" dirty="0" err="1"/>
              <a:t>Трансформер</a:t>
            </a:r>
            <a:r>
              <a:rPr lang="mk-MK" b="1" dirty="0"/>
              <a:t> архитектура</a:t>
            </a:r>
            <a:endParaRPr lang="en-M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4550B-E3BE-60D7-8156-5D50F0DF5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K"/>
          </a:p>
        </p:txBody>
      </p:sp>
    </p:spTree>
    <p:extLst>
      <p:ext uri="{BB962C8B-B14F-4D97-AF65-F5344CB8AC3E}">
        <p14:creationId xmlns:p14="http://schemas.microsoft.com/office/powerpoint/2010/main" val="1414780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3953</Words>
  <Application>Microsoft Macintosh PowerPoint</Application>
  <PresentationFormat>Widescreen</PresentationFormat>
  <Paragraphs>458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Aptos</vt:lpstr>
      <vt:lpstr>Aptos Display</vt:lpstr>
      <vt:lpstr>Arial</vt:lpstr>
      <vt:lpstr>Cambria</vt:lpstr>
      <vt:lpstr>Helvetica</vt:lpstr>
      <vt:lpstr>Times New Roman</vt:lpstr>
      <vt:lpstr>Wingdings</vt:lpstr>
      <vt:lpstr>Office Theme</vt:lpstr>
      <vt:lpstr>Predicting Epileptic Seizures through EEG Signal Processing </vt:lpstr>
      <vt:lpstr>Домен на проектот и опис на проблемот  </vt:lpstr>
      <vt:lpstr>PowerPoint Presentation</vt:lpstr>
      <vt:lpstr>PowerPoint Presentation</vt:lpstr>
      <vt:lpstr>PowerPoint Presentation</vt:lpstr>
      <vt:lpstr>PowerPoint Presentation</vt:lpstr>
      <vt:lpstr>Прибирање на податоци (Data Acqusition) </vt:lpstr>
      <vt:lpstr>Значење на сигналот  </vt:lpstr>
      <vt:lpstr>EEG канали  </vt:lpstr>
      <vt:lpstr>Снимање на податоците </vt:lpstr>
      <vt:lpstr>Значење на карактеристиката </vt:lpstr>
      <vt:lpstr>EDF Format</vt:lpstr>
      <vt:lpstr>PowerPoint Presentation</vt:lpstr>
      <vt:lpstr>Препроцесирање на податоци за ML модели </vt:lpstr>
      <vt:lpstr>Signal Processor</vt:lpstr>
      <vt:lpstr>Фреквентни појаси (frequency bands)</vt:lpstr>
      <vt:lpstr>Feature Extraction </vt:lpstr>
      <vt:lpstr>Temporal features (темпорални / временски) карактеристики</vt:lpstr>
      <vt:lpstr>PowerPoint Presentation</vt:lpstr>
      <vt:lpstr>Spectral features (спектрални) карактеристики </vt:lpstr>
      <vt:lpstr>PowerPoint Presentation</vt:lpstr>
      <vt:lpstr>PowerPoint Presentation</vt:lpstr>
      <vt:lpstr>PowerPoint Presentation</vt:lpstr>
      <vt:lpstr>Non-linear features (нелинеарни) карактеристики </vt:lpstr>
      <vt:lpstr>Hjorth параметри </vt:lpstr>
      <vt:lpstr>Fractal dimension (фрактална димензија) </vt:lpstr>
      <vt:lpstr>Hurst експонент: (Хурст експонентот) </vt:lpstr>
      <vt:lpstr>PowerPoint Presentation</vt:lpstr>
      <vt:lpstr>Вчитување на податоците и филтрирање </vt:lpstr>
      <vt:lpstr>PowerPoint Presentation</vt:lpstr>
      <vt:lpstr>PowerPoint Presentation</vt:lpstr>
      <vt:lpstr>PowerPoint Presentation</vt:lpstr>
      <vt:lpstr>Спојување на сите csv фајлови </vt:lpstr>
      <vt:lpstr>Тренирање на моделите </vt:lpstr>
      <vt:lpstr>PowerPoint Presentation</vt:lpstr>
      <vt:lpstr>PowerPoint Presentation</vt:lpstr>
      <vt:lpstr>PowerPoint Presentation</vt:lpstr>
      <vt:lpstr>PowerPoint Presentation</vt:lpstr>
      <vt:lpstr>Oптимизација </vt:lpstr>
      <vt:lpstr>Векторизирани операции</vt:lpstr>
      <vt:lpstr>Паралелна обработка</vt:lpstr>
      <vt:lpstr>Резултати </vt:lpstr>
      <vt:lpstr>Перфоманс на моделите</vt:lpstr>
      <vt:lpstr>Време на тренирање на моделите </vt:lpstr>
      <vt:lpstr>Трансформер архитектура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Трајковски Огнен</dc:creator>
  <cp:lastModifiedBy>Трајковски Огнен</cp:lastModifiedBy>
  <cp:revision>1</cp:revision>
  <dcterms:created xsi:type="dcterms:W3CDTF">2025-10-06T13:49:02Z</dcterms:created>
  <dcterms:modified xsi:type="dcterms:W3CDTF">2025-10-06T19:32:07Z</dcterms:modified>
</cp:coreProperties>
</file>